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4"/>
  </p:notesMasterIdLst>
  <p:sldIdLst>
    <p:sldId id="314" r:id="rId2"/>
    <p:sldId id="323" r:id="rId3"/>
    <p:sldId id="319" r:id="rId4"/>
    <p:sldId id="321" r:id="rId5"/>
    <p:sldId id="320" r:id="rId6"/>
    <p:sldId id="315" r:id="rId7"/>
    <p:sldId id="316" r:id="rId8"/>
    <p:sldId id="317" r:id="rId9"/>
    <p:sldId id="318" r:id="rId10"/>
    <p:sldId id="322" r:id="rId11"/>
    <p:sldId id="326" r:id="rId12"/>
    <p:sldId id="324" r:id="rId13"/>
  </p:sldIdLst>
  <p:sldSz cx="12192000" cy="6858000"/>
  <p:notesSz cx="9296400" cy="70104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6E6E6"/>
    <a:srgbClr val="FDFDFD"/>
    <a:srgbClr val="00B3ED"/>
    <a:srgbClr val="2CA73C"/>
    <a:srgbClr val="EBEFF1"/>
    <a:srgbClr val="DBE1E5"/>
    <a:srgbClr val="A0AEB9"/>
    <a:srgbClr val="EC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0" autoAdjust="0"/>
    <p:restoredTop sz="95930" autoAdjust="0"/>
  </p:normalViewPr>
  <p:slideViewPr>
    <p:cSldViewPr snapToGrid="0" snapToObjects="1">
      <p:cViewPr varScale="1">
        <p:scale>
          <a:sx n="107" d="100"/>
          <a:sy n="107" d="100"/>
        </p:scale>
        <p:origin x="648" y="108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423" y="1797548"/>
            <a:ext cx="7462421" cy="2105723"/>
          </a:xfrm>
        </p:spPr>
        <p:txBody>
          <a:bodyPr/>
          <a:lstStyle/>
          <a:p>
            <a:r>
              <a:rPr lang="en-US" dirty="0"/>
              <a:t>07-31P2 Frac Hits</a:t>
            </a:r>
            <a:br>
              <a:rPr lang="en-US" dirty="0"/>
            </a:br>
            <a:r>
              <a:rPr lang="en-US" dirty="0"/>
              <a:t>While Fiber Deployed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latin typeface="Arial" panose="020B0604020202020204" pitchFamily="34" charset="0"/>
                <a:ea typeface="Roboto Light" panose="02000000000000000000" pitchFamily="2" charset="0"/>
              </a:rPr>
              <a:t>Feb 2025</a:t>
            </a: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375E9C6E-D0EE-D253-4EB0-4ACEA528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918" y="322562"/>
            <a:ext cx="6061610" cy="3547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67D7EF-FBAB-257B-134C-EC80432EE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53" y="1175596"/>
            <a:ext cx="5499387" cy="5389519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HAL Xpress Fiber Deployed on MNTN C “L” Well from February 12</a:t>
            </a:r>
            <a:r>
              <a:rPr lang="en-US" baseline="30000" dirty="0"/>
              <a:t>th</a:t>
            </a:r>
            <a:r>
              <a:rPr lang="en-US" dirty="0"/>
              <a:t> to February 20</a:t>
            </a:r>
            <a:r>
              <a:rPr lang="en-US" baseline="30000" dirty="0"/>
              <a:t>th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Two “Non-Classified” Events recorded by Fiber during 1 week of monitoring</a:t>
            </a:r>
          </a:p>
          <a:p>
            <a:pPr marL="354013" lvl="1" indent="-171450"/>
            <a:r>
              <a:rPr lang="en-US" dirty="0"/>
              <a:t>Neither event has conclusive strain data or any further insights</a:t>
            </a:r>
          </a:p>
          <a:p>
            <a:pPr marL="171450" indent="-171450"/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NuVista</a:t>
            </a:r>
            <a:r>
              <a:rPr lang="en-US" dirty="0"/>
              <a:t> Pressure Monitoring with Surface Gauges Yielded Following Observations during 1 week of Fiber Monitoring</a:t>
            </a:r>
          </a:p>
          <a:p>
            <a:pPr marL="354013" lvl="1" indent="-171450"/>
            <a:r>
              <a:rPr lang="en-US" dirty="0"/>
              <a:t>Total of 36 Inter-Pad Pressure Communication Events during Fiber Monitoring Period</a:t>
            </a:r>
          </a:p>
          <a:p>
            <a:pPr marL="354013" lvl="1" indent="-171450"/>
            <a:r>
              <a:rPr lang="en-US" dirty="0"/>
              <a:t>Of the 36 Total Events </a:t>
            </a:r>
            <a:r>
              <a:rPr lang="en-US" b="1" dirty="0"/>
              <a:t>7 events</a:t>
            </a:r>
            <a:r>
              <a:rPr lang="en-US" dirty="0"/>
              <a:t> directly intersected the L well</a:t>
            </a:r>
          </a:p>
          <a:p>
            <a:pPr marL="354013" lvl="1" indent="-171450"/>
            <a:r>
              <a:rPr lang="en-US" dirty="0"/>
              <a:t>21 Additional Communication Events with  07-06 Pad</a:t>
            </a:r>
          </a:p>
          <a:p>
            <a:pPr marL="354013" lvl="1" indent="-171450"/>
            <a:r>
              <a:rPr lang="en-US" dirty="0"/>
              <a:t>One Pressure Communication Event directly hit the L well during the Fiber Monitoring period when </a:t>
            </a:r>
            <a:r>
              <a:rPr lang="en-US" dirty="0" err="1"/>
              <a:t>frac’ing</a:t>
            </a:r>
            <a:r>
              <a:rPr lang="en-US" dirty="0"/>
              <a:t> in proximity to the open toe port. No associated </a:t>
            </a:r>
            <a:r>
              <a:rPr lang="en-US" dirty="0" err="1"/>
              <a:t>Xwell</a:t>
            </a:r>
            <a:r>
              <a:rPr lang="en-US" dirty="0"/>
              <a:t>/MSM Activity recorded during this recorded pressure communication event.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31AFCB-9324-8CA2-E1DD-F50AC1471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85113-1F52-C0EB-B285-872AF1B498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07-31 P2 Frac Hits During Fiber Deployment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1A03-3890-3AE3-9717-C57239631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184E0-6DB5-A677-ACEE-03F4BC185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23770-2B5D-355C-FEA3-6542413810E5}"/>
              </a:ext>
            </a:extLst>
          </p:cNvPr>
          <p:cNvSpPr txBox="1"/>
          <p:nvPr/>
        </p:nvSpPr>
        <p:spPr>
          <a:xfrm>
            <a:off x="6102066" y="1502889"/>
            <a:ext cx="989016" cy="4154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07-06 offset legacy pad</a:t>
            </a:r>
          </a:p>
        </p:txBody>
      </p:sp>
    </p:spTree>
    <p:extLst>
      <p:ext uri="{BB962C8B-B14F-4D97-AF65-F5344CB8AC3E}">
        <p14:creationId xmlns:p14="http://schemas.microsoft.com/office/powerpoint/2010/main" val="350624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D11E-E4EA-D939-2AC1-BAE684FF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67D0355D-010B-6810-09DA-D587562E2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16580C6-1FC1-44A1-F618-4A66A0B1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8ACE3-B6E1-2EAF-1F6B-93551AB7B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4CC93-A43B-3ECC-3145-A4C5EC4B0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EF26D-08B5-56D6-AF1F-5CC9E9299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98396A-FA32-C86A-66E3-35AE4DBD8D55}"/>
              </a:ext>
            </a:extLst>
          </p:cNvPr>
          <p:cNvCxnSpPr>
            <a:cxnSpLocks/>
          </p:cNvCxnSpPr>
          <p:nvPr/>
        </p:nvCxnSpPr>
        <p:spPr>
          <a:xfrm flipV="1">
            <a:off x="11210626" y="4473589"/>
            <a:ext cx="504355" cy="192311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1DF06D-1CFF-A755-AF16-68447E459F7C}"/>
              </a:ext>
            </a:extLst>
          </p:cNvPr>
          <p:cNvCxnSpPr>
            <a:cxnSpLocks/>
          </p:cNvCxnSpPr>
          <p:nvPr/>
        </p:nvCxnSpPr>
        <p:spPr>
          <a:xfrm flipV="1">
            <a:off x="10669367" y="4473589"/>
            <a:ext cx="984107" cy="6970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33264E-CA32-3EEB-CF60-25DAAEE8BDF5}"/>
              </a:ext>
            </a:extLst>
          </p:cNvPr>
          <p:cNvCxnSpPr>
            <a:cxnSpLocks/>
          </p:cNvCxnSpPr>
          <p:nvPr/>
        </p:nvCxnSpPr>
        <p:spPr>
          <a:xfrm>
            <a:off x="10066601" y="4404607"/>
            <a:ext cx="1586873" cy="433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565BF7-B8AB-59DF-5566-38B03887B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079230"/>
              </p:ext>
            </p:extLst>
          </p:nvPr>
        </p:nvGraphicFramePr>
        <p:xfrm>
          <a:off x="354917" y="3974266"/>
          <a:ext cx="479524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Fracking 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Stage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Pressure </a:t>
                      </a:r>
                      <a:r>
                        <a:rPr lang="el-GR" sz="1400" dirty="0"/>
                        <a:t>Δ </a:t>
                      </a:r>
                      <a:r>
                        <a:rPr lang="en-CA" sz="1400" dirty="0"/>
                        <a:t>(kPa)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J-Well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J2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10254.68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H-Well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H2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11420.76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I-Well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I2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630.97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I-Well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I3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424.37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B7813FA-02A7-2957-D3B2-FA49AE5ED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75596"/>
            <a:ext cx="12192000" cy="2716589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4CCECCA8-E7C2-C1C6-E994-1B69D37F9DAF}"/>
              </a:ext>
            </a:extLst>
          </p:cNvPr>
          <p:cNvSpPr/>
          <p:nvPr/>
        </p:nvSpPr>
        <p:spPr>
          <a:xfrm>
            <a:off x="8296870" y="4524280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5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F6DFA-172E-8AF7-1DC2-CCC5DBF1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845C30FA-3B23-2657-B49F-A8DDA8618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2696F03-6479-4404-6F08-852F0CB7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ABD5F-3F0D-DC2A-CEB4-A37700C7B7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3FE7B-EF31-FE3D-C950-2F3EA1A9E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5F9E9-9661-EC74-5DFD-FA3098242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AFF747-AE04-6B9A-13B1-0C131A84B8C0}"/>
              </a:ext>
            </a:extLst>
          </p:cNvPr>
          <p:cNvCxnSpPr>
            <a:cxnSpLocks/>
          </p:cNvCxnSpPr>
          <p:nvPr/>
        </p:nvCxnSpPr>
        <p:spPr>
          <a:xfrm flipH="1">
            <a:off x="11206526" y="4477690"/>
            <a:ext cx="487953" cy="19489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259E3F-E152-55F5-BD2B-4525A22024E2}"/>
              </a:ext>
            </a:extLst>
          </p:cNvPr>
          <p:cNvCxnSpPr>
            <a:cxnSpLocks/>
          </p:cNvCxnSpPr>
          <p:nvPr/>
        </p:nvCxnSpPr>
        <p:spPr>
          <a:xfrm>
            <a:off x="9500739" y="6463875"/>
            <a:ext cx="159917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94BDB7-CE02-D5FE-AC02-7F5112618458}"/>
              </a:ext>
            </a:extLst>
          </p:cNvPr>
          <p:cNvCxnSpPr>
            <a:cxnSpLocks/>
          </p:cNvCxnSpPr>
          <p:nvPr/>
        </p:nvCxnSpPr>
        <p:spPr>
          <a:xfrm>
            <a:off x="10640664" y="5273177"/>
            <a:ext cx="496154" cy="11534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2560F4-798A-0B46-2DE4-7170BBF32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21363"/>
              </p:ext>
            </p:extLst>
          </p:nvPr>
        </p:nvGraphicFramePr>
        <p:xfrm>
          <a:off x="354917" y="3974266"/>
          <a:ext cx="4795245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Fracking 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Stage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Pressure </a:t>
                      </a:r>
                      <a:r>
                        <a:rPr lang="el-GR" sz="1400" dirty="0"/>
                        <a:t>Δ </a:t>
                      </a:r>
                      <a:r>
                        <a:rPr lang="en-CA" sz="1400" dirty="0"/>
                        <a:t>(kPa)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I-Well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I1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358.98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G-Well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G1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234.20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K-Well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K8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773.36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3948423-08AA-8263-820F-0CBA024CB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91201"/>
            <a:ext cx="12192000" cy="2710062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8E10BC02-A5CE-4265-051B-4BEF0C652B73}"/>
              </a:ext>
            </a:extLst>
          </p:cNvPr>
          <p:cNvSpPr/>
          <p:nvPr/>
        </p:nvSpPr>
        <p:spPr>
          <a:xfrm>
            <a:off x="8296870" y="4524280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0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7419-3031-A62E-E922-E3CBDCA6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70FDFA30-536E-EB03-2358-87FBFC195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633801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F5D494-41CA-1AB2-2821-8D5C11A9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318" y="292885"/>
            <a:ext cx="10515600" cy="1033508"/>
          </a:xfrm>
        </p:spPr>
        <p:txBody>
          <a:bodyPr/>
          <a:lstStyle/>
          <a:p>
            <a:r>
              <a:rPr lang="en-US" dirty="0"/>
              <a:t>I-Well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7C4D3-1ABE-AAE0-AF65-E49E80249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542FF-6D20-D672-CC5B-3F4869101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AD8AC-778D-4434-1B06-A662FCDAE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F307E1-0C96-1FBD-8353-2984E1BA5609}"/>
              </a:ext>
            </a:extLst>
          </p:cNvPr>
          <p:cNvCxnSpPr>
            <a:cxnSpLocks/>
          </p:cNvCxnSpPr>
          <p:nvPr/>
        </p:nvCxnSpPr>
        <p:spPr>
          <a:xfrm flipH="1" flipV="1">
            <a:off x="10657065" y="4916438"/>
            <a:ext cx="455150" cy="11522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4CF159-0CA2-7ECB-0352-6866DFDC94B0}"/>
              </a:ext>
            </a:extLst>
          </p:cNvPr>
          <p:cNvCxnSpPr>
            <a:cxnSpLocks/>
          </p:cNvCxnSpPr>
          <p:nvPr/>
        </p:nvCxnSpPr>
        <p:spPr>
          <a:xfrm flipV="1">
            <a:off x="9476137" y="4916438"/>
            <a:ext cx="1066116" cy="112352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93FF53-BDD9-30B8-7DEA-ACC1E42C15A2}"/>
              </a:ext>
            </a:extLst>
          </p:cNvPr>
          <p:cNvCxnSpPr>
            <a:cxnSpLocks/>
          </p:cNvCxnSpPr>
          <p:nvPr/>
        </p:nvCxnSpPr>
        <p:spPr>
          <a:xfrm flipH="1">
            <a:off x="10657065" y="4109170"/>
            <a:ext cx="1016913" cy="71705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B51E61-CB85-2B4B-D652-675E84212062}"/>
              </a:ext>
            </a:extLst>
          </p:cNvPr>
          <p:cNvCxnSpPr>
            <a:cxnSpLocks/>
          </p:cNvCxnSpPr>
          <p:nvPr/>
        </p:nvCxnSpPr>
        <p:spPr>
          <a:xfrm>
            <a:off x="10009195" y="4113672"/>
            <a:ext cx="536817" cy="7125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41F3E62-490C-4A4A-3704-A2FD9E9B7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72054"/>
            <a:ext cx="12192000" cy="2641874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31D63FE-39D8-37A5-75B5-996D60686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445842"/>
              </p:ext>
            </p:extLst>
          </p:nvPr>
        </p:nvGraphicFramePr>
        <p:xfrm>
          <a:off x="354917" y="3633801"/>
          <a:ext cx="4795245" cy="2766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Fracking 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Stage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Pressure </a:t>
                      </a:r>
                      <a:r>
                        <a:rPr lang="el-GR" sz="1050" dirty="0"/>
                        <a:t>Δ </a:t>
                      </a:r>
                      <a:r>
                        <a:rPr lang="en-CA" sz="1050" dirty="0"/>
                        <a:t>(kPa)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K1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8686.48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K2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1987.61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K3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935.64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H1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358.43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785605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H2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6085.36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8943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G-Well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G1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345.51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709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H3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1588.92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26780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050" baseline="0" dirty="0"/>
                        <a:t>G-Well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G2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1189.91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58087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J-Well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J5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179.35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881893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G-Well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G3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469.68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128792"/>
                  </a:ext>
                </a:extLst>
              </a:tr>
            </a:tbl>
          </a:graphicData>
        </a:graphic>
      </p:graphicFrame>
      <p:sp>
        <p:nvSpPr>
          <p:cNvPr id="2" name="Star: 5 Points 1">
            <a:extLst>
              <a:ext uri="{FF2B5EF4-FFF2-40B4-BE49-F238E27FC236}">
                <a16:creationId xmlns:a16="http://schemas.microsoft.com/office/drawing/2014/main" id="{CE41AE72-B311-E379-A6DB-B13F5BB818F8}"/>
              </a:ext>
            </a:extLst>
          </p:cNvPr>
          <p:cNvSpPr/>
          <p:nvPr/>
        </p:nvSpPr>
        <p:spPr>
          <a:xfrm>
            <a:off x="8275815" y="4223898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8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EC7DC489-436E-CA2F-FD87-8EA646703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23FD54-476D-4506-AF7F-E6228A1B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4942C-2FBB-4475-8405-146FA8DF4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041371-8460-0D97-A49E-7A075EBAF068}"/>
              </a:ext>
            </a:extLst>
          </p:cNvPr>
          <p:cNvCxnSpPr>
            <a:cxnSpLocks/>
          </p:cNvCxnSpPr>
          <p:nvPr/>
        </p:nvCxnSpPr>
        <p:spPr>
          <a:xfrm flipV="1">
            <a:off x="9468619" y="4447309"/>
            <a:ext cx="523279" cy="19451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1FF1075-2FF2-DE81-3EB7-CFC8A15B0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5596"/>
            <a:ext cx="12192000" cy="268053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F48D6F-5B4D-3330-E63E-6564DCB02A00}"/>
              </a:ext>
            </a:extLst>
          </p:cNvPr>
          <p:cNvCxnSpPr>
            <a:cxnSpLocks/>
          </p:cNvCxnSpPr>
          <p:nvPr/>
        </p:nvCxnSpPr>
        <p:spPr>
          <a:xfrm flipH="1" flipV="1">
            <a:off x="10050087" y="4398099"/>
            <a:ext cx="1068186" cy="199438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6576C20-6489-51FA-E9FD-35493F89D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056674"/>
              </p:ext>
            </p:extLst>
          </p:nvPr>
        </p:nvGraphicFramePr>
        <p:xfrm>
          <a:off x="354917" y="3985819"/>
          <a:ext cx="4795245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Fracking 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Stage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Pressure </a:t>
                      </a:r>
                      <a:r>
                        <a:rPr lang="el-GR" sz="1050" dirty="0"/>
                        <a:t>Δ </a:t>
                      </a:r>
                      <a:r>
                        <a:rPr lang="en-CA" sz="1050" dirty="0"/>
                        <a:t>(kPa)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K1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11450.77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K4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5051.26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M5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897.76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H2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909.09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785605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N-Well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N10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3605.23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8943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H8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969.10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709"/>
                  </a:ext>
                </a:extLst>
              </a:tr>
            </a:tbl>
          </a:graphicData>
        </a:graphic>
      </p:graphicFrame>
      <p:sp>
        <p:nvSpPr>
          <p:cNvPr id="2" name="Star: 5 Points 1">
            <a:extLst>
              <a:ext uri="{FF2B5EF4-FFF2-40B4-BE49-F238E27FC236}">
                <a16:creationId xmlns:a16="http://schemas.microsoft.com/office/drawing/2014/main" id="{8FB35A91-C144-2863-064F-39FD756F53FD}"/>
              </a:ext>
            </a:extLst>
          </p:cNvPr>
          <p:cNvSpPr/>
          <p:nvPr/>
        </p:nvSpPr>
        <p:spPr>
          <a:xfrm>
            <a:off x="8296870" y="4524280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A8382D-FA3D-857D-2E8D-62ECB5A9515B}"/>
              </a:ext>
            </a:extLst>
          </p:cNvPr>
          <p:cNvCxnSpPr>
            <a:cxnSpLocks/>
          </p:cNvCxnSpPr>
          <p:nvPr/>
        </p:nvCxnSpPr>
        <p:spPr>
          <a:xfrm flipV="1">
            <a:off x="7790852" y="4379279"/>
            <a:ext cx="2111731" cy="201320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8EF7D0F-7754-1FAD-CF30-E24FD24F465A}"/>
              </a:ext>
            </a:extLst>
          </p:cNvPr>
          <p:cNvSpPr/>
          <p:nvPr/>
        </p:nvSpPr>
        <p:spPr>
          <a:xfrm>
            <a:off x="313635" y="5247861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9BFBB-7F35-B1FA-AB7A-6964133A639A}"/>
              </a:ext>
            </a:extLst>
          </p:cNvPr>
          <p:cNvSpPr txBox="1"/>
          <p:nvPr/>
        </p:nvSpPr>
        <p:spPr>
          <a:xfrm>
            <a:off x="354917" y="5819127"/>
            <a:ext cx="578084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Conclusion: 1 pressure event recorded that </a:t>
            </a:r>
            <a:r>
              <a:rPr lang="en-US" sz="1400" i="1" dirty="0"/>
              <a:t>intersect </a:t>
            </a:r>
            <a:r>
              <a:rPr lang="en-US" sz="1400" dirty="0"/>
              <a:t>L well</a:t>
            </a:r>
          </a:p>
        </p:txBody>
      </p:sp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AA7BF-0040-6F85-59A3-08C974C0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31397AFA-F664-DFA0-09DE-130E5226B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8B70F8-5524-1912-7B30-EADAFBD7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BD459-9F02-7009-1163-6162266943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063D6-016E-F865-F993-50BACDB5C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F447-BB9E-7A20-AE3C-5F150ACD3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D875A3-FC49-9CCB-67FF-C00A8EBD27EE}"/>
              </a:ext>
            </a:extLst>
          </p:cNvPr>
          <p:cNvCxnSpPr>
            <a:cxnSpLocks/>
          </p:cNvCxnSpPr>
          <p:nvPr/>
        </p:nvCxnSpPr>
        <p:spPr>
          <a:xfrm>
            <a:off x="8282906" y="4436685"/>
            <a:ext cx="1057916" cy="196001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083BD44-B101-8EAB-C252-D91717369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74510"/>
            <a:ext cx="12192000" cy="260319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15CEE1-2269-750E-0608-FC6B247E9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5303"/>
              </p:ext>
            </p:extLst>
          </p:nvPr>
        </p:nvGraphicFramePr>
        <p:xfrm>
          <a:off x="354917" y="3974266"/>
          <a:ext cx="479524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Fracking 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Stage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Pressure </a:t>
                      </a:r>
                      <a:r>
                        <a:rPr lang="el-GR" sz="1400" dirty="0"/>
                        <a:t>Δ </a:t>
                      </a:r>
                      <a:r>
                        <a:rPr lang="en-CA" sz="1400" dirty="0"/>
                        <a:t>(kPa)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J-Well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J1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161.18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M-Well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M7.2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530.20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DC806-9C1E-5F9E-5CDE-F2B4E26001CB}"/>
              </a:ext>
            </a:extLst>
          </p:cNvPr>
          <p:cNvCxnSpPr>
            <a:cxnSpLocks/>
          </p:cNvCxnSpPr>
          <p:nvPr/>
        </p:nvCxnSpPr>
        <p:spPr>
          <a:xfrm flipH="1">
            <a:off x="9476136" y="4436685"/>
            <a:ext cx="487954" cy="19600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5647F336-C084-F649-6FBA-F03F118AFAAA}"/>
              </a:ext>
            </a:extLst>
          </p:cNvPr>
          <p:cNvSpPr/>
          <p:nvPr/>
        </p:nvSpPr>
        <p:spPr>
          <a:xfrm>
            <a:off x="8282906" y="4616953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4E578-54F0-A7FD-CA9C-0EDCA04C3E40}"/>
              </a:ext>
            </a:extLst>
          </p:cNvPr>
          <p:cNvSpPr/>
          <p:nvPr/>
        </p:nvSpPr>
        <p:spPr>
          <a:xfrm>
            <a:off x="286457" y="4616953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204FC-6B11-6624-6995-705ED1B05DEB}"/>
              </a:ext>
            </a:extLst>
          </p:cNvPr>
          <p:cNvSpPr txBox="1"/>
          <p:nvPr/>
        </p:nvSpPr>
        <p:spPr>
          <a:xfrm>
            <a:off x="288183" y="4985230"/>
            <a:ext cx="578084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Conclusion: 1 pressure event recorded that </a:t>
            </a:r>
            <a:r>
              <a:rPr lang="en-US" sz="1400" i="1" dirty="0"/>
              <a:t>intersect </a:t>
            </a:r>
            <a:r>
              <a:rPr lang="en-US" sz="1400" dirty="0"/>
              <a:t>L well</a:t>
            </a:r>
          </a:p>
        </p:txBody>
      </p:sp>
    </p:spTree>
    <p:extLst>
      <p:ext uri="{BB962C8B-B14F-4D97-AF65-F5344CB8AC3E}">
        <p14:creationId xmlns:p14="http://schemas.microsoft.com/office/powerpoint/2010/main" val="1979635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E6AF-A9C1-1991-C68A-9931B632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6E48F5F4-FD15-2EAB-A2D7-009910086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A092E68-4541-0698-8E61-C277C990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L-Well (Fiber Monitoring Well)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ABA43-A65F-A5E7-BB01-97CBC1C3D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4CE1D-CF12-CFAB-3937-B3B45F345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7B3D0-A77F-10CB-037A-BAE799C46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621DB8-C08C-81B0-E8D4-B6546570B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5596"/>
            <a:ext cx="12192000" cy="268106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3E827D-0804-9165-2FFF-535DBCE70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168494"/>
              </p:ext>
            </p:extLst>
          </p:nvPr>
        </p:nvGraphicFramePr>
        <p:xfrm>
          <a:off x="354917" y="3974266"/>
          <a:ext cx="479524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Fracking 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aseline="0" dirty="0"/>
                        <a:t>Stage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Pressure </a:t>
                      </a:r>
                      <a:r>
                        <a:rPr lang="el-GR" sz="1400" dirty="0"/>
                        <a:t>Δ </a:t>
                      </a:r>
                      <a:r>
                        <a:rPr lang="en-CA" sz="1400" dirty="0"/>
                        <a:t>(kPa)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N-Well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N1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aseline="0" dirty="0"/>
                        <a:t>1668.12</a:t>
                      </a:r>
                      <a:endParaRPr lang="en-US" sz="1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</a:tbl>
          </a:graphicData>
        </a:graphic>
      </p:graphicFrame>
      <p:sp>
        <p:nvSpPr>
          <p:cNvPr id="2" name="Star: 5 Points 1">
            <a:extLst>
              <a:ext uri="{FF2B5EF4-FFF2-40B4-BE49-F238E27FC236}">
                <a16:creationId xmlns:a16="http://schemas.microsoft.com/office/drawing/2014/main" id="{4CFCEFA7-4246-8F85-8871-8BDC4B63CEEC}"/>
              </a:ext>
            </a:extLst>
          </p:cNvPr>
          <p:cNvSpPr/>
          <p:nvPr/>
        </p:nvSpPr>
        <p:spPr>
          <a:xfrm>
            <a:off x="8257114" y="4624223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95D861-052C-5336-1300-323648069071}"/>
              </a:ext>
            </a:extLst>
          </p:cNvPr>
          <p:cNvCxnSpPr>
            <a:cxnSpLocks/>
          </p:cNvCxnSpPr>
          <p:nvPr/>
        </p:nvCxnSpPr>
        <p:spPr>
          <a:xfrm flipV="1">
            <a:off x="7835957" y="5240373"/>
            <a:ext cx="951304" cy="111942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B1B8EA-4D6A-C2B3-D50D-DEAC2E63C0A6}"/>
              </a:ext>
            </a:extLst>
          </p:cNvPr>
          <p:cNvSpPr/>
          <p:nvPr/>
        </p:nvSpPr>
        <p:spPr>
          <a:xfrm>
            <a:off x="309721" y="4292760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56ACE2-1463-AE95-5D85-CE7EE42A95CF}"/>
              </a:ext>
            </a:extLst>
          </p:cNvPr>
          <p:cNvSpPr txBox="1"/>
          <p:nvPr/>
        </p:nvSpPr>
        <p:spPr>
          <a:xfrm>
            <a:off x="264527" y="4700746"/>
            <a:ext cx="578084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Conclusion: 1 pressure event recorded that </a:t>
            </a:r>
            <a:r>
              <a:rPr lang="en-US" sz="1400" i="1" dirty="0"/>
              <a:t>hit </a:t>
            </a:r>
            <a:r>
              <a:rPr lang="en-US" sz="1400" dirty="0"/>
              <a:t>L well</a:t>
            </a:r>
          </a:p>
        </p:txBody>
      </p:sp>
    </p:spTree>
    <p:extLst>
      <p:ext uri="{BB962C8B-B14F-4D97-AF65-F5344CB8AC3E}">
        <p14:creationId xmlns:p14="http://schemas.microsoft.com/office/powerpoint/2010/main" val="1963029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CEA3-3CB3-16B9-FFF6-41A58E9E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FCD60E12-5E76-101C-A378-EBE66AA7B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CDAE131-03CE-7343-0F69-CD1B5DB0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BD3CA-F7CB-656C-CF9F-80B53BA9F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90881-09FA-2629-6C73-FE1A43D54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A72E1-CFA8-4587-4B02-6D263AC91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50DA1A-7031-8054-3C80-2C8CEC7F3A24}"/>
              </a:ext>
            </a:extLst>
          </p:cNvPr>
          <p:cNvCxnSpPr>
            <a:cxnSpLocks/>
          </p:cNvCxnSpPr>
          <p:nvPr/>
        </p:nvCxnSpPr>
        <p:spPr>
          <a:xfrm flipH="1" flipV="1">
            <a:off x="8278805" y="4454300"/>
            <a:ext cx="1103021" cy="192110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A1659C-8202-4B50-E9BF-86E1DF4FD887}"/>
              </a:ext>
            </a:extLst>
          </p:cNvPr>
          <p:cNvCxnSpPr>
            <a:cxnSpLocks/>
          </p:cNvCxnSpPr>
          <p:nvPr/>
        </p:nvCxnSpPr>
        <p:spPr>
          <a:xfrm flipH="1">
            <a:off x="8332111" y="4389380"/>
            <a:ext cx="155407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369EE20-C38B-F803-F81A-59A95D798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829143"/>
              </p:ext>
            </p:extLst>
          </p:nvPr>
        </p:nvGraphicFramePr>
        <p:xfrm>
          <a:off x="354917" y="3985819"/>
          <a:ext cx="4795245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Fracking 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Stage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Pressure </a:t>
                      </a:r>
                      <a:r>
                        <a:rPr lang="el-GR" sz="1050" dirty="0"/>
                        <a:t>Δ </a:t>
                      </a:r>
                      <a:r>
                        <a:rPr lang="en-CA" sz="1050" dirty="0"/>
                        <a:t>(kPa)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K7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5334.31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K9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1407.63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J-Well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J5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622.70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785605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K10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600.07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89437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K11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1240.46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01992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K12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6856.94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709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A080AD55-802B-6FFD-9785-D4A4EE7B8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5596"/>
            <a:ext cx="12192000" cy="2671815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ADE75DAE-2FA2-189F-7364-242F48761C0B}"/>
              </a:ext>
            </a:extLst>
          </p:cNvPr>
          <p:cNvSpPr/>
          <p:nvPr/>
        </p:nvSpPr>
        <p:spPr>
          <a:xfrm>
            <a:off x="8278805" y="4650020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BFCD3B-97F4-A671-898A-984A6581993B}"/>
              </a:ext>
            </a:extLst>
          </p:cNvPr>
          <p:cNvSpPr/>
          <p:nvPr/>
        </p:nvSpPr>
        <p:spPr>
          <a:xfrm>
            <a:off x="313635" y="5247861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B43102-5139-39E9-A06A-0F045E988CA1}"/>
              </a:ext>
            </a:extLst>
          </p:cNvPr>
          <p:cNvSpPr/>
          <p:nvPr/>
        </p:nvSpPr>
        <p:spPr>
          <a:xfrm>
            <a:off x="318555" y="5494318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889AA9-1188-DB1B-956C-D4F0F6713263}"/>
              </a:ext>
            </a:extLst>
          </p:cNvPr>
          <p:cNvSpPr/>
          <p:nvPr/>
        </p:nvSpPr>
        <p:spPr>
          <a:xfrm>
            <a:off x="313635" y="4984250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1391A1-15E8-2D3D-526A-B7C505BD41CB}"/>
              </a:ext>
            </a:extLst>
          </p:cNvPr>
          <p:cNvSpPr/>
          <p:nvPr/>
        </p:nvSpPr>
        <p:spPr>
          <a:xfrm>
            <a:off x="290558" y="4462359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F31B6-8646-6FBB-840D-D524A684AB6A}"/>
              </a:ext>
            </a:extLst>
          </p:cNvPr>
          <p:cNvSpPr/>
          <p:nvPr/>
        </p:nvSpPr>
        <p:spPr>
          <a:xfrm>
            <a:off x="290558" y="4200864"/>
            <a:ext cx="4885635" cy="250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715FF-B656-03D1-D1DF-72B02167085B}"/>
              </a:ext>
            </a:extLst>
          </p:cNvPr>
          <p:cNvSpPr txBox="1"/>
          <p:nvPr/>
        </p:nvSpPr>
        <p:spPr>
          <a:xfrm>
            <a:off x="288183" y="5797690"/>
            <a:ext cx="578084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Conclusion: 5 pressure events recorded that </a:t>
            </a:r>
            <a:r>
              <a:rPr lang="en-US" sz="1400" i="1" dirty="0"/>
              <a:t>intersect </a:t>
            </a:r>
            <a:r>
              <a:rPr lang="en-US" sz="1400" dirty="0"/>
              <a:t>L well</a:t>
            </a:r>
          </a:p>
        </p:txBody>
      </p:sp>
    </p:spTree>
    <p:extLst>
      <p:ext uri="{BB962C8B-B14F-4D97-AF65-F5344CB8AC3E}">
        <p14:creationId xmlns:p14="http://schemas.microsoft.com/office/powerpoint/2010/main" val="2262874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D3C7-21A7-87A5-D91D-0B1BF3D0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CCCB3A4-088D-E521-D25A-0A2ADFEFB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5AF7B0F-7E70-1EED-A8CE-BDB9DC7D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E5DB1-ADFF-A664-B923-82CFE488CE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F2C5-C18C-F7A2-33A7-5F6EDC19A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118FF-DB93-C904-6035-26128B96E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227A0A-BD3E-007E-10F1-E61C803A0ACF}"/>
              </a:ext>
            </a:extLst>
          </p:cNvPr>
          <p:cNvCxnSpPr>
            <a:cxnSpLocks/>
          </p:cNvCxnSpPr>
          <p:nvPr/>
        </p:nvCxnSpPr>
        <p:spPr>
          <a:xfrm flipH="1" flipV="1">
            <a:off x="7830589" y="6426616"/>
            <a:ext cx="3254433" cy="323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254426-6E45-86D4-8020-E20E428C9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08166"/>
              </p:ext>
            </p:extLst>
          </p:nvPr>
        </p:nvGraphicFramePr>
        <p:xfrm>
          <a:off x="354917" y="3985819"/>
          <a:ext cx="4795245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Fracking 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baseline="0" dirty="0"/>
                        <a:t>Stage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Pressure </a:t>
                      </a:r>
                      <a:r>
                        <a:rPr lang="el-GR" sz="1050" dirty="0"/>
                        <a:t>Δ </a:t>
                      </a:r>
                      <a:r>
                        <a:rPr lang="en-CA" sz="1050" dirty="0"/>
                        <a:t>(kPa)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M3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770.26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H4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1865.26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M7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1931.80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785605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M-Well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M7.2</a:t>
                      </a:r>
                      <a:endParaRPr lang="en-US" sz="105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baseline="0" dirty="0"/>
                        <a:t>176.89</a:t>
                      </a:r>
                      <a:endParaRPr lang="en-US" sz="105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7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03F43F7-7AAE-6B08-12FB-115392830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2269"/>
            <a:ext cx="12146895" cy="258326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C933B7-7DB6-4B01-66E7-8BC0C9DA8F69}"/>
              </a:ext>
            </a:extLst>
          </p:cNvPr>
          <p:cNvCxnSpPr>
            <a:cxnSpLocks/>
          </p:cNvCxnSpPr>
          <p:nvPr/>
        </p:nvCxnSpPr>
        <p:spPr>
          <a:xfrm flipH="1">
            <a:off x="7768244" y="4447309"/>
            <a:ext cx="465512" cy="193270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AD3388A1-A49D-B53E-15CA-A56FA0DF4E5F}"/>
              </a:ext>
            </a:extLst>
          </p:cNvPr>
          <p:cNvSpPr/>
          <p:nvPr/>
        </p:nvSpPr>
        <p:spPr>
          <a:xfrm>
            <a:off x="8277986" y="4614469"/>
            <a:ext cx="1179819" cy="973986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3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C332-72AA-4476-7230-514934BC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E5B1CB-E206-9DF6-1679-E74E6FE9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96" y="192242"/>
            <a:ext cx="10515600" cy="1033508"/>
          </a:xfrm>
        </p:spPr>
        <p:txBody>
          <a:bodyPr/>
          <a:lstStyle/>
          <a:p>
            <a:r>
              <a:rPr lang="en-US" dirty="0"/>
              <a:t>07-06 Pad: 05-12 Well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0016B-B988-627E-1AB0-414CF421B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4D7AD-967E-8537-5892-248F9247C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73C402B-48B3-3A8E-E961-2742ECC0B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11673"/>
              </p:ext>
            </p:extLst>
          </p:nvPr>
        </p:nvGraphicFramePr>
        <p:xfrm>
          <a:off x="377576" y="3369128"/>
          <a:ext cx="4795245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189549">
                <a:tc>
                  <a:txBody>
                    <a:bodyPr/>
                    <a:lstStyle/>
                    <a:p>
                      <a:pPr algn="ctr"/>
                      <a:r>
                        <a:rPr lang="en-CA" sz="800" baseline="0" dirty="0"/>
                        <a:t>Fracking 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800" baseline="0" dirty="0"/>
                        <a:t>Stage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Pressure </a:t>
                      </a:r>
                      <a:r>
                        <a:rPr lang="el-GR" sz="800" dirty="0"/>
                        <a:t>Δ </a:t>
                      </a:r>
                      <a:r>
                        <a:rPr lang="en-CA" sz="800" dirty="0"/>
                        <a:t>(kPa)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M-Well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M2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16294.56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N3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12988.69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N3.2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7563.73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785605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N4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13381.04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709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N6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1077.23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547453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N7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3136.67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8938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N8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6508.09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35411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N9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3993.25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040840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M-Well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M7.2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449.25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04125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N10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4370.62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496941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N11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10824.78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87002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N-Well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N12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13089.64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419407"/>
                  </a:ext>
                </a:extLst>
              </a:tr>
              <a:tr h="18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aseline="0" dirty="0"/>
                        <a:t>M-Well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M10</a:t>
                      </a:r>
                      <a:endParaRPr lang="en-US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baseline="0" dirty="0"/>
                        <a:t>4801.12</a:t>
                      </a:r>
                      <a:endParaRPr lang="en-US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425302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37B20ECC-BB69-34A7-9583-41B449244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299" y="3473592"/>
            <a:ext cx="5538072" cy="324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9A9B8F19-9358-9894-AE44-24B5C0116E5C}"/>
              </a:ext>
            </a:extLst>
          </p:cNvPr>
          <p:cNvSpPr/>
          <p:nvPr/>
        </p:nvSpPr>
        <p:spPr>
          <a:xfrm>
            <a:off x="8294497" y="4863131"/>
            <a:ext cx="943813" cy="992422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EF8ACE-F837-92B4-93B2-127263F6C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04" y="636532"/>
            <a:ext cx="12192000" cy="267541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900016-2ACD-BDFF-FEDE-AA13697EDDA5}"/>
              </a:ext>
            </a:extLst>
          </p:cNvPr>
          <p:cNvCxnSpPr>
            <a:cxnSpLocks/>
          </p:cNvCxnSpPr>
          <p:nvPr/>
        </p:nvCxnSpPr>
        <p:spPr>
          <a:xfrm flipH="1">
            <a:off x="7087019" y="4559699"/>
            <a:ext cx="1122079" cy="6724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364694-D580-2D0D-28A7-E8DCB9320315}"/>
              </a:ext>
            </a:extLst>
          </p:cNvPr>
          <p:cNvCxnSpPr>
            <a:cxnSpLocks/>
          </p:cNvCxnSpPr>
          <p:nvPr/>
        </p:nvCxnSpPr>
        <p:spPr>
          <a:xfrm flipH="1" flipV="1">
            <a:off x="7087019" y="5282738"/>
            <a:ext cx="652130" cy="10305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54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06F8-FE47-8C0C-1C21-F067A54A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D6E073-F466-5B42-49A9-16AA503B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96" y="380647"/>
            <a:ext cx="10515600" cy="1033508"/>
          </a:xfrm>
        </p:spPr>
        <p:txBody>
          <a:bodyPr/>
          <a:lstStyle/>
          <a:p>
            <a:r>
              <a:rPr lang="en-US" dirty="0"/>
              <a:t>07-06 Pad: 11-12 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AD3ED-2C79-B8A0-32DC-557DEC234A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99B70-03D4-51E4-DB69-085E7FFD7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5E1C2-537B-2A5B-606A-53FA994B5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6C2525E-A94F-3336-11DD-36FA336EC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493129"/>
              </p:ext>
            </p:extLst>
          </p:nvPr>
        </p:nvGraphicFramePr>
        <p:xfrm>
          <a:off x="377576" y="3576238"/>
          <a:ext cx="4795245" cy="208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41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598415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231968">
                <a:tc>
                  <a:txBody>
                    <a:bodyPr/>
                    <a:lstStyle/>
                    <a:p>
                      <a:pPr algn="ctr"/>
                      <a:r>
                        <a:rPr lang="en-CA" sz="900" baseline="0" dirty="0"/>
                        <a:t>Fracking 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900" baseline="0" dirty="0"/>
                        <a:t>Stage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Pressure </a:t>
                      </a:r>
                      <a:r>
                        <a:rPr lang="el-GR" sz="900" dirty="0"/>
                        <a:t>Δ </a:t>
                      </a:r>
                      <a:r>
                        <a:rPr lang="en-CA" sz="900" dirty="0"/>
                        <a:t>(kPa)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N-Well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N4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785.82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M-Well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M3.2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228.79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900" baseline="0" dirty="0"/>
                        <a:t>N-Well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N6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974.39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785605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900" baseline="0" dirty="0"/>
                        <a:t>N-Well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N7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362.84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709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900" baseline="0" dirty="0"/>
                        <a:t>N-Well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N8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540.14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547453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900" baseline="0" dirty="0"/>
                        <a:t>N-Well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N9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204.74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8938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900" baseline="0" dirty="0"/>
                        <a:t>N-Well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N10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233.29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35411"/>
                  </a:ext>
                </a:extLst>
              </a:tr>
              <a:tr h="2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900" baseline="0" dirty="0"/>
                        <a:t>M-Well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M10</a:t>
                      </a:r>
                      <a:endParaRPr lang="en-US" sz="9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900" baseline="0" dirty="0"/>
                        <a:t>454.1</a:t>
                      </a:r>
                      <a:endParaRPr lang="en-US" sz="9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0412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9E7EFAED-E4EB-8420-2434-5A1966F10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299" y="3473592"/>
            <a:ext cx="5538072" cy="324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03FDC68F-F502-CF52-AA3B-FFCA21514CF3}"/>
              </a:ext>
            </a:extLst>
          </p:cNvPr>
          <p:cNvSpPr/>
          <p:nvPr/>
        </p:nvSpPr>
        <p:spPr>
          <a:xfrm>
            <a:off x="8294497" y="4863131"/>
            <a:ext cx="943813" cy="992422"/>
          </a:xfrm>
          <a:prstGeom prst="star5">
            <a:avLst/>
          </a:prstGeom>
          <a:noFill/>
          <a:ln w="666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6A056F-8576-2D92-4016-69F4F7624F2B}"/>
              </a:ext>
            </a:extLst>
          </p:cNvPr>
          <p:cNvCxnSpPr>
            <a:cxnSpLocks/>
          </p:cNvCxnSpPr>
          <p:nvPr/>
        </p:nvCxnSpPr>
        <p:spPr>
          <a:xfrm flipH="1" flipV="1">
            <a:off x="6507412" y="5281378"/>
            <a:ext cx="1201431" cy="10319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FD5CC6-9FFE-AE91-4BD5-B5E550C52419}"/>
              </a:ext>
            </a:extLst>
          </p:cNvPr>
          <p:cNvCxnSpPr>
            <a:cxnSpLocks/>
          </p:cNvCxnSpPr>
          <p:nvPr/>
        </p:nvCxnSpPr>
        <p:spPr>
          <a:xfrm flipH="1">
            <a:off x="6544316" y="4559699"/>
            <a:ext cx="1664782" cy="6724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CC9D79E1-0D75-6DF1-4B8A-FE47FAA78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0182"/>
            <a:ext cx="12192000" cy="26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2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3977</TotalTime>
  <Words>514</Words>
  <Application>Microsoft Office PowerPoint</Application>
  <PresentationFormat>Widescreen</PresentationFormat>
  <Paragraphs>251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Roboto</vt:lpstr>
      <vt:lpstr>Office Theme</vt:lpstr>
      <vt:lpstr>07-31P2 Frac Hits While Fiber Deployed </vt:lpstr>
      <vt:lpstr>Summary</vt:lpstr>
      <vt:lpstr>G-Well</vt:lpstr>
      <vt:lpstr>H-Well</vt:lpstr>
      <vt:lpstr>I-Well</vt:lpstr>
      <vt:lpstr>J-Well</vt:lpstr>
      <vt:lpstr>K-Well</vt:lpstr>
      <vt:lpstr>L-Well (Fiber Monitoring Well)</vt:lpstr>
      <vt:lpstr>M-Well</vt:lpstr>
      <vt:lpstr>N-Well</vt:lpstr>
      <vt:lpstr>07-06 Pad: 05-12 Well</vt:lpstr>
      <vt:lpstr>07-06 Pad: 11-12 Well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Marcus Kittelson</dc:creator>
  <cp:lastModifiedBy>Brian Donnelly</cp:lastModifiedBy>
  <cp:revision>430</cp:revision>
  <cp:lastPrinted>2020-09-16T13:08:11Z</cp:lastPrinted>
  <dcterms:created xsi:type="dcterms:W3CDTF">2020-02-25T19:46:46Z</dcterms:created>
  <dcterms:modified xsi:type="dcterms:W3CDTF">2025-03-05T03:11:33Z</dcterms:modified>
</cp:coreProperties>
</file>