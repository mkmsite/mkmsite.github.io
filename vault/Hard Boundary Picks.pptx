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1"/>
  </p:sldMasterIdLst>
  <p:notesMasterIdLst>
    <p:notesMasterId r:id="rId5"/>
  </p:notesMasterIdLst>
  <p:sldIdLst>
    <p:sldId id="314" r:id="rId2"/>
    <p:sldId id="315" r:id="rId3"/>
    <p:sldId id="316" r:id="rId4"/>
  </p:sldIdLst>
  <p:sldSz cx="12192000" cy="6858000"/>
  <p:notesSz cx="9296400" cy="7010400"/>
  <p:embeddedFontLst>
    <p:embeddedFont>
      <p:font typeface="Roboto" panose="02000000000000000000" pitchFamily="2" charset="0"/>
      <p:regular r:id="rId6"/>
      <p:bold r:id="rId7"/>
      <p:italic r:id="rId8"/>
      <p:boldItalic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9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686" userDrawn="1">
          <p15:clr>
            <a:srgbClr val="A4A3A4"/>
          </p15:clr>
        </p15:guide>
        <p15:guide id="4" orient="horz" pos="414" userDrawn="1">
          <p15:clr>
            <a:srgbClr val="A4A3A4"/>
          </p15:clr>
        </p15:guide>
        <p15:guide id="5" orient="horz" pos="4178" userDrawn="1">
          <p15:clr>
            <a:srgbClr val="A4A3A4"/>
          </p15:clr>
        </p15:guide>
        <p15:guide id="6" orient="horz" pos="3906" userDrawn="1">
          <p15:clr>
            <a:srgbClr val="A4A3A4"/>
          </p15:clr>
        </p15:guide>
        <p15:guide id="7" pos="7401" userDrawn="1">
          <p15:clr>
            <a:srgbClr val="A4A3A4"/>
          </p15:clr>
        </p15:guide>
        <p15:guide id="8" orient="horz" pos="18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D6D6"/>
    <a:srgbClr val="EEEEEE"/>
    <a:srgbClr val="E6E6E6"/>
    <a:srgbClr val="FDFDFD"/>
    <a:srgbClr val="00B3ED"/>
    <a:srgbClr val="2CA73C"/>
    <a:srgbClr val="EBEFF1"/>
    <a:srgbClr val="DBE1E5"/>
    <a:srgbClr val="A0AEB9"/>
    <a:srgbClr val="ECFA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50" autoAdjust="0"/>
    <p:restoredTop sz="95930" autoAdjust="0"/>
  </p:normalViewPr>
  <p:slideViewPr>
    <p:cSldViewPr snapToGrid="0" snapToObjects="1">
      <p:cViewPr varScale="1">
        <p:scale>
          <a:sx n="140" d="100"/>
          <a:sy n="140" d="100"/>
        </p:scale>
        <p:origin x="152" y="664"/>
      </p:cViewPr>
      <p:guideLst>
        <p:guide orient="horz" pos="1094"/>
        <p:guide pos="3840"/>
        <p:guide orient="horz" pos="686"/>
        <p:guide orient="horz" pos="414"/>
        <p:guide orient="horz" pos="4178"/>
        <p:guide orient="horz" pos="3906"/>
        <p:guide pos="7401"/>
        <p:guide orient="horz" pos="18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viewProps" Target="viewProps.xml"/><Relationship Id="rId5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809" y="1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C6EAC625-E89F-2B49-ABD1-579846A52727}" type="datetimeFigureOut">
              <a:rPr lang="en-US" smtClean="0"/>
              <a:pPr/>
              <a:t>6/17/2025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46350" y="876300"/>
            <a:ext cx="4203700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9640" y="3373754"/>
            <a:ext cx="7437120" cy="2760346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809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B04DAF55-04DD-DC4E-B72C-B38F1B69FD5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224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gradFill>
          <a:gsLst>
            <a:gs pos="61000">
              <a:schemeClr val="accent2"/>
            </a:gs>
            <a:gs pos="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BFB67-BD8B-2F46-BAA9-8CF50A857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421995"/>
            <a:ext cx="10341864" cy="2105723"/>
          </a:xfrm>
        </p:spPr>
        <p:txBody>
          <a:bodyPr anchor="b"/>
          <a:lstStyle>
            <a:lvl1pPr algn="l">
              <a:lnSpc>
                <a:spcPct val="95000"/>
              </a:lnSpc>
              <a:defRPr sz="5200" b="0" i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431A88-9057-D447-B807-2E54669779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930284"/>
            <a:ext cx="9829800" cy="230819"/>
          </a:xfrm>
        </p:spPr>
        <p:txBody>
          <a:bodyPr/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Graphic 12">
            <a:extLst>
              <a:ext uri="{FF2B5EF4-FFF2-40B4-BE49-F238E27FC236}">
                <a16:creationId xmlns:a16="http://schemas.microsoft.com/office/drawing/2014/main" id="{941B6592-629D-784C-80B7-6283B6801E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52996" y="696897"/>
            <a:ext cx="1384634" cy="674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532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05D95-4537-EB40-9FCC-C9389FD0B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E12D98-80BF-4D4F-8979-784C42B73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0851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42057947-537C-1747-9E5C-A481123CE8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6" y="2099188"/>
            <a:ext cx="3072478" cy="391297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1B710-B6DC-6643-A3D7-14913FD0D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7697"/>
            <a:ext cx="10515600" cy="3912973"/>
          </a:xfrm>
        </p:spPr>
        <p:txBody>
          <a:bodyPr/>
          <a:lstStyle>
            <a:lvl1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2pPr>
            <a:lvl3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3pPr>
            <a:lvl4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4pPr>
            <a:lvl5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29EA6210-5372-F44A-BAFF-E6D0C7F2C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6F1068-89AF-344A-B083-2A76BF0DD0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717565"/>
            <a:ext cx="10515600" cy="229704"/>
          </a:xfrm>
        </p:spPr>
        <p:txBody>
          <a:bodyPr/>
          <a:lstStyle>
            <a:lvl1pPr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B6ED69-460B-FA45-B956-165C4C0408F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B83B254-AC64-B647-A844-80DA01F4927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2CF1CDE8-7229-A84D-862B-8F2083C76E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2E516B4-73C8-174D-BE93-D888D75ABA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499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8843A-554F-D54E-9519-6A59A18F5D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67695"/>
            <a:ext cx="5126736" cy="410926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F16D07-96F7-6B4D-ABCF-9D5EEB14F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064" y="2067695"/>
            <a:ext cx="5126736" cy="410926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1">
            <a:extLst>
              <a:ext uri="{FF2B5EF4-FFF2-40B4-BE49-F238E27FC236}">
                <a16:creationId xmlns:a16="http://schemas.microsoft.com/office/drawing/2014/main" id="{C36C2F34-1E94-C949-B3BB-8E0144913E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717565"/>
            <a:ext cx="10526926" cy="229704"/>
          </a:xfrm>
        </p:spPr>
        <p:txBody>
          <a:bodyPr/>
          <a:lstStyle>
            <a:lvl1pPr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A491FEF2-01D4-194B-A16C-45B8EE9C3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B0D7B51-4D49-AD48-9ABF-958F1713A1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C652E8FF-2A26-9A4B-B5FD-995C2D4A76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E77D3D50-ABCD-9946-BA54-11C20D30D3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1CB36A6F-C078-A04F-A367-435FDB0A02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8A68FED-0E8F-4861-AC42-0064E582B1A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699626" y="2099188"/>
            <a:ext cx="3072478" cy="3912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427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46DB92FE-1ED6-BD4F-8564-6110DD8EE8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6" y="2099188"/>
            <a:ext cx="3072478" cy="39129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14D1F-5CA2-FD4A-8111-5C428B8EA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12956" cy="82391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A67AE-768D-FF47-ADE4-FE6888DC7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12956" cy="36845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65714-2DEC-DB45-B4F8-C84DA01AD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39256" y="1681163"/>
            <a:ext cx="5116131" cy="82391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9B1B4-FD50-6A4A-94C0-75828986E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39256" y="2505075"/>
            <a:ext cx="5116131" cy="36845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465DEF1C-B957-0C45-AF3A-C80FCB786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837C80E-7584-0F41-9E77-45AA622281E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2F6387F-983E-564D-B029-F496745E9E4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92966E56-ACA2-BB46-8DAF-C6BB0DD7F14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BFC7B1D-6B90-7E43-B776-E2117AD85BA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184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aphic 21">
            <a:extLst>
              <a:ext uri="{FF2B5EF4-FFF2-40B4-BE49-F238E27FC236}">
                <a16:creationId xmlns:a16="http://schemas.microsoft.com/office/drawing/2014/main" id="{77C73AE0-D7E4-A242-969B-B953C881A4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8042" y="2100648"/>
            <a:ext cx="3072478" cy="39129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14D1F-5CA2-FD4A-8111-5C428B8EA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3329876" cy="823912"/>
          </a:xfrm>
        </p:spPr>
        <p:txBody>
          <a:bodyPr anchor="b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A67AE-768D-FF47-ADE4-FE6888DC7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83401"/>
            <a:ext cx="3329875" cy="36062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65714-2DEC-DB45-B4F8-C84DA01AD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47032" y="1681163"/>
            <a:ext cx="3329875" cy="823912"/>
          </a:xfrm>
        </p:spPr>
        <p:txBody>
          <a:bodyPr anchor="b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9B1B4-FD50-6A4A-94C0-75828986E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47033" y="2583401"/>
            <a:ext cx="3329874" cy="36062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680BD89-3A68-944D-BC2C-E8B0449AD1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022336" y="1681163"/>
            <a:ext cx="3329875" cy="823912"/>
          </a:xfrm>
        </p:spPr>
        <p:txBody>
          <a:bodyPr anchor="b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E8254C6D-E886-9E4E-98B7-90808E14B0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022337" y="2583401"/>
            <a:ext cx="3329874" cy="36062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26F4DC66-1335-0F4F-9745-4AA926453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0DAFF62F-8798-4E45-A0D4-33C7E942E0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42DFC743-EAE4-164F-9F2A-49499828B83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6" name="Footer Placeholder 6">
            <a:extLst>
              <a:ext uri="{FF2B5EF4-FFF2-40B4-BE49-F238E27FC236}">
                <a16:creationId xmlns:a16="http://schemas.microsoft.com/office/drawing/2014/main" id="{C0386E48-0F19-AA48-A312-AAED6625B1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40877424-E4CB-E440-9AD4-8A0F2982A8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963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phic 23">
            <a:extLst>
              <a:ext uri="{FF2B5EF4-FFF2-40B4-BE49-F238E27FC236}">
                <a16:creationId xmlns:a16="http://schemas.microsoft.com/office/drawing/2014/main" id="{D56AE876-11E1-1F4B-9F56-4572091AB2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8040" y="2067696"/>
            <a:ext cx="3072478" cy="39129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14D1F-5CA2-FD4A-8111-5C428B8EA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2433764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A67AE-768D-FF47-ADE4-FE6888DC7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627789"/>
            <a:ext cx="2433763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65714-2DEC-DB45-B4F8-C84DA01AD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522028" y="1681163"/>
            <a:ext cx="2433763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9B1B4-FD50-6A4A-94C0-75828986E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22029" y="2627789"/>
            <a:ext cx="2433762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680BD89-3A68-944D-BC2C-E8B0449AD1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6211" y="1681163"/>
            <a:ext cx="2433763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E8254C6D-E886-9E4E-98B7-90808E14B0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36212" y="2627789"/>
            <a:ext cx="2433762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4C158C2-261F-F64E-9A5D-D4155B9C1F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15403" y="1681163"/>
            <a:ext cx="2433763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157FE8CE-6074-1D41-82FE-76F196F4366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915404" y="2627789"/>
            <a:ext cx="2433762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796C8826-3828-104C-9751-E7B336D3B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2535F69B-6616-784E-937A-CCDC18B5CA1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D88B4F55-61B2-0D4D-8B51-AC6C272E5ED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23" name="Footer Placeholder 6">
            <a:extLst>
              <a:ext uri="{FF2B5EF4-FFF2-40B4-BE49-F238E27FC236}">
                <a16:creationId xmlns:a16="http://schemas.microsoft.com/office/drawing/2014/main" id="{05B8EE63-54FA-A448-B74E-4F5506964BC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6E70716A-C710-654A-8C18-B4AA6BDDB7C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345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00F43117-01F5-9644-A91E-DCB8B7F4EB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7" y="2091618"/>
            <a:ext cx="3072478" cy="391297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6BABB-B76D-124D-80B7-17F397165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3984" y="1380744"/>
            <a:ext cx="6911404" cy="4480306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04D83C-A92D-E244-9372-8439384457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531974"/>
            <a:ext cx="3329876" cy="3337013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630A9B8-D978-7742-917E-2F0ADE492C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6612" y="1380743"/>
            <a:ext cx="3329876" cy="1050281"/>
          </a:xfrm>
        </p:spPr>
        <p:txBody>
          <a:bodyPr anchor="b" anchorCtr="0"/>
          <a:lstStyle>
            <a:lvl1pPr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9525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E8AF8D62-F2FB-CF46-82BF-D768F7218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42602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67B22AB-3DCF-F646-8C59-E0E97B18EB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6820C1E-8E8E-864F-AC09-49BED386338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CC0F4EBF-FEF3-7744-99E3-CBE2C9F39E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FF2C938-9853-C842-B923-C293FC5D9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182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CBE97528-63E0-B947-8D70-BEDE869968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7" y="2090488"/>
            <a:ext cx="3072478" cy="3912973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20C621-5537-554E-8430-60B2C07AC0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39258" y="1702700"/>
            <a:ext cx="5116130" cy="4158350"/>
          </a:xfrm>
        </p:spPr>
        <p:txBody>
          <a:bodyPr/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7F1BDB-3D52-C947-9A70-95CBB52C91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10638"/>
            <a:ext cx="5112956" cy="415835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6A80D494-C4A5-8D42-9429-57A6352A7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A805077-2DFF-C048-A74F-FEFC5F19E7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B1F4726-EF65-7645-BCFF-353C11479F3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D0745A4F-A219-614C-98DD-9FEBFE44C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1DE9D77-F61D-8943-B484-6666430D70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178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CCF33CEF-DB70-244F-80BA-B71548C44C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7" y="2109162"/>
            <a:ext cx="3072478" cy="3912973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20C621-5537-554E-8430-60B2C07AC0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581400" y="1710637"/>
            <a:ext cx="7773988" cy="4311497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7F1BDB-3D52-C947-9A70-95CBB52C91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18575"/>
            <a:ext cx="2424620" cy="4311497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461A6208-D7F3-AA47-9283-E80A86335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A6EA457C-1F3A-2345-B3A2-D139B309BAC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F6F0085-7B88-B641-B1CC-CC66D5D423B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CB8FB673-6C0C-B34D-AD97-C684BEF171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07FF9FC-7358-9A45-854D-4327233895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886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8BA81E6B-2267-7240-BD8D-2F041945CD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7315484" y="-1458332"/>
            <a:ext cx="3072478" cy="3912973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3737E8E-56AD-B14E-B718-902488B11F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5400000">
            <a:off x="230383" y="477996"/>
            <a:ext cx="32480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999DB6-1BEB-7640-A175-94DFE9DE44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98156"/>
            <a:ext cx="9970008" cy="5884356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Vertical Title 1">
            <a:extLst>
              <a:ext uri="{FF2B5EF4-FFF2-40B4-BE49-F238E27FC236}">
                <a16:creationId xmlns:a16="http://schemas.microsoft.com/office/drawing/2014/main" id="{1B43DC09-6FF9-2F4A-ADBD-BBFED927C2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103328" y="498158"/>
            <a:ext cx="601324" cy="4411594"/>
          </a:xfrm>
        </p:spPr>
        <p:txBody>
          <a:bodyPr vert="eaVert" anchor="t" anchorCtr="0"/>
          <a:lstStyle>
            <a:lvl1pPr>
              <a:lnSpc>
                <a:spcPct val="90000"/>
              </a:lnSpc>
              <a:defRPr sz="2800" b="0" i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8E47882-5D0B-C447-B5DC-B66FE0E54FC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253491" y="692734"/>
            <a:ext cx="198715" cy="253075"/>
          </a:xfrm>
          <a:prstGeom prst="rect">
            <a:avLst/>
          </a:prstGeom>
        </p:spPr>
      </p:pic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DE54E77-F0EC-5F4D-8092-77A8D8566C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5400000">
            <a:off x="9694236" y="25177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8DB796B6-2923-7F4A-BC63-73C15DCEAF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681138" y="299814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5831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9B179C-6459-684A-A044-79034DD62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846"/>
            <a:ext cx="10515600" cy="83383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9AD13B-9F9E-CF4D-B001-BDCFA8B95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42949"/>
            <a:ext cx="10515600" cy="468512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5232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  <p:sldLayoutId id="2147483653" r:id="rId5"/>
    <p:sldLayoutId id="2147483659" r:id="rId6"/>
    <p:sldLayoutId id="2147483660" r:id="rId7"/>
    <p:sldLayoutId id="2147483656" r:id="rId8"/>
    <p:sldLayoutId id="2147483657" r:id="rId9"/>
    <p:sldLayoutId id="2147483661" r:id="rId10"/>
    <p:sldLayoutId id="2147483658" r:id="rId11"/>
  </p:sldLayoutIdLst>
  <p:hf hdr="0" dt="0"/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1pPr>
      <a:lvl2pPr marL="182563" indent="-173038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2pPr>
      <a:lvl3pPr marL="365125" indent="-142875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3pPr>
      <a:lvl4pPr marL="538163" indent="-131763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4pPr>
      <a:lvl5pPr marL="720725" indent="-142875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6CE87-9BCD-0243-B22C-4EA155A25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421995"/>
            <a:ext cx="7462421" cy="2105723"/>
          </a:xfrm>
        </p:spPr>
        <p:txBody>
          <a:bodyPr/>
          <a:lstStyle/>
          <a:p>
            <a:r>
              <a:rPr lang="en-US" dirty="0"/>
              <a:t>Hard Boundary </a:t>
            </a:r>
            <a:br>
              <a:rPr lang="en-US" dirty="0"/>
            </a:br>
            <a:r>
              <a:rPr lang="en-US" dirty="0"/>
              <a:t>Survey Picks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92B5759-45DB-614C-B4FA-512A040C1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922320"/>
            <a:ext cx="9829800" cy="238783"/>
          </a:xfrm>
        </p:spPr>
        <p:txBody>
          <a:bodyPr anchor="b" anchorCtr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400" dirty="0">
                <a:latin typeface="Arial" panose="020B0604020202020204" pitchFamily="34" charset="0"/>
                <a:ea typeface="Roboto Light" panose="02000000000000000000" pitchFamily="2" charset="0"/>
              </a:rPr>
              <a:t>July 2025</a:t>
            </a:r>
          </a:p>
        </p:txBody>
      </p:sp>
    </p:spTree>
    <p:extLst>
      <p:ext uri="{BB962C8B-B14F-4D97-AF65-F5344CB8AC3E}">
        <p14:creationId xmlns:p14="http://schemas.microsoft.com/office/powerpoint/2010/main" val="3892747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923FD54-476D-4506-AF7F-E6228A1B2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ELM 16-35:</a:t>
            </a:r>
            <a:br>
              <a:rPr lang="en-US" b="1" dirty="0"/>
            </a:br>
            <a:r>
              <a:rPr lang="en-US" b="1" dirty="0"/>
              <a:t>100/05-10-069-08W6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94CD71-9F6B-4361-9556-16E888E9B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F1B8FD-2130-4C06-8879-0CEC07376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3B97543-B58C-D582-E680-853E47290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2435" y="1604895"/>
            <a:ext cx="5964283" cy="3719576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A372895-0650-599D-247F-BC41294789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4ECC032-63E2-AAB5-D959-8D3C5E98D7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0" y="1621751"/>
            <a:ext cx="6137155" cy="3631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35DC1EF-7A70-C9B4-FF64-D20CDFFCF1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80" y="4284772"/>
            <a:ext cx="4208272" cy="1332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327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EF14B-646F-0470-8EFC-3A1C9FACB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97B87BA-B467-52F8-C9D0-D725D1BD1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PSN 12-28: </a:t>
            </a:r>
            <a:br>
              <a:rPr lang="en-US" b="1" dirty="0"/>
            </a:br>
            <a:r>
              <a:rPr lang="en-US" b="1" dirty="0"/>
              <a:t>103/03-31-071-09W6 &amp; 102/14-30-071-09W6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4BDC47-6858-5006-2DFA-BD0890F423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08B43A-D8D7-4BC4-4C7F-754510F83C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704ECA2-B626-9105-04B0-84663EE9B39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635" y="1651420"/>
            <a:ext cx="4702927" cy="4484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B88E8CA-6479-3A24-57A5-5B10DFA44B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7963" y="1524555"/>
            <a:ext cx="5652540" cy="258103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AE07597-C420-C835-6417-984ED3C085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7963" y="4105594"/>
            <a:ext cx="5652540" cy="2602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900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uVista 1">
      <a:dk1>
        <a:srgbClr val="013E6A"/>
      </a:dk1>
      <a:lt1>
        <a:srgbClr val="FFFFFF"/>
      </a:lt1>
      <a:dk2>
        <a:srgbClr val="007FC5"/>
      </a:dk2>
      <a:lt2>
        <a:srgbClr val="EEEEEE"/>
      </a:lt2>
      <a:accent1>
        <a:srgbClr val="00B3EC"/>
      </a:accent1>
      <a:accent2>
        <a:srgbClr val="2BA73B"/>
      </a:accent2>
      <a:accent3>
        <a:srgbClr val="8093A2"/>
      </a:accent3>
      <a:accent4>
        <a:srgbClr val="008C72"/>
      </a:accent4>
      <a:accent5>
        <a:srgbClr val="D86D00"/>
      </a:accent5>
      <a:accent6>
        <a:srgbClr val="FFD145"/>
      </a:accent6>
      <a:hlink>
        <a:srgbClr val="00B4EC"/>
      </a:hlink>
      <a:folHlink>
        <a:srgbClr val="013E6A"/>
      </a:folHlink>
    </a:clrScheme>
    <a:fontScheme name="NuVista">
      <a:majorFont>
        <a:latin typeface="Roboto Medium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rdinal" id="{E097D04B-40D9-2E4A-9293-9D4A30648264}" vid="{F0E31ECF-BAC4-FB41-9B86-D1547383E27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A56584E-0507-4745-816C-AF496AF9464E}">
  <we:reference id="wa104381063" version="1.0.0.1" store="en-US" storeType="OMEX"/>
  <we:alternateReferences>
    <we:reference id="WA104381063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298</TotalTime>
  <Words>29</Words>
  <Application>Microsoft Office PowerPoint</Application>
  <PresentationFormat>Widescreen</PresentationFormat>
  <Paragraphs>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Roboto</vt:lpstr>
      <vt:lpstr>Office Theme</vt:lpstr>
      <vt:lpstr>Hard Boundary  Survey Picks</vt:lpstr>
      <vt:lpstr>ELM 16-35: 100/05-10-069-08W6</vt:lpstr>
      <vt:lpstr>PSN 12-28:  103/03-31-071-09W6 &amp; 102/14-30-071-09W6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NuVista Corporate Presentation</dc:title>
  <dc:subject/>
  <dc:creator>Bryan Galambos</dc:creator>
  <cp:lastModifiedBy>Marcus Kittelson</cp:lastModifiedBy>
  <cp:revision>402</cp:revision>
  <cp:lastPrinted>2020-09-16T13:08:11Z</cp:lastPrinted>
  <dcterms:created xsi:type="dcterms:W3CDTF">2020-02-25T19:46:46Z</dcterms:created>
  <dcterms:modified xsi:type="dcterms:W3CDTF">2025-06-17T20:52:08Z</dcterms:modified>
</cp:coreProperties>
</file>