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314" r:id="rId2"/>
    <p:sldId id="757" r:id="rId3"/>
    <p:sldId id="752" r:id="rId4"/>
    <p:sldId id="754" r:id="rId5"/>
    <p:sldId id="759" r:id="rId6"/>
    <p:sldId id="760" r:id="rId7"/>
    <p:sldId id="761" r:id="rId8"/>
    <p:sldId id="758" r:id="rId9"/>
    <p:sldId id="762" r:id="rId10"/>
    <p:sldId id="753" r:id="rId11"/>
    <p:sldId id="7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86901" autoAdjust="0"/>
  </p:normalViewPr>
  <p:slideViewPr>
    <p:cSldViewPr snapToGrid="0">
      <p:cViewPr varScale="1">
        <p:scale>
          <a:sx n="141" d="100"/>
          <a:sy n="141" d="100"/>
        </p:scale>
        <p:origin x="74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B71AC-A0D8-4729-8BDF-1C6A319ECCB9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64DE-67DF-4D4C-916D-CA1852999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37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61000">
              <a:schemeClr val="accent2"/>
            </a:gs>
            <a:gs pos="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FB67-BD8B-2F46-BAA9-8CF50A85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10341864" cy="2105723"/>
          </a:xfrm>
        </p:spPr>
        <p:txBody>
          <a:bodyPr anchor="b"/>
          <a:lstStyle>
            <a:lvl1pPr algn="l">
              <a:lnSpc>
                <a:spcPct val="95000"/>
              </a:lnSpc>
              <a:defRPr sz="52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31A88-9057-D447-B807-2E5466977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30284"/>
            <a:ext cx="9829800" cy="230819"/>
          </a:xfr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941B6592-629D-784C-80B7-6283B6801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2996" y="696897"/>
            <a:ext cx="1384634" cy="67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1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5D95-4537-EB40-9FCC-C9389FD0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12D98-80BF-4D4F-8979-784C42B7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026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2057947-537C-1747-9E5C-A481123CE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B710-B6DC-6643-A3D7-14913FD0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7697"/>
            <a:ext cx="10515600" cy="3912973"/>
          </a:xfrm>
        </p:spPr>
        <p:txBody>
          <a:bodyPr/>
          <a:lstStyle>
            <a:lvl1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9EA6210-5372-F44A-BAFF-E6D0C7F2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6F1068-89AF-344A-B083-2A76BF0DD0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15600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6ED69-460B-FA45-B956-165C4C0408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B83B254-AC64-B647-A844-80DA01F492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CF1CDE8-7229-A84D-862B-8F2083C76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E516B4-73C8-174D-BE93-D888D75AB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44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843A-554F-D54E-9519-6A59A18F5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16D07-96F7-6B4D-ABCF-9D5EEB1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C36C2F34-1E94-C949-B3BB-8E0144913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26926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491FEF2-01D4-194B-A16C-45B8EE9C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B0D7B51-4D49-AD48-9ABF-958F1713A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52E8FF-2A26-9A4B-B5FD-995C2D4A76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E77D3D50-ABCD-9946-BA54-11C20D30D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CB36A6F-C078-A04F-A367-435FDB0A0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A68FED-0E8F-4861-AC42-0064E582B1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46DB92FE-1ED6-BD4F-8564-6110DD8EE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12956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12956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9256" y="1681163"/>
            <a:ext cx="5116131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9256" y="2505075"/>
            <a:ext cx="5116131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65DEF1C-B957-0C45-AF3A-C80FCB78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837C80E-7584-0F41-9E77-45AA622281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2F6387F-983E-564D-B029-F496745E9E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92966E56-ACA2-BB46-8DAF-C6BB0DD7F1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FC7B1D-6B90-7E43-B776-E2117AD85B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20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77C73AE0-D7E4-A242-969B-B953C881A4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2" y="210064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329876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83401"/>
            <a:ext cx="3329875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7032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7033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2336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22337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6F4DC66-1335-0F4F-9745-4AA92645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AFF62F-8798-4E45-A0D4-33C7E942E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2DFC743-EAE4-164F-9F2A-49499828B8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C0386E48-0F19-AA48-A312-AAED6625B1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0877424-E4CB-E440-9AD4-8A0F2982A8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06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D56AE876-11E1-1F4B-9F56-4572091AB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0" y="2067696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2433764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627789"/>
            <a:ext cx="2433763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22028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22029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6211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36212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C158C2-261F-F64E-9A5D-D4155B9C1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15403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57FE8CE-6074-1D41-82FE-76F196F436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15404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96C8826-3828-104C-9751-E7B336D3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535F69B-6616-784E-937A-CCDC18B5CA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88B4F55-61B2-0D4D-8B51-AC6C272E5E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05B8EE63-54FA-A448-B74E-4F5506964B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E70716A-C710-654A-8C18-B4AA6BDDB7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46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0F43117-01F5-9644-A91E-DCB8B7F4E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161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BABB-B76D-124D-80B7-17F397165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84" y="1380744"/>
            <a:ext cx="6911404" cy="448030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4D83C-A92D-E244-9372-84393844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531974"/>
            <a:ext cx="3329876" cy="333701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30A9B8-D978-7742-917E-2F0ADE492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6612" y="1380743"/>
            <a:ext cx="3329876" cy="1050281"/>
          </a:xfrm>
        </p:spPr>
        <p:txBody>
          <a:bodyPr anchor="b" anchorCtr="0"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952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8AF8D62-F2FB-CF46-82BF-D768F721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426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67B22AB-3DCF-F646-8C59-E0E97B18EB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6820C1E-8E8E-864F-AC09-49BED38633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C0F4EBF-FEF3-7744-99E3-CBE2C9F39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FF2C938-9853-C842-B923-C293FC5D9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43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BE97528-63E0-B947-8D70-BEDE869968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0488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9258" y="1702700"/>
            <a:ext cx="5116130" cy="415835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0638"/>
            <a:ext cx="5112956" cy="4158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80D494-C4A5-8D42-9429-57A6352A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A805077-2DFF-C048-A74F-FEFC5F19E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B1F4726-EF65-7645-BCFF-353C11479F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D0745A4F-A219-614C-98DD-9FEBFE44C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DE9D77-F61D-8943-B484-6666430D7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38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CF33CEF-DB70-244F-80BA-B71548C44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109162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81400" y="1710637"/>
            <a:ext cx="7773988" cy="431149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8575"/>
            <a:ext cx="2424620" cy="43114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461A6208-D7F3-AA47-9283-E80A8633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EA457C-1F3A-2345-B3A2-D139B309BA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6F0085-7B88-B641-B1CC-CC66D5D423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CB8FB673-6C0C-B34D-AD97-C684BEF17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07FF9FC-7358-9A45-854D-432723389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559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8BA81E6B-2267-7240-BD8D-2F041945CD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315484" y="-1458332"/>
            <a:ext cx="3072478" cy="391297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3737E8E-56AD-B14E-B718-902488B11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230383" y="477996"/>
            <a:ext cx="32480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99DB6-1BEB-7640-A175-94DFE9DE4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98156"/>
            <a:ext cx="9970008" cy="588435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Vertical Title 1">
            <a:extLst>
              <a:ext uri="{FF2B5EF4-FFF2-40B4-BE49-F238E27FC236}">
                <a16:creationId xmlns:a16="http://schemas.microsoft.com/office/drawing/2014/main" id="{1B43DC09-6FF9-2F4A-ADBD-BBFED927C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103328" y="498158"/>
            <a:ext cx="601324" cy="4411594"/>
          </a:xfrm>
        </p:spPr>
        <p:txBody>
          <a:bodyPr vert="eaVert" anchor="t" anchorCtr="0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8E47882-5D0B-C447-B5DC-B66FE0E54F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253491" y="692734"/>
            <a:ext cx="198715" cy="25307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E54E77-F0EC-5F4D-8092-77A8D8566C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694236" y="25177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8DB796B6-2923-7F4A-BC63-73C15DCE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81138" y="299814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955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CD828-B38D-4EC1-AA4E-CD5B7412B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1129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B179C-6459-684A-A044-79034DD6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846"/>
            <a:ext cx="10515600" cy="83383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AD13B-9F9E-CF4D-B001-BDCFA8B9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2949"/>
            <a:ext cx="10515600" cy="46851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529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1pPr>
      <a:lvl2pPr marL="182563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2pPr>
      <a:lvl3pPr marL="3651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3pPr>
      <a:lvl4pPr marL="538163" indent="-13176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4pPr>
      <a:lvl5pPr marL="7207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CE87-9BCD-0243-B22C-4EA155A2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12436"/>
            <a:ext cx="7462421" cy="2105723"/>
          </a:xfrm>
        </p:spPr>
        <p:txBody>
          <a:bodyPr anchor="t"/>
          <a:lstStyle/>
          <a:p>
            <a:r>
              <a:rPr lang="en-US" sz="4400" dirty="0"/>
              <a:t>GC 14-30 Frac</a:t>
            </a:r>
            <a:br>
              <a:rPr lang="en-US" sz="4400" dirty="0"/>
            </a:br>
            <a:r>
              <a:rPr lang="en-US" sz="4400" dirty="0"/>
              <a:t>Observations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2B5759-45DB-614C-B4FA-512A040C1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22320"/>
            <a:ext cx="9829800" cy="238783"/>
          </a:xfrm>
        </p:spPr>
        <p:txBody>
          <a:bodyPr anchor="b" anchorCtr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400" dirty="0">
                <a:ea typeface="Roboto Light" panose="02000000000000000000" pitchFamily="2" charset="0"/>
              </a:rPr>
              <a:t>June/July 2025</a:t>
            </a:r>
            <a:endParaRPr lang="en-US" sz="1400" dirty="0">
              <a:latin typeface="Arial" panose="020B0604020202020204" pitchFamily="34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4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9AD9AC-2813-E12F-FF91-E906E7841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78" y="76735"/>
            <a:ext cx="11982482" cy="1033508"/>
          </a:xfrm>
        </p:spPr>
        <p:txBody>
          <a:bodyPr/>
          <a:lstStyle/>
          <a:p>
            <a:r>
              <a:rPr lang="en-US" dirty="0"/>
              <a:t>Post Stage Final Pressure Analysis – 10 Mins Before Next Stage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A87A64-95BD-BBBF-31DF-030CB895E3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79E69-60D9-5F4F-6EFD-6B34C742E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F467F2-9792-65FF-0BEA-AD753B14B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158" y="3875461"/>
            <a:ext cx="2367280" cy="2689654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B7B1C5B-2331-BE43-5021-9FB2291B5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917028"/>
              </p:ext>
            </p:extLst>
          </p:nvPr>
        </p:nvGraphicFramePr>
        <p:xfrm>
          <a:off x="4679092" y="3999684"/>
          <a:ext cx="4736756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306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1856639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307811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407559">
                <a:tc>
                  <a:txBody>
                    <a:bodyPr/>
                    <a:lstStyle/>
                    <a:p>
                      <a:pPr algn="ctr"/>
                      <a:r>
                        <a:rPr lang="en-CA" sz="1200" baseline="0" dirty="0"/>
                        <a:t>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aseline="0" dirty="0"/>
                        <a:t>Average Final Slope </a:t>
                      </a:r>
                    </a:p>
                    <a:p>
                      <a:pPr algn="ctr"/>
                      <a:r>
                        <a:rPr lang="en-CA" sz="1200" baseline="0" dirty="0"/>
                        <a:t>(-kPa/min)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Average Final Pressure (MPa)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A-Well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12.67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24.3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689457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B-Well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13.56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24.2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79416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r>
                        <a:rPr lang="en-CA" sz="1200" b="0" baseline="0" dirty="0"/>
                        <a:t>C-Well</a:t>
                      </a:r>
                      <a:endParaRPr lang="en-US" sz="1200" b="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="0" baseline="0" dirty="0">
                          <a:highlight>
                            <a:srgbClr val="FFFF00"/>
                          </a:highlight>
                        </a:rPr>
                        <a:t>17.39</a:t>
                      </a:r>
                      <a:endParaRPr lang="en-US" sz="1200" b="0" baseline="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="0" baseline="0" dirty="0"/>
                        <a:t>22.5</a:t>
                      </a:r>
                      <a:endParaRPr lang="en-US" sz="1200" b="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2216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D-Well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14.11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23.6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289179"/>
                  </a:ext>
                </a:extLst>
              </a:tr>
            </a:tbl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54D22C3E-55AF-F542-EDBD-EBB95C172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2020"/>
            <a:ext cx="6409458" cy="333662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DC178B1-FBC1-6587-241C-D69BF59E073A}"/>
              </a:ext>
            </a:extLst>
          </p:cNvPr>
          <p:cNvSpPr txBox="1"/>
          <p:nvPr/>
        </p:nvSpPr>
        <p:spPr>
          <a:xfrm>
            <a:off x="420129" y="4096339"/>
            <a:ext cx="3625446" cy="206210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Conclusion: </a:t>
            </a:r>
            <a:r>
              <a:rPr lang="en-US" sz="1600" dirty="0"/>
              <a:t>C-Well (Child well) showed strong traits of depletion – the final post-stage pressure decreasing 28% more than other MNTN A well (B-Well). C-Well also had a lower final pressure. D-Well (MNTN B) child well showed similar child traits but to a lesser magnitude.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1BEE817-AB2F-1614-E0D9-94BAA9D7A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8201" y="592539"/>
            <a:ext cx="6353107" cy="3336626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44841F-2632-7A68-713A-E5E9A134F56F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3322791" y="3522133"/>
            <a:ext cx="3724679" cy="477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1832EC5-C613-8FF2-A597-C7F04ABF96C0}"/>
              </a:ext>
            </a:extLst>
          </p:cNvPr>
          <p:cNvCxnSpPr>
            <a:cxnSpLocks/>
          </p:cNvCxnSpPr>
          <p:nvPr/>
        </p:nvCxnSpPr>
        <p:spPr>
          <a:xfrm flipH="1" flipV="1">
            <a:off x="8741833" y="3280833"/>
            <a:ext cx="127377" cy="718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225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A24D4A2-FFE8-DA20-9162-E9BCD3834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394" y="2537012"/>
            <a:ext cx="5921529" cy="43209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E59F5A7-19C3-2B37-AB8B-719D6C68F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55" y="432667"/>
            <a:ext cx="10515600" cy="1033508"/>
          </a:xfrm>
        </p:spPr>
        <p:txBody>
          <a:bodyPr/>
          <a:lstStyle/>
          <a:p>
            <a:r>
              <a:rPr lang="en-US" dirty="0"/>
              <a:t>Backend Rate Drop Stages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CE361-2932-DF86-76CD-40866E65F4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66394" y="6213350"/>
            <a:ext cx="3855310" cy="565029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Red denotes stages with backend rate drop issues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E015F-399B-AD7C-0854-384AC8875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1D158-AB32-3DF4-ADCE-0F894CE6D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CF36A0-DEF3-6E2E-13A2-87E2F3BE192D}"/>
              </a:ext>
            </a:extLst>
          </p:cNvPr>
          <p:cNvSpPr txBox="1"/>
          <p:nvPr/>
        </p:nvSpPr>
        <p:spPr>
          <a:xfrm>
            <a:off x="422120" y="5211505"/>
            <a:ext cx="3625446" cy="83099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Conclusion:</a:t>
            </a:r>
            <a:r>
              <a:rPr lang="en-US" sz="1600" dirty="0"/>
              <a:t> MNTN B encounters backend rate drop issues far more often than MNTN A.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CB56CD1-E96D-E673-1DBA-62581A4E5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330" y="1029042"/>
            <a:ext cx="7306670" cy="173753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66A5427-E555-A2A6-CA5D-583A0A254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120" y="2902562"/>
            <a:ext cx="4246667" cy="1900934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44D63D4-6CA5-1B4B-0222-E5879B016B88}"/>
              </a:ext>
            </a:extLst>
          </p:cNvPr>
          <p:cNvSpPr txBox="1">
            <a:spLocks/>
          </p:cNvSpPr>
          <p:nvPr/>
        </p:nvSpPr>
        <p:spPr>
          <a:xfrm>
            <a:off x="574520" y="1550523"/>
            <a:ext cx="3746468" cy="56502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39/40 or 97.5% of stages where backend rate drop occurred were in the MNTN B.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89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F0BFFF-D43C-A41A-05F9-B28CC2D42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A-Well Frac Hits</a:t>
            </a:r>
            <a:br>
              <a:rPr lang="en-US" dirty="0"/>
            </a:b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2EE15-B298-43A2-62B4-7A80852110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C842D-76E7-9356-F07C-43C5D270C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F1216AC-328F-8A2A-2BBE-34E926D206CE}"/>
              </a:ext>
            </a:extLst>
          </p:cNvPr>
          <p:cNvSpPr txBox="1">
            <a:spLocks/>
          </p:cNvSpPr>
          <p:nvPr/>
        </p:nvSpPr>
        <p:spPr>
          <a:xfrm>
            <a:off x="838199" y="1276841"/>
            <a:ext cx="10515600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No observed frac hits. For all wells it was harder to observe hits since frac was in a 3-well rotation due to early screen out on A-well, this fast rotation leaves less time to observe and noisier gauge data.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FCB474-DFF5-938A-4E55-DD108AD74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5215"/>
            <a:ext cx="12192000" cy="29592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2804FF-9530-2E9F-5D59-59DA205B29CB}"/>
              </a:ext>
            </a:extLst>
          </p:cNvPr>
          <p:cNvSpPr txBox="1"/>
          <p:nvPr/>
        </p:nvSpPr>
        <p:spPr>
          <a:xfrm>
            <a:off x="1076541" y="4968840"/>
            <a:ext cx="4421660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Conclusion: </a:t>
            </a:r>
            <a:r>
              <a:rPr lang="en-US" sz="1600" dirty="0"/>
              <a:t>No frac hits. Since A-Well was lagging far behind in sequencing, no ability for other wells to communicate since as it was spatially far behind on azimuth.</a:t>
            </a:r>
          </a:p>
        </p:txBody>
      </p:sp>
    </p:spTree>
    <p:extLst>
      <p:ext uri="{BB962C8B-B14F-4D97-AF65-F5344CB8AC3E}">
        <p14:creationId xmlns:p14="http://schemas.microsoft.com/office/powerpoint/2010/main" val="3039816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638E22-2795-59AB-EB5F-E7168B85E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B-Well Frac Hits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6A1EA-CE5E-32AA-981A-CA72B2D97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 dirty="0" err="1">
                <a:latin typeface="Arial" panose="020B0604020202020204" pitchFamily="34" charset="0"/>
              </a:rPr>
              <a:t>NuVista</a:t>
            </a:r>
            <a:r>
              <a:rPr lang="en-US" b="1" dirty="0">
                <a:latin typeface="Arial" panose="020B0604020202020204" pitchFamily="34" charset="0"/>
              </a:rPr>
              <a:t>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03615-1FE3-F737-D6E1-9DE1FD9E3F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D29D40A-50C2-BD57-5A64-96AEFFD41489}"/>
              </a:ext>
            </a:extLst>
          </p:cNvPr>
          <p:cNvSpPr txBox="1">
            <a:spLocks/>
          </p:cNvSpPr>
          <p:nvPr/>
        </p:nvSpPr>
        <p:spPr>
          <a:xfrm>
            <a:off x="838199" y="1276841"/>
            <a:ext cx="10515600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Never hit by C-well. Very minor communication with A-Well at beginning (a few slope changes and &lt;200kPa hits). Communicated relatively strongly with D-Well.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3492EF-C29F-BAC1-ECDF-56D9A8B03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0151"/>
            <a:ext cx="9720649" cy="2367508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B7D9B6E-0333-A03B-571D-90CD23542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73411"/>
              </p:ext>
            </p:extLst>
          </p:nvPr>
        </p:nvGraphicFramePr>
        <p:xfrm>
          <a:off x="5035929" y="4097616"/>
          <a:ext cx="473675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306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1856639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307811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407559">
                <a:tc>
                  <a:txBody>
                    <a:bodyPr/>
                    <a:lstStyle/>
                    <a:p>
                      <a:pPr algn="ctr"/>
                      <a:r>
                        <a:rPr lang="en-CA" sz="1200" baseline="0" dirty="0"/>
                        <a:t>Fracking 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aseline="0" dirty="0"/>
                        <a:t>Stage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baseline="0" dirty="0"/>
                        <a:t>Pressure </a:t>
                      </a:r>
                      <a:r>
                        <a:rPr lang="el-GR" sz="1200" dirty="0"/>
                        <a:t>Δ </a:t>
                      </a:r>
                      <a:r>
                        <a:rPr lang="en-CA" sz="1200" dirty="0"/>
                        <a:t>(</a:t>
                      </a:r>
                      <a:r>
                        <a:rPr lang="en-CA" sz="1200"/>
                        <a:t>kPa)</a:t>
                      </a:r>
                      <a:endParaRPr lang="en-US" sz="1200" baseline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D-Well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D15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2600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689457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A-Well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A11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300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679103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D-Well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D16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2050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79416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D-Well</a:t>
                      </a:r>
                      <a:endParaRPr lang="en-US" sz="1200" b="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="0" baseline="0" dirty="0"/>
                        <a:t>D17</a:t>
                      </a:r>
                      <a:endParaRPr lang="en-US" sz="1200" b="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="0" baseline="0" dirty="0"/>
                        <a:t>1800</a:t>
                      </a:r>
                      <a:endParaRPr lang="en-US" sz="1200" b="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2216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D-Well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D18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2500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289179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baseline="0" dirty="0"/>
                        <a:t>D-Well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D21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2200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075971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baseline="0" dirty="0"/>
                        <a:t>D-Well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D37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300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188058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baseline="0" dirty="0"/>
                        <a:t>D-Well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D59 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650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454203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F726716E-B9F7-85E6-5DB9-F3D1A33A3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4720" y="1548005"/>
            <a:ext cx="2367280" cy="26896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38512EF-F895-E04A-002A-1B46A68BAF99}"/>
              </a:ext>
            </a:extLst>
          </p:cNvPr>
          <p:cNvSpPr txBox="1"/>
          <p:nvPr/>
        </p:nvSpPr>
        <p:spPr>
          <a:xfrm>
            <a:off x="372693" y="4415460"/>
            <a:ext cx="3625446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Conclusion: </a:t>
            </a:r>
            <a:r>
              <a:rPr lang="en-US" sz="1600" dirty="0"/>
              <a:t>Only 8 frac hits, D-Well communicated with B-Well. A-well showed pressure communication at beginning of frac.</a:t>
            </a:r>
          </a:p>
        </p:txBody>
      </p:sp>
    </p:spTree>
    <p:extLst>
      <p:ext uri="{BB962C8B-B14F-4D97-AF65-F5344CB8AC3E}">
        <p14:creationId xmlns:p14="http://schemas.microsoft.com/office/powerpoint/2010/main" val="3833074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5FBF3-6C83-4A75-1A37-FE1445F08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414886-A03D-1D94-8FB0-1605D8D9A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C-Well Frac Hits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73770-B616-9F02-07B1-10BA63361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 dirty="0" err="1">
                <a:latin typeface="Arial" panose="020B0604020202020204" pitchFamily="34" charset="0"/>
              </a:rPr>
              <a:t>NuVista</a:t>
            </a:r>
            <a:r>
              <a:rPr lang="en-US" b="1" dirty="0">
                <a:latin typeface="Arial" panose="020B0604020202020204" pitchFamily="34" charset="0"/>
              </a:rPr>
              <a:t>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95702-5C30-E12C-1846-93759EC94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4868B4E-C52B-3E7E-831D-DBBA46FCC0E8}"/>
              </a:ext>
            </a:extLst>
          </p:cNvPr>
          <p:cNvSpPr txBox="1">
            <a:spLocks/>
          </p:cNvSpPr>
          <p:nvPr/>
        </p:nvSpPr>
        <p:spPr>
          <a:xfrm>
            <a:off x="838199" y="1276841"/>
            <a:ext cx="10515600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Very quiet, never hit by A-Well. Communication with B-well and D-well.</a:t>
            </a: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79B29CE-803C-868C-41FE-C2DC768A2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734272"/>
              </p:ext>
            </p:extLst>
          </p:nvPr>
        </p:nvGraphicFramePr>
        <p:xfrm>
          <a:off x="4253335" y="4498074"/>
          <a:ext cx="4736756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306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1856639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307811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361612">
                <a:tc>
                  <a:txBody>
                    <a:bodyPr/>
                    <a:lstStyle/>
                    <a:p>
                      <a:pPr algn="ctr"/>
                      <a:r>
                        <a:rPr lang="en-CA" sz="1200" baseline="0" dirty="0"/>
                        <a:t>Fracking 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aseline="0" dirty="0"/>
                        <a:t>Stage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baseline="0" dirty="0"/>
                        <a:t>Pressure </a:t>
                      </a:r>
                      <a:r>
                        <a:rPr lang="el-GR" sz="1200" dirty="0"/>
                        <a:t>Δ </a:t>
                      </a:r>
                      <a:r>
                        <a:rPr lang="en-CA" sz="1200" dirty="0"/>
                        <a:t>(</a:t>
                      </a:r>
                      <a:r>
                        <a:rPr lang="en-CA" sz="1200"/>
                        <a:t>kPa)</a:t>
                      </a:r>
                      <a:endParaRPr lang="en-US" sz="1200" baseline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D-Well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D33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640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689457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B-Well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B22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700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679103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25CB9207-6437-4656-4169-D3E798FE6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027" y="4071576"/>
            <a:ext cx="2367280" cy="26896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F1BB1FB-824E-D078-94C4-68695523697B}"/>
              </a:ext>
            </a:extLst>
          </p:cNvPr>
          <p:cNvSpPr txBox="1"/>
          <p:nvPr/>
        </p:nvSpPr>
        <p:spPr>
          <a:xfrm>
            <a:off x="372693" y="4415460"/>
            <a:ext cx="3625446" cy="83099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Conclusion: </a:t>
            </a:r>
            <a:r>
              <a:rPr lang="en-US" sz="1600" dirty="0"/>
              <a:t>Only two observable frac hits of similar magnitude. One from the D-well and one from B-well.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9F9E45-D309-0255-C9E4-B5C6A6FFF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63" y="1536959"/>
            <a:ext cx="10628781" cy="269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365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29047-E211-1233-FD25-2F13F94A3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D5C7D5-3675-0BFA-8FCC-C3076BDED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29602"/>
            <a:ext cx="10515600" cy="1033508"/>
          </a:xfrm>
        </p:spPr>
        <p:txBody>
          <a:bodyPr/>
          <a:lstStyle/>
          <a:p>
            <a:r>
              <a:rPr lang="en-CA"/>
              <a:t>D-Well Frac Hits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B5C28-CD9C-8F87-70F3-D9E53084D7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 dirty="0" err="1">
                <a:latin typeface="Arial" panose="020B0604020202020204" pitchFamily="34" charset="0"/>
              </a:rPr>
              <a:t>NuVista</a:t>
            </a:r>
            <a:r>
              <a:rPr lang="en-US" b="1" dirty="0">
                <a:latin typeface="Arial" panose="020B0604020202020204" pitchFamily="34" charset="0"/>
              </a:rPr>
              <a:t>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62A8B-B4E5-8311-853C-C18408DF6A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EE37CC5-8958-EB79-F5E2-63AB1C242C1A}"/>
              </a:ext>
            </a:extLst>
          </p:cNvPr>
          <p:cNvSpPr txBox="1">
            <a:spLocks/>
          </p:cNvSpPr>
          <p:nvPr/>
        </p:nvSpPr>
        <p:spPr>
          <a:xfrm>
            <a:off x="838199" y="801104"/>
            <a:ext cx="10515600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Never hit by A-well. Minor communication with C-Well. Strong communication with B-Well.</a:t>
            </a: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EFFE5F6-2712-5048-24E4-EC1661D75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254243"/>
              </p:ext>
            </p:extLst>
          </p:nvPr>
        </p:nvGraphicFramePr>
        <p:xfrm>
          <a:off x="3998139" y="4027508"/>
          <a:ext cx="5256852" cy="2830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945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2060498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451409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361612">
                <a:tc>
                  <a:txBody>
                    <a:bodyPr/>
                    <a:lstStyle/>
                    <a:p>
                      <a:pPr algn="ctr"/>
                      <a:r>
                        <a:rPr lang="en-CA" sz="1200" baseline="0" dirty="0"/>
                        <a:t>Fracking 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aseline="0" dirty="0"/>
                        <a:t>Stage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baseline="0" dirty="0"/>
                        <a:t>Pressure </a:t>
                      </a:r>
                      <a:r>
                        <a:rPr lang="el-GR" sz="1200" dirty="0"/>
                        <a:t>Δ </a:t>
                      </a:r>
                      <a:r>
                        <a:rPr lang="en-CA" sz="1200" dirty="0"/>
                        <a:t>(</a:t>
                      </a:r>
                      <a:r>
                        <a:rPr lang="en-CA" sz="1200"/>
                        <a:t>kPa)</a:t>
                      </a:r>
                      <a:endParaRPr lang="en-US" sz="1200" baseline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B-Well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B31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1600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689457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baseline="0"/>
                        <a:t>B-Well</a:t>
                      </a:r>
                      <a:endParaRPr lang="en-US" sz="12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B38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4300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292956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C-Well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C26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2800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09718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baseline="0"/>
                        <a:t>B-Well</a:t>
                      </a:r>
                      <a:endParaRPr lang="en-US" sz="12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B39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600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695856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baseline="0"/>
                        <a:t>B-Well</a:t>
                      </a:r>
                      <a:endParaRPr lang="en-US" sz="12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B44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3800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144206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baseline="0"/>
                        <a:t>B-Well</a:t>
                      </a:r>
                      <a:endParaRPr lang="en-US" sz="12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B47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3500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467539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baseline="0"/>
                        <a:t>B-Well</a:t>
                      </a:r>
                      <a:endParaRPr lang="en-US" sz="12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B48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2000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896707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baseline="0"/>
                        <a:t>B-Well</a:t>
                      </a:r>
                      <a:endParaRPr lang="en-US" sz="12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B56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1600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541392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B-Well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B62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1100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679103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80FEDB41-13F8-B06E-A5EB-6B37FFD03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027" y="4071576"/>
            <a:ext cx="2367280" cy="26896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62A784A-9989-323A-E647-76F838EBA3D8}"/>
              </a:ext>
            </a:extLst>
          </p:cNvPr>
          <p:cNvSpPr txBox="1"/>
          <p:nvPr/>
        </p:nvSpPr>
        <p:spPr>
          <a:xfrm>
            <a:off x="67893" y="4633790"/>
            <a:ext cx="3625446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Conclusion: </a:t>
            </a:r>
            <a:r>
              <a:rPr lang="en-US" sz="1600" dirty="0"/>
              <a:t>D-Well communicated primarily with the B-Well. Had small additional communication with the </a:t>
            </a:r>
          </a:p>
          <a:p>
            <a:r>
              <a:rPr lang="en-US" sz="1600" dirty="0"/>
              <a:t>C-Well.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0A905D-B5A8-DF28-BC38-DE45CE776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8329"/>
            <a:ext cx="12192000" cy="302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196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103373F-D7E0-0694-2228-41DBC364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102/12-01 Frac Hits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0D636B-4465-EA37-C4AD-713F66DC04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5257801" cy="25951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7061F-6BCA-7DE0-BEA0-AD78761DB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59FA2-51A2-8779-DC02-3A41A531A9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165558-8E66-8C2E-BA80-B566F8ADB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498" y="0"/>
            <a:ext cx="3835502" cy="43578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A229CA-5BD6-6C95-AA08-D5421CE87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342" y="4314825"/>
            <a:ext cx="4486275" cy="25431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FD5008E-4AF3-892A-56AB-7B78A00A5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05" y="1318560"/>
            <a:ext cx="7933389" cy="25663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8D4BABC-3F5F-5D38-A2F7-7B4D9472C9F0}"/>
              </a:ext>
            </a:extLst>
          </p:cNvPr>
          <p:cNvSpPr txBox="1"/>
          <p:nvPr/>
        </p:nvSpPr>
        <p:spPr>
          <a:xfrm>
            <a:off x="816747" y="4191141"/>
            <a:ext cx="3625446" cy="206210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Conclusion:  </a:t>
            </a:r>
            <a:r>
              <a:rPr lang="en-US" sz="1600" dirty="0"/>
              <a:t>Hits occurred at very end of frac (heel side only, proximal to fault). Main frac hit hypothesized to be a transient hit from C-Well. As A-well and B-well are over 750 meters away from 102/12-01. D-well can likely be ruled out on initial hit due to temporally being hours prior.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95A093-01CC-0C6E-BA3A-D645171DD2CC}"/>
              </a:ext>
            </a:extLst>
          </p:cNvPr>
          <p:cNvSpPr txBox="1"/>
          <p:nvPr/>
        </p:nvSpPr>
        <p:spPr>
          <a:xfrm>
            <a:off x="8141381" y="5780285"/>
            <a:ext cx="2001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solidFill>
                  <a:schemeClr val="bg2">
                    <a:lumMod val="10000"/>
                  </a:schemeClr>
                </a:solidFill>
              </a:rPr>
              <a:t>Possible initial hit stage candidates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309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7E4C2-E8D4-45C2-B77F-C3DDC68A6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BD1BF6-CE51-E7C8-FABF-6A56470D7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29602"/>
            <a:ext cx="10515600" cy="1033508"/>
          </a:xfrm>
        </p:spPr>
        <p:txBody>
          <a:bodyPr/>
          <a:lstStyle/>
          <a:p>
            <a:r>
              <a:rPr lang="en-CA" dirty="0"/>
              <a:t>100/05-01 Frac Hits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0BBA2-ED58-A78C-BC81-03154811A8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 dirty="0" err="1">
                <a:latin typeface="Arial" panose="020B0604020202020204" pitchFamily="34" charset="0"/>
              </a:rPr>
              <a:t>NuVista</a:t>
            </a:r>
            <a:r>
              <a:rPr lang="en-US" b="1" dirty="0">
                <a:latin typeface="Arial" panose="020B0604020202020204" pitchFamily="34" charset="0"/>
              </a:rPr>
              <a:t>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03087-ECB0-A16E-8052-30991A4F4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56F4BF1-9367-3B49-9B36-88044BF6FC6B}"/>
              </a:ext>
            </a:extLst>
          </p:cNvPr>
          <p:cNvSpPr txBox="1">
            <a:spLocks/>
          </p:cNvSpPr>
          <p:nvPr/>
        </p:nvSpPr>
        <p:spPr>
          <a:xfrm>
            <a:off x="838199" y="801104"/>
            <a:ext cx="10515600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327F020-248A-CD01-7036-04F4AFE0E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658939"/>
              </p:ext>
            </p:extLst>
          </p:nvPr>
        </p:nvGraphicFramePr>
        <p:xfrm>
          <a:off x="3944257" y="4580113"/>
          <a:ext cx="5256852" cy="1184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945">
                  <a:extLst>
                    <a:ext uri="{9D8B030D-6E8A-4147-A177-3AD203B41FA5}">
                      <a16:colId xmlns:a16="http://schemas.microsoft.com/office/drawing/2014/main" val="115429135"/>
                    </a:ext>
                  </a:extLst>
                </a:gridCol>
                <a:gridCol w="2060498">
                  <a:extLst>
                    <a:ext uri="{9D8B030D-6E8A-4147-A177-3AD203B41FA5}">
                      <a16:colId xmlns:a16="http://schemas.microsoft.com/office/drawing/2014/main" val="1624968744"/>
                    </a:ext>
                  </a:extLst>
                </a:gridCol>
                <a:gridCol w="1451409">
                  <a:extLst>
                    <a:ext uri="{9D8B030D-6E8A-4147-A177-3AD203B41FA5}">
                      <a16:colId xmlns:a16="http://schemas.microsoft.com/office/drawing/2014/main" val="2300291894"/>
                    </a:ext>
                  </a:extLst>
                </a:gridCol>
              </a:tblGrid>
              <a:tr h="361612">
                <a:tc>
                  <a:txBody>
                    <a:bodyPr/>
                    <a:lstStyle/>
                    <a:p>
                      <a:pPr algn="ctr"/>
                      <a:r>
                        <a:rPr lang="en-CA" sz="1200" baseline="0" dirty="0" err="1"/>
                        <a:t>Frackng</a:t>
                      </a:r>
                      <a:r>
                        <a:rPr lang="en-CA" sz="1200" baseline="0" dirty="0"/>
                        <a:t> 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aseline="0" dirty="0"/>
                        <a:t>Stage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baseline="0" dirty="0"/>
                        <a:t>Pressure </a:t>
                      </a:r>
                      <a:r>
                        <a:rPr lang="el-GR" sz="1200" dirty="0"/>
                        <a:t>Δ </a:t>
                      </a:r>
                      <a:r>
                        <a:rPr lang="en-CA" sz="1200" dirty="0"/>
                        <a:t>(</a:t>
                      </a:r>
                      <a:r>
                        <a:rPr lang="en-CA" sz="1200"/>
                        <a:t>kPa)</a:t>
                      </a:r>
                      <a:endParaRPr lang="en-US" sz="1200" baseline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46752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C</a:t>
                      </a:r>
                      <a:r>
                        <a:rPr lang="en-CA" sz="1200" baseline="0"/>
                        <a:t>-Well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C32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1100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689457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baseline="0"/>
                        <a:t>A-Well</a:t>
                      </a:r>
                      <a:endParaRPr lang="en-US" sz="12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A48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320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292956"/>
                  </a:ext>
                </a:extLst>
              </a:tr>
              <a:tr h="239671"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D-Well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D62</a:t>
                      </a:r>
                      <a:endParaRPr lang="en-US" sz="12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baseline="0" dirty="0"/>
                        <a:t>1000</a:t>
                      </a:r>
                      <a:endParaRPr lang="en-US" sz="12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09718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F5DB262E-3E34-1214-1B1F-AF3D34C80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027" y="4071576"/>
            <a:ext cx="2367280" cy="26896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6823AB4-E789-7808-4836-0ADCE2EC0B63}"/>
              </a:ext>
            </a:extLst>
          </p:cNvPr>
          <p:cNvSpPr txBox="1"/>
          <p:nvPr/>
        </p:nvSpPr>
        <p:spPr>
          <a:xfrm>
            <a:off x="67893" y="4633790"/>
            <a:ext cx="3625446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Conclusion: </a:t>
            </a:r>
            <a:r>
              <a:rPr lang="en-US" sz="1600" dirty="0"/>
              <a:t>Many small (&lt;150kPa) hits. Only three hits over 300 kPa. Hits from A, C and D-well. B-Well did not communicate.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EEF51D-C6DB-4098-2A5D-55EA50E63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142715"/>
            <a:ext cx="12192000" cy="3079594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96C1B1D-FB32-F24C-A308-E879615B32E1}"/>
              </a:ext>
            </a:extLst>
          </p:cNvPr>
          <p:cNvSpPr txBox="1">
            <a:spLocks/>
          </p:cNvSpPr>
          <p:nvPr/>
        </p:nvSpPr>
        <p:spPr>
          <a:xfrm>
            <a:off x="838199" y="822123"/>
            <a:ext cx="10515600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Very quiet – note the scale of full y-axis covers a difference of 1600kPa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63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AC0A77-0936-33B0-52CD-F849670AB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902" y="292885"/>
            <a:ext cx="10515600" cy="1033508"/>
          </a:xfrm>
        </p:spPr>
        <p:txBody>
          <a:bodyPr/>
          <a:lstStyle/>
          <a:p>
            <a:r>
              <a:rPr lang="en-US" dirty="0"/>
              <a:t>Seismic Events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95FA4-D0DD-7219-97CF-6C2F01583E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6902" y="809639"/>
            <a:ext cx="11288152" cy="229704"/>
          </a:xfrm>
        </p:spPr>
        <p:txBody>
          <a:bodyPr/>
          <a:lstStyle/>
          <a:p>
            <a:r>
              <a:rPr lang="en-CA" dirty="0"/>
              <a:t>No Filtering – Assignment to stage based purely temporally (what stage was being </a:t>
            </a:r>
            <a:r>
              <a:rPr lang="en-CA" dirty="0" err="1"/>
              <a:t>frac’d</a:t>
            </a:r>
            <a:r>
              <a:rPr lang="en-CA" dirty="0"/>
              <a:t> when event occurred)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2ACE9-F6A0-0384-03EC-97454E3AE7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C8DDB2-5107-B92A-0C0A-E691719CE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7994C2-424A-61CC-57A7-B464C6DA9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86" y="1692158"/>
            <a:ext cx="5061253" cy="43686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3D12B9-BB38-01AA-D324-3A504D7E9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6393"/>
            <a:ext cx="6839786" cy="539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013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551FA-E634-549F-57A3-0EB0E33C9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31CB95-29BD-8CEE-4408-783D0A374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902" y="292885"/>
            <a:ext cx="10515600" cy="1033508"/>
          </a:xfrm>
        </p:spPr>
        <p:txBody>
          <a:bodyPr/>
          <a:lstStyle/>
          <a:p>
            <a:r>
              <a:rPr lang="en-US" dirty="0"/>
              <a:t>Seismic Events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EB5C5-942C-EA72-4977-9072DE64E6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6902" y="809639"/>
            <a:ext cx="11288152" cy="229704"/>
          </a:xfrm>
        </p:spPr>
        <p:txBody>
          <a:bodyPr/>
          <a:lstStyle/>
          <a:p>
            <a:r>
              <a:rPr lang="en-CA" b="1" dirty="0"/>
              <a:t>Filtered to Magnitude &gt; </a:t>
            </a:r>
            <a:r>
              <a:rPr lang="en-CA" b="1"/>
              <a:t>-0.1:</a:t>
            </a:r>
            <a:r>
              <a:rPr lang="en-CA"/>
              <a:t> </a:t>
            </a:r>
            <a:r>
              <a:rPr lang="en-CA" dirty="0"/>
              <a:t>Assignment to stage based purely on temporal component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0DFF7-6B97-BC2E-838E-95E2CF648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7DD79-6EDF-C98F-3BBE-C511BF7FFB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EAD542-58DD-EAA3-AF65-1B8037393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887"/>
            <a:ext cx="6280473" cy="50866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E03576-A060-01C4-3497-881D32B23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962" y="1219887"/>
            <a:ext cx="5919874" cy="534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03649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NuVista 1">
      <a:dk1>
        <a:srgbClr val="013E6A"/>
      </a:dk1>
      <a:lt1>
        <a:srgbClr val="FFFFFF"/>
      </a:lt1>
      <a:dk2>
        <a:srgbClr val="007FC5"/>
      </a:dk2>
      <a:lt2>
        <a:srgbClr val="EEEEEE"/>
      </a:lt2>
      <a:accent1>
        <a:srgbClr val="00B3EC"/>
      </a:accent1>
      <a:accent2>
        <a:srgbClr val="2BA73B"/>
      </a:accent2>
      <a:accent3>
        <a:srgbClr val="8093A2"/>
      </a:accent3>
      <a:accent4>
        <a:srgbClr val="008C72"/>
      </a:accent4>
      <a:accent5>
        <a:srgbClr val="D86D00"/>
      </a:accent5>
      <a:accent6>
        <a:srgbClr val="FFD145"/>
      </a:accent6>
      <a:hlink>
        <a:srgbClr val="00B4EC"/>
      </a:hlink>
      <a:folHlink>
        <a:srgbClr val="013E6A"/>
      </a:folHlink>
    </a:clrScheme>
    <a:fontScheme name="NuVista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dinal" id="{E097D04B-40D9-2E4A-9293-9D4A30648264}" vid="{F0E31ECF-BAC4-FB41-9B86-D1547383E2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28473</TotalTime>
  <Words>646</Words>
  <Application>Microsoft Office PowerPoint</Application>
  <PresentationFormat>Widescreen</PresentationFormat>
  <Paragraphs>145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Roboto</vt:lpstr>
      <vt:lpstr>Roboto Light</vt:lpstr>
      <vt:lpstr>1_Office Theme</vt:lpstr>
      <vt:lpstr>GC 14-30 Frac Observations</vt:lpstr>
      <vt:lpstr>Post Stage Final Pressure Analysis – 10 Mins Before Next Stage</vt:lpstr>
      <vt:lpstr>Backend Rate Drop Stages</vt:lpstr>
      <vt:lpstr>A-Well Frac Hits </vt:lpstr>
      <vt:lpstr>B-Well Frac Hits</vt:lpstr>
      <vt:lpstr>C-Well Frac Hits</vt:lpstr>
      <vt:lpstr>D-Well Frac Hits</vt:lpstr>
      <vt:lpstr>102/12-01 Frac Hits</vt:lpstr>
      <vt:lpstr>100/05-01 Frac Hits</vt:lpstr>
      <vt:lpstr>Seismic Events</vt:lpstr>
      <vt:lpstr>Seismic Events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Wapiti FDP Gold Creek and Elmworth Infrastructure Considerations</dc:title>
  <dc:creator>Marcus Kittelson</dc:creator>
  <cp:lastModifiedBy>Marcus Kittelson</cp:lastModifiedBy>
  <cp:revision>250</cp:revision>
  <dcterms:created xsi:type="dcterms:W3CDTF">2022-02-01T19:15:29Z</dcterms:created>
  <dcterms:modified xsi:type="dcterms:W3CDTF">2025-08-07T21:58:17Z</dcterms:modified>
</cp:coreProperties>
</file>