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14" r:id="rId2"/>
    <p:sldId id="752" r:id="rId3"/>
    <p:sldId id="753" r:id="rId4"/>
    <p:sldId id="754" r:id="rId5"/>
    <p:sldId id="75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901" autoAdjust="0"/>
  </p:normalViewPr>
  <p:slideViewPr>
    <p:cSldViewPr snapToGrid="0">
      <p:cViewPr>
        <p:scale>
          <a:sx n="125" d="100"/>
          <a:sy n="125" d="100"/>
        </p:scale>
        <p:origin x="1592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b="1" dirty="0"/>
              <a:t>Flowback Summary</a:t>
            </a:r>
            <a:br>
              <a:rPr lang="en-US" sz="4400" b="1" dirty="0"/>
            </a:br>
            <a:r>
              <a:rPr lang="en-US" sz="4400" b="1" dirty="0"/>
              <a:t>Workflow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b="1" dirty="0">
                <a:ea typeface="Roboto Light" panose="02000000000000000000" pitchFamily="2" charset="0"/>
              </a:rPr>
              <a:t>June 2024</a:t>
            </a:r>
            <a:endParaRPr lang="en-US" sz="1400" b="1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Script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7" y="1515874"/>
            <a:ext cx="10515600" cy="229704"/>
          </a:xfrm>
        </p:spPr>
        <p:txBody>
          <a:bodyPr/>
          <a:lstStyle/>
          <a:p>
            <a:r>
              <a:rPr lang="en-US" dirty="0"/>
              <a:t>Columns Of Interest: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Casing (Pressure)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Cumulative 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Cumulative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Cumulative Oil</a:t>
            </a:r>
          </a:p>
          <a:p>
            <a:endParaRPr lang="en-US" dirty="0"/>
          </a:p>
          <a:p>
            <a:r>
              <a:rPr lang="en-US" dirty="0"/>
              <a:t>High-level Script 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cumulative values at the record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Subtract previous days cumulative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all casing pressure recordings throughout the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E8B82C-EBEB-4C74-BB8B-B7DC8575CAE5}"/>
              </a:ext>
            </a:extLst>
          </p:cNvPr>
          <p:cNvSpPr txBox="1"/>
          <p:nvPr/>
        </p:nvSpPr>
        <p:spPr>
          <a:xfrm>
            <a:off x="9912349" y="5077387"/>
            <a:ext cx="1907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2-36 A-Well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D89BB2-84DB-4148-88A9-0D43ABE7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801" y="5397047"/>
            <a:ext cx="8645017" cy="14367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804D13-B0BF-408B-B825-D70BDB131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361" y="119786"/>
            <a:ext cx="3150498" cy="493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19C1B6-DA29-4237-8784-E5B70620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B778E-8A69-4C7D-A659-596DF37A7A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672" y="1650852"/>
            <a:ext cx="10515600" cy="2297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Hours, Daily Gas, Daily Water, Daily Oil, Casing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Multi-Well Data Input  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3255D-D63A-4B55-93B9-A8C10013C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35AB6-3000-4565-B202-3A2FE4B0F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9DD4B2-C364-40E0-A78C-879B2235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5" y="2913113"/>
            <a:ext cx="4197927" cy="8461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F01244-DB3C-4309-BB7D-DE30927D97FA}"/>
              </a:ext>
            </a:extLst>
          </p:cNvPr>
          <p:cNvSpPr txBox="1"/>
          <p:nvPr/>
        </p:nvSpPr>
        <p:spPr>
          <a:xfrm>
            <a:off x="7350794" y="6367620"/>
            <a:ext cx="2339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2-36 Pad Output CSV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9541DC-D453-4B56-961F-B80160F84217}"/>
              </a:ext>
            </a:extLst>
          </p:cNvPr>
          <p:cNvCxnSpPr>
            <a:cxnSpLocks/>
          </p:cNvCxnSpPr>
          <p:nvPr/>
        </p:nvCxnSpPr>
        <p:spPr>
          <a:xfrm>
            <a:off x="4246632" y="3209570"/>
            <a:ext cx="12515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482B49-DD19-4F7C-9D4D-918439FC2B00}"/>
              </a:ext>
            </a:extLst>
          </p:cNvPr>
          <p:cNvSpPr txBox="1"/>
          <p:nvPr/>
        </p:nvSpPr>
        <p:spPr>
          <a:xfrm>
            <a:off x="838199" y="2625775"/>
            <a:ext cx="286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2-36 Directory Input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A3A265F-8A08-48C1-8C8A-379F98E61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3" y="2067697"/>
            <a:ext cx="5159167" cy="436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9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9B2D9-8F0B-4D8E-B8E7-56728F3E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A3AA2-981D-4877-82DF-323DB0B1C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Values in Production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Noted vs Calculated Values for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Determine Invalid Entries with Percent Error &gt; 2%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19F84-F6E0-4C3E-A7B3-66B33736B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CDEBF-049B-4BB9-9168-EA8122A73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7851FB-84ED-452A-9361-DDD566B54FEA}"/>
              </a:ext>
            </a:extLst>
          </p:cNvPr>
          <p:cNvSpPr txBox="1"/>
          <p:nvPr/>
        </p:nvSpPr>
        <p:spPr>
          <a:xfrm>
            <a:off x="8493285" y="914987"/>
            <a:ext cx="2696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2-36 Comparison 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91448C-4C3E-44BE-8976-1234F2B5B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65" y="3435827"/>
            <a:ext cx="5576387" cy="28774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AD1E9F-B8BC-4D03-BB59-49FA1649C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287" y="1205549"/>
            <a:ext cx="5274365" cy="5491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2193778-32B4-422E-A9AB-A30C0691C1D1}"/>
              </a:ext>
            </a:extLst>
          </p:cNvPr>
          <p:cNvSpPr/>
          <p:nvPr/>
        </p:nvSpPr>
        <p:spPr>
          <a:xfrm>
            <a:off x="1848272" y="3135175"/>
            <a:ext cx="3262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2-36 Day 1 Operator Summary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E0F28A-5C6A-45D0-8944-E5D29BB095D6}"/>
              </a:ext>
            </a:extLst>
          </p:cNvPr>
          <p:cNvCxnSpPr>
            <a:cxnSpLocks/>
          </p:cNvCxnSpPr>
          <p:nvPr/>
        </p:nvCxnSpPr>
        <p:spPr>
          <a:xfrm flipV="1">
            <a:off x="6135757" y="1515165"/>
            <a:ext cx="637556" cy="32600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9A2AC6-0CA7-4F4F-B941-31BC31F40949}"/>
              </a:ext>
            </a:extLst>
          </p:cNvPr>
          <p:cNvCxnSpPr/>
          <p:nvPr/>
        </p:nvCxnSpPr>
        <p:spPr>
          <a:xfrm>
            <a:off x="5720522" y="3366052"/>
            <a:ext cx="41523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86A1C1-2CB7-4CA5-B752-7D1E22374A72}"/>
              </a:ext>
            </a:extLst>
          </p:cNvPr>
          <p:cNvCxnSpPr/>
          <p:nvPr/>
        </p:nvCxnSpPr>
        <p:spPr>
          <a:xfrm>
            <a:off x="5720522" y="6423719"/>
            <a:ext cx="41523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5926D7-87DF-4DBA-9032-CD9AD07912DB}"/>
              </a:ext>
            </a:extLst>
          </p:cNvPr>
          <p:cNvCxnSpPr/>
          <p:nvPr/>
        </p:nvCxnSpPr>
        <p:spPr>
          <a:xfrm>
            <a:off x="6135757" y="3366052"/>
            <a:ext cx="0" cy="3060564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D861B3-5F82-40C5-B443-E69EBAABF03B}"/>
              </a:ext>
            </a:extLst>
          </p:cNvPr>
          <p:cNvCxnSpPr/>
          <p:nvPr/>
        </p:nvCxnSpPr>
        <p:spPr>
          <a:xfrm flipH="1">
            <a:off x="6773313" y="1384852"/>
            <a:ext cx="9503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2A3B60-A5BA-4F91-AB09-634C529C6084}"/>
              </a:ext>
            </a:extLst>
          </p:cNvPr>
          <p:cNvCxnSpPr/>
          <p:nvPr/>
        </p:nvCxnSpPr>
        <p:spPr>
          <a:xfrm flipH="1">
            <a:off x="6781771" y="1505778"/>
            <a:ext cx="9503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83DA014-958A-47F9-BD16-1CA14688FF10}"/>
              </a:ext>
            </a:extLst>
          </p:cNvPr>
          <p:cNvCxnSpPr/>
          <p:nvPr/>
        </p:nvCxnSpPr>
        <p:spPr>
          <a:xfrm>
            <a:off x="6781771" y="1384852"/>
            <a:ext cx="0" cy="13031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9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A2D0C7-6CF0-43BF-A624-212D9BAC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79BC-F76B-480B-AE40-C253F080C7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dirty="0"/>
              <a:t>Input well flowback CSV or multi-well directory</a:t>
            </a:r>
          </a:p>
          <a:p>
            <a:pPr marL="342900" indent="-342900">
              <a:buAutoNum type="arabicPeriod"/>
            </a:pPr>
            <a:r>
              <a:rPr lang="en-US" dirty="0"/>
              <a:t>Extract daily cumulative values &amp; casing pressure recordings</a:t>
            </a:r>
          </a:p>
          <a:p>
            <a:pPr marL="342900" indent="-342900">
              <a:buAutoNum type="arabicPeriod"/>
            </a:pPr>
            <a:r>
              <a:rPr lang="en-US" dirty="0"/>
              <a:t>Calculate daily values by subtracting previous days cumulative recordings</a:t>
            </a:r>
          </a:p>
          <a:p>
            <a:pPr marL="342900" indent="-342900">
              <a:buAutoNum type="arabicPeriod"/>
            </a:pPr>
            <a:r>
              <a:rPr lang="en-US" dirty="0"/>
              <a:t>Average casing pressures by day</a:t>
            </a:r>
          </a:p>
          <a:p>
            <a:pPr marL="342900" indent="-342900">
              <a:buAutoNum type="arabicPeriod"/>
            </a:pPr>
            <a:r>
              <a:rPr lang="en-US" dirty="0"/>
              <a:t>Compare calculated values to noted operator values</a:t>
            </a:r>
          </a:p>
          <a:p>
            <a:pPr marL="342900" indent="-342900">
              <a:buAutoNum type="arabicPeriod"/>
            </a:pPr>
            <a:r>
              <a:rPr lang="en-US" dirty="0"/>
              <a:t>Output to CSV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E96ED-FECC-4A05-A6EF-05E8CEAE3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78272-1CDF-4786-8AEC-DBE490DD3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0480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167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Roboto</vt:lpstr>
      <vt:lpstr>Roboto Light</vt:lpstr>
      <vt:lpstr>Roboto Medium</vt:lpstr>
      <vt:lpstr>1_Office Theme</vt:lpstr>
      <vt:lpstr>Flowback Summary Workflow</vt:lpstr>
      <vt:lpstr>Input &amp; Script Overview</vt:lpstr>
      <vt:lpstr>Output</vt:lpstr>
      <vt:lpstr>Operator Comparison</vt:lpstr>
      <vt:lpstr>Workflow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Thomas Litchfield</dc:creator>
  <cp:lastModifiedBy>Marcus Kittelson</cp:lastModifiedBy>
  <cp:revision>203</cp:revision>
  <dcterms:created xsi:type="dcterms:W3CDTF">2022-02-01T19:15:29Z</dcterms:created>
  <dcterms:modified xsi:type="dcterms:W3CDTF">2024-06-05T16:11:20Z</dcterms:modified>
</cp:coreProperties>
</file>