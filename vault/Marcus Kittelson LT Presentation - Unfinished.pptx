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autoCompressPictures="0">
  <p:sldMasterIdLst>
    <p:sldMasterId id="2147483648" r:id="rId1"/>
  </p:sldMasterIdLst>
  <p:notesMasterIdLst>
    <p:notesMasterId r:id="rId12"/>
  </p:notesMasterIdLst>
  <p:sldIdLst>
    <p:sldId id="314" r:id="rId2"/>
    <p:sldId id="315" r:id="rId3"/>
    <p:sldId id="317" r:id="rId4"/>
    <p:sldId id="328" r:id="rId5"/>
    <p:sldId id="326" r:id="rId6"/>
    <p:sldId id="323" r:id="rId7"/>
    <p:sldId id="319" r:id="rId8"/>
    <p:sldId id="325" r:id="rId9"/>
    <p:sldId id="320" r:id="rId10"/>
    <p:sldId id="324" r:id="rId11"/>
  </p:sldIdLst>
  <p:sldSz cx="12192000" cy="6858000"/>
  <p:notesSz cx="9296400" cy="7010400"/>
  <p:embeddedFontLst>
    <p:embeddedFont>
      <p:font typeface="Roboto" panose="02000000000000000000" pitchFamily="2" charset="0"/>
      <p:regular r:id="rId13"/>
      <p:bold r:id="rId14"/>
      <p:italic r:id="rId15"/>
      <p:boldItalic r:id="rId16"/>
    </p:embeddedFont>
    <p:embeddedFont>
      <p:font typeface="Roboto Light" panose="020B0604020202020204" charset="0"/>
      <p:regular r:id="rId17"/>
      <p:italic r:id="rId18"/>
    </p:embeddedFont>
    <p:embeddedFont>
      <p:font typeface="Roboto Medium" panose="020B0604020202020204" charset="0"/>
      <p:regular r:id="rId19"/>
      <p:italic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94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686" userDrawn="1">
          <p15:clr>
            <a:srgbClr val="A4A3A4"/>
          </p15:clr>
        </p15:guide>
        <p15:guide id="4" orient="horz" pos="414" userDrawn="1">
          <p15:clr>
            <a:srgbClr val="A4A3A4"/>
          </p15:clr>
        </p15:guide>
        <p15:guide id="5" orient="horz" pos="4178" userDrawn="1">
          <p15:clr>
            <a:srgbClr val="A4A3A4"/>
          </p15:clr>
        </p15:guide>
        <p15:guide id="6" orient="horz" pos="3906" userDrawn="1">
          <p15:clr>
            <a:srgbClr val="A4A3A4"/>
          </p15:clr>
        </p15:guide>
        <p15:guide id="7" pos="7401" userDrawn="1">
          <p15:clr>
            <a:srgbClr val="A4A3A4"/>
          </p15:clr>
        </p15:guide>
        <p15:guide id="8" orient="horz" pos="18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4E33"/>
    <a:srgbClr val="232323"/>
    <a:srgbClr val="CFDBFF"/>
    <a:srgbClr val="23419F"/>
    <a:srgbClr val="D6D6D6"/>
    <a:srgbClr val="EEEEEE"/>
    <a:srgbClr val="E6E6E6"/>
    <a:srgbClr val="FDFDFD"/>
    <a:srgbClr val="00B3ED"/>
    <a:srgbClr val="2CA73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750" autoAdjust="0"/>
    <p:restoredTop sz="95930" autoAdjust="0"/>
  </p:normalViewPr>
  <p:slideViewPr>
    <p:cSldViewPr snapToGrid="0" snapToObjects="1">
      <p:cViewPr varScale="1">
        <p:scale>
          <a:sx n="156" d="100"/>
          <a:sy n="156" d="100"/>
        </p:scale>
        <p:origin x="644" y="104"/>
      </p:cViewPr>
      <p:guideLst>
        <p:guide orient="horz" pos="1094"/>
        <p:guide pos="3840"/>
        <p:guide orient="horz" pos="686"/>
        <p:guide orient="horz" pos="414"/>
        <p:guide orient="horz" pos="4178"/>
        <p:guide orient="horz" pos="3906"/>
        <p:guide pos="7401"/>
        <p:guide orient="horz" pos="18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028440" cy="351737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265809" y="1"/>
            <a:ext cx="4028440" cy="351737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C6EAC625-E89F-2B49-ABD1-579846A52727}" type="datetimeFigureOut">
              <a:rPr lang="en-US" smtClean="0"/>
              <a:pPr/>
              <a:t>8/19/2024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46350" y="876300"/>
            <a:ext cx="4203700" cy="23653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29640" y="3373754"/>
            <a:ext cx="7437120" cy="2760346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658664"/>
            <a:ext cx="4028440" cy="351736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265809" y="6658664"/>
            <a:ext cx="4028440" cy="351736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B04DAF55-04DD-DC4E-B72C-B38F1B69FD5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72247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4DAF55-04DD-DC4E-B72C-B38F1B69FD5E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82930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gradFill>
          <a:gsLst>
            <a:gs pos="61000">
              <a:schemeClr val="accent2"/>
            </a:gs>
            <a:gs pos="0">
              <a:schemeClr val="tx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4BFB67-BD8B-2F46-BAA9-8CF50A8572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1421995"/>
            <a:ext cx="10341864" cy="2105723"/>
          </a:xfrm>
        </p:spPr>
        <p:txBody>
          <a:bodyPr anchor="b"/>
          <a:lstStyle>
            <a:lvl1pPr algn="l">
              <a:lnSpc>
                <a:spcPct val="95000"/>
              </a:lnSpc>
              <a:defRPr sz="5200" b="0" i="0">
                <a:solidFill>
                  <a:schemeClr val="bg1"/>
                </a:solidFill>
                <a:latin typeface="Arial" panose="020B0604020202020204" pitchFamily="34" charset="0"/>
                <a:ea typeface="Roboto Medium" panose="020000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431A88-9057-D447-B807-2E54669779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5930284"/>
            <a:ext cx="9829800" cy="230819"/>
          </a:xfrm>
        </p:spPr>
        <p:txBody>
          <a:bodyPr/>
          <a:lstStyle>
            <a:lvl1pPr marL="0" indent="0" algn="l">
              <a:buNone/>
              <a:defRPr sz="1600" b="0" i="0">
                <a:solidFill>
                  <a:schemeClr val="bg1"/>
                </a:solidFill>
                <a:latin typeface="Arial" panose="020B0604020202020204" pitchFamily="34" charset="0"/>
                <a:ea typeface="Roboto Medium" panose="02000000000000000000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6" name="Graphic 12">
            <a:extLst>
              <a:ext uri="{FF2B5EF4-FFF2-40B4-BE49-F238E27FC236}">
                <a16:creationId xmlns:a16="http://schemas.microsoft.com/office/drawing/2014/main" id="{941B6592-629D-784C-80B7-6283B6801E2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52996" y="696897"/>
            <a:ext cx="1384634" cy="674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65329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05D95-4537-EB40-9FCC-C9389FD0B8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E12D98-80BF-4D4F-8979-784C42B732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08513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42057947-537C-1747-9E5C-A481123CE84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699626" y="2099188"/>
            <a:ext cx="3072478" cy="3912973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81B710-B6DC-6643-A3D7-14913FD0D0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67697"/>
            <a:ext cx="10515600" cy="3912973"/>
          </a:xfrm>
        </p:spPr>
        <p:txBody>
          <a:bodyPr/>
          <a:lstStyle>
            <a:lvl1pPr>
              <a:lnSpc>
                <a:spcPts val="1400"/>
              </a:lnSpc>
              <a:spcBef>
                <a:spcPts val="0"/>
              </a:spcBef>
              <a:spcAft>
                <a:spcPts val="1400"/>
              </a:spcAft>
              <a:defRPr sz="1000" b="0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  <a:lvl2pPr>
              <a:lnSpc>
                <a:spcPts val="1400"/>
              </a:lnSpc>
              <a:spcBef>
                <a:spcPts val="0"/>
              </a:spcBef>
              <a:spcAft>
                <a:spcPts val="140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2pPr>
            <a:lvl3pPr>
              <a:lnSpc>
                <a:spcPts val="1400"/>
              </a:lnSpc>
              <a:spcBef>
                <a:spcPts val="0"/>
              </a:spcBef>
              <a:spcAft>
                <a:spcPts val="140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3pPr>
            <a:lvl4pPr>
              <a:lnSpc>
                <a:spcPts val="1400"/>
              </a:lnSpc>
              <a:spcBef>
                <a:spcPts val="0"/>
              </a:spcBef>
              <a:spcAft>
                <a:spcPts val="140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4pPr>
            <a:lvl5pPr>
              <a:lnSpc>
                <a:spcPts val="1400"/>
              </a:lnSpc>
              <a:spcBef>
                <a:spcPts val="0"/>
              </a:spcBef>
              <a:spcAft>
                <a:spcPts val="140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29EA6210-5372-F44A-BAFF-E6D0C7F2C7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58842"/>
            <a:ext cx="10515600" cy="103350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b="0" i="0" spc="40" baseline="0">
                <a:solidFill>
                  <a:schemeClr val="tx1"/>
                </a:solidFill>
                <a:latin typeface="Arial" panose="020B0604020202020204" pitchFamily="34" charset="0"/>
                <a:ea typeface="Roboto Light" panose="020000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26F1068-89AF-344A-B083-2A76BF0DD01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199" y="1717565"/>
            <a:ext cx="10515600" cy="229704"/>
          </a:xfrm>
        </p:spPr>
        <p:txBody>
          <a:bodyPr/>
          <a:lstStyle>
            <a:lvl1pPr>
              <a:defRPr sz="1800" b="0" i="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B6ED69-460B-FA45-B956-165C4C0408F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197" y="466818"/>
            <a:ext cx="4212859" cy="173736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000" b="1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  <a:lvl2pPr marL="9525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2222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40640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5778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4B83B254-AC64-B647-A844-80DA01F4927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9456" y="6392200"/>
            <a:ext cx="198715" cy="253075"/>
          </a:xfrm>
          <a:prstGeom prst="rect">
            <a:avLst/>
          </a:prstGeom>
        </p:spPr>
      </p:pic>
      <p:sp>
        <p:nvSpPr>
          <p:cNvPr id="12" name="Footer Placeholder 6">
            <a:extLst>
              <a:ext uri="{FF2B5EF4-FFF2-40B4-BE49-F238E27FC236}">
                <a16:creationId xmlns:a16="http://schemas.microsoft.com/office/drawing/2014/main" id="{2CF1CDE8-7229-A84D-862B-8F2083C76E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83401" y="6426616"/>
            <a:ext cx="4114800" cy="13849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algn="l">
              <a:defRPr sz="9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2E516B4-73C8-174D-BE93-D888D75ABA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199" y="6313304"/>
            <a:ext cx="304801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0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</a:lstStyle>
          <a:p>
            <a:fld id="{D246DD65-7063-5C41-96CC-23CB1F95FA9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54996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48843A-554F-D54E-9519-6A59A18F5D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067695"/>
            <a:ext cx="5126736" cy="410926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F16D07-96F7-6B4D-ABCF-9D5EEB14F1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27064" y="2067695"/>
            <a:ext cx="5126736" cy="410926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ext Placeholder 1">
            <a:extLst>
              <a:ext uri="{FF2B5EF4-FFF2-40B4-BE49-F238E27FC236}">
                <a16:creationId xmlns:a16="http://schemas.microsoft.com/office/drawing/2014/main" id="{C36C2F34-1E94-C949-B3BB-8E0144913ED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199" y="1717565"/>
            <a:ext cx="10526926" cy="229704"/>
          </a:xfrm>
        </p:spPr>
        <p:txBody>
          <a:bodyPr/>
          <a:lstStyle>
            <a:lvl1pPr>
              <a:defRPr sz="1800" b="0" i="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A491FEF2-01D4-194B-A16C-45B8EE9C3D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58842"/>
            <a:ext cx="10515600" cy="103350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b="0" i="0" spc="40" baseline="0">
                <a:solidFill>
                  <a:schemeClr val="tx1"/>
                </a:solidFill>
                <a:latin typeface="Arial" panose="020B0604020202020204" pitchFamily="34" charset="0"/>
                <a:ea typeface="Roboto Light" panose="020000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FB0D7B51-4D49-AD48-9ABF-958F1713A11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197" y="466818"/>
            <a:ext cx="4212859" cy="173736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000" b="1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  <a:lvl2pPr marL="9525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2222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40640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5778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C652E8FF-2A26-9A4B-B5FD-995C2D4A763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9456" y="6392200"/>
            <a:ext cx="198715" cy="253075"/>
          </a:xfrm>
          <a:prstGeom prst="rect">
            <a:avLst/>
          </a:prstGeom>
        </p:spPr>
      </p:pic>
      <p:sp>
        <p:nvSpPr>
          <p:cNvPr id="14" name="Footer Placeholder 6">
            <a:extLst>
              <a:ext uri="{FF2B5EF4-FFF2-40B4-BE49-F238E27FC236}">
                <a16:creationId xmlns:a16="http://schemas.microsoft.com/office/drawing/2014/main" id="{E77D3D50-ABCD-9946-BA54-11C20D30D3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83401" y="6426616"/>
            <a:ext cx="4114800" cy="13849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algn="l">
              <a:defRPr sz="9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1CB36A6F-C078-A04F-A367-435FDB0A02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199" y="6313304"/>
            <a:ext cx="304801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0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</a:lstStyle>
          <a:p>
            <a:fld id="{D246DD65-7063-5C41-96CC-23CB1F95FA9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E8A68FED-0E8F-4861-AC42-0064E582B1AC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699626" y="2099188"/>
            <a:ext cx="3072478" cy="3912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84275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"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raphic 19">
            <a:extLst>
              <a:ext uri="{FF2B5EF4-FFF2-40B4-BE49-F238E27FC236}">
                <a16:creationId xmlns:a16="http://schemas.microsoft.com/office/drawing/2014/main" id="{46DB92FE-1ED6-BD4F-8564-6110DD8EE8E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699626" y="2099188"/>
            <a:ext cx="3072478" cy="3912973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514D1F-5CA2-FD4A-8111-5C428B8EA2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12956" cy="823912"/>
          </a:xfrm>
        </p:spPr>
        <p:txBody>
          <a:bodyPr anchor="b"/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0A67AE-768D-FF47-ADE4-FE6888DC7A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12956" cy="36845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365714-2DEC-DB45-B4F8-C84DA01AD4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39256" y="1681163"/>
            <a:ext cx="5116131" cy="823912"/>
          </a:xfrm>
        </p:spPr>
        <p:txBody>
          <a:bodyPr anchor="b"/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849B1B4-FD50-6A4A-94C0-75828986E3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39256" y="2505075"/>
            <a:ext cx="5116131" cy="36845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465DEF1C-B957-0C45-AF3A-C80FCB7861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58842"/>
            <a:ext cx="10515600" cy="103350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b="0" i="0" spc="40" baseline="0">
                <a:solidFill>
                  <a:schemeClr val="tx1"/>
                </a:solidFill>
                <a:latin typeface="Arial" panose="020B0604020202020204" pitchFamily="34" charset="0"/>
                <a:ea typeface="Roboto Light" panose="020000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6837C80E-7584-0F41-9E77-45AA622281E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197" y="466818"/>
            <a:ext cx="4212859" cy="173736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000" b="1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  <a:lvl2pPr marL="9525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2222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40640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5778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2F6387F-983E-564D-B029-F496745E9E4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9456" y="6392200"/>
            <a:ext cx="198715" cy="253075"/>
          </a:xfrm>
          <a:prstGeom prst="rect">
            <a:avLst/>
          </a:prstGeom>
        </p:spPr>
      </p:pic>
      <p:sp>
        <p:nvSpPr>
          <p:cNvPr id="14" name="Footer Placeholder 6">
            <a:extLst>
              <a:ext uri="{FF2B5EF4-FFF2-40B4-BE49-F238E27FC236}">
                <a16:creationId xmlns:a16="http://schemas.microsoft.com/office/drawing/2014/main" id="{92966E56-ACA2-BB46-8DAF-C6BB0DD7F14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383401" y="6426616"/>
            <a:ext cx="4114800" cy="13849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algn="l">
              <a:defRPr sz="9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BFC7B1D-6B90-7E43-B776-E2117AD85BA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838199" y="6313304"/>
            <a:ext cx="304801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0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</a:lstStyle>
          <a:p>
            <a:fld id="{D246DD65-7063-5C41-96CC-23CB1F95FA9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51848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"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raphic 21">
            <a:extLst>
              <a:ext uri="{FF2B5EF4-FFF2-40B4-BE49-F238E27FC236}">
                <a16:creationId xmlns:a16="http://schemas.microsoft.com/office/drawing/2014/main" id="{77C73AE0-D7E4-A242-969B-B953C881A47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698042" y="2100648"/>
            <a:ext cx="3072478" cy="3912973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514D1F-5CA2-FD4A-8111-5C428B8EA2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3329876" cy="823912"/>
          </a:xfrm>
        </p:spPr>
        <p:txBody>
          <a:bodyPr anchor="b"/>
          <a:lstStyle>
            <a:lvl1pPr marL="0" indent="0">
              <a:buNone/>
              <a:defRPr sz="2000" b="0" i="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0A67AE-768D-FF47-ADE4-FE6888DC7A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83401"/>
            <a:ext cx="3329875" cy="360626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365714-2DEC-DB45-B4F8-C84DA01AD4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447032" y="1681163"/>
            <a:ext cx="3329875" cy="823912"/>
          </a:xfrm>
        </p:spPr>
        <p:txBody>
          <a:bodyPr anchor="b"/>
          <a:lstStyle>
            <a:lvl1pPr marL="0" indent="0">
              <a:buNone/>
              <a:defRPr sz="2000" b="0" i="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849B1B4-FD50-6A4A-94C0-75828986E3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47033" y="2583401"/>
            <a:ext cx="3329874" cy="360626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4680BD89-3A68-944D-BC2C-E8B0449AD1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022336" y="1681163"/>
            <a:ext cx="3329875" cy="823912"/>
          </a:xfrm>
        </p:spPr>
        <p:txBody>
          <a:bodyPr anchor="b"/>
          <a:lstStyle>
            <a:lvl1pPr marL="0" indent="0">
              <a:buNone/>
              <a:defRPr sz="2000" b="0" i="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8" name="Content Placeholder 5">
            <a:extLst>
              <a:ext uri="{FF2B5EF4-FFF2-40B4-BE49-F238E27FC236}">
                <a16:creationId xmlns:a16="http://schemas.microsoft.com/office/drawing/2014/main" id="{E8254C6D-E886-9E4E-98B7-90808E14B0E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022337" y="2583401"/>
            <a:ext cx="3329874" cy="360626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26F4DC66-1335-0F4F-9745-4AA926453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58842"/>
            <a:ext cx="10515600" cy="103350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b="0" i="0" spc="40" baseline="0">
                <a:solidFill>
                  <a:schemeClr val="tx1"/>
                </a:solidFill>
                <a:latin typeface="Arial" panose="020B0604020202020204" pitchFamily="34" charset="0"/>
                <a:ea typeface="Roboto Light" panose="020000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0DAFF62F-8798-4E45-A0D4-33C7E942E03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197" y="466818"/>
            <a:ext cx="4212859" cy="173736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000" b="1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  <a:lvl2pPr marL="9525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2222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40640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5778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42DFC743-EAE4-164F-9F2A-49499828B83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9456" y="6392200"/>
            <a:ext cx="198715" cy="253075"/>
          </a:xfrm>
          <a:prstGeom prst="rect">
            <a:avLst/>
          </a:prstGeom>
        </p:spPr>
      </p:pic>
      <p:sp>
        <p:nvSpPr>
          <p:cNvPr id="16" name="Footer Placeholder 6">
            <a:extLst>
              <a:ext uri="{FF2B5EF4-FFF2-40B4-BE49-F238E27FC236}">
                <a16:creationId xmlns:a16="http://schemas.microsoft.com/office/drawing/2014/main" id="{C0386E48-0F19-AA48-A312-AAED6625B1B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1383401" y="6426616"/>
            <a:ext cx="4114800" cy="13849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algn="l">
              <a:defRPr sz="9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40877424-E4CB-E440-9AD4-8A0F2982A8F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838199" y="6313304"/>
            <a:ext cx="304801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0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</a:lstStyle>
          <a:p>
            <a:fld id="{D246DD65-7063-5C41-96CC-23CB1F95FA9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79638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"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Graphic 23">
            <a:extLst>
              <a:ext uri="{FF2B5EF4-FFF2-40B4-BE49-F238E27FC236}">
                <a16:creationId xmlns:a16="http://schemas.microsoft.com/office/drawing/2014/main" id="{D56AE876-11E1-1F4B-9F56-4572091AB20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698040" y="2067696"/>
            <a:ext cx="3072478" cy="3912973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514D1F-5CA2-FD4A-8111-5C428B8EA2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2433764" cy="823912"/>
          </a:xfrm>
        </p:spPr>
        <p:txBody>
          <a:bodyPr anchor="b"/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0A67AE-768D-FF47-ADE4-FE6888DC7A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627789"/>
            <a:ext cx="2433763" cy="3561873"/>
          </a:xfr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365714-2DEC-DB45-B4F8-C84DA01AD4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522028" y="1681163"/>
            <a:ext cx="2433763" cy="823912"/>
          </a:xfrm>
        </p:spPr>
        <p:txBody>
          <a:bodyPr anchor="b"/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849B1B4-FD50-6A4A-94C0-75828986E3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522029" y="2627789"/>
            <a:ext cx="2433762" cy="3561873"/>
          </a:xfr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4680BD89-3A68-944D-BC2C-E8B0449AD1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236211" y="1681163"/>
            <a:ext cx="2433763" cy="823912"/>
          </a:xfrm>
        </p:spPr>
        <p:txBody>
          <a:bodyPr anchor="b"/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8" name="Content Placeholder 5">
            <a:extLst>
              <a:ext uri="{FF2B5EF4-FFF2-40B4-BE49-F238E27FC236}">
                <a16:creationId xmlns:a16="http://schemas.microsoft.com/office/drawing/2014/main" id="{E8254C6D-E886-9E4E-98B7-90808E14B0E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236212" y="2627789"/>
            <a:ext cx="2433762" cy="3561873"/>
          </a:xfr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A4C158C2-261F-F64E-9A5D-D4155B9C1FE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915403" y="1681163"/>
            <a:ext cx="2433763" cy="823912"/>
          </a:xfrm>
        </p:spPr>
        <p:txBody>
          <a:bodyPr anchor="b"/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Content Placeholder 5">
            <a:extLst>
              <a:ext uri="{FF2B5EF4-FFF2-40B4-BE49-F238E27FC236}">
                <a16:creationId xmlns:a16="http://schemas.microsoft.com/office/drawing/2014/main" id="{157FE8CE-6074-1D41-82FE-76F196F4366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915404" y="2627789"/>
            <a:ext cx="2433762" cy="3561873"/>
          </a:xfr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796C8826-3828-104C-9751-E7B336D3B8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58842"/>
            <a:ext cx="10515600" cy="103350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b="0" i="0" spc="40" baseline="0">
                <a:solidFill>
                  <a:schemeClr val="tx1"/>
                </a:solidFill>
                <a:latin typeface="Arial" panose="020B0604020202020204" pitchFamily="34" charset="0"/>
                <a:ea typeface="Roboto Light" panose="020000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2535F69B-6616-784E-937A-CCDC18B5CA1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38197" y="466818"/>
            <a:ext cx="4212859" cy="173736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000" b="1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  <a:lvl2pPr marL="9525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2222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40640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5778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D88B4F55-61B2-0D4D-8B51-AC6C272E5ED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9456" y="6392200"/>
            <a:ext cx="198715" cy="253075"/>
          </a:xfrm>
          <a:prstGeom prst="rect">
            <a:avLst/>
          </a:prstGeom>
        </p:spPr>
      </p:pic>
      <p:sp>
        <p:nvSpPr>
          <p:cNvPr id="23" name="Footer Placeholder 6">
            <a:extLst>
              <a:ext uri="{FF2B5EF4-FFF2-40B4-BE49-F238E27FC236}">
                <a16:creationId xmlns:a16="http://schemas.microsoft.com/office/drawing/2014/main" id="{05B8EE63-54FA-A448-B74E-4F5506964BC8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383401" y="6426616"/>
            <a:ext cx="4114800" cy="13849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algn="l">
              <a:defRPr sz="9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26" name="Slide Number Placeholder 5">
            <a:extLst>
              <a:ext uri="{FF2B5EF4-FFF2-40B4-BE49-F238E27FC236}">
                <a16:creationId xmlns:a16="http://schemas.microsoft.com/office/drawing/2014/main" id="{6E70716A-C710-654A-8C18-B4AA6BDDB7C6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838199" y="6313304"/>
            <a:ext cx="304801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0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</a:lstStyle>
          <a:p>
            <a:fld id="{D246DD65-7063-5C41-96CC-23CB1F95FA9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93454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raphic 18">
            <a:extLst>
              <a:ext uri="{FF2B5EF4-FFF2-40B4-BE49-F238E27FC236}">
                <a16:creationId xmlns:a16="http://schemas.microsoft.com/office/drawing/2014/main" id="{00F43117-01F5-9644-A91E-DCB8B7F4EBA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699627" y="2091618"/>
            <a:ext cx="3072478" cy="3912973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06BABB-B76D-124D-80B7-17F3971654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3984" y="1380744"/>
            <a:ext cx="6911404" cy="4480306"/>
          </a:xfrm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04D83C-A92D-E244-9372-8439384457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531974"/>
            <a:ext cx="3329876" cy="3337013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630A9B8-D978-7742-917E-2F0ADE492C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6612" y="1380743"/>
            <a:ext cx="3329876" cy="1050281"/>
          </a:xfrm>
        </p:spPr>
        <p:txBody>
          <a:bodyPr anchor="b" anchorCtr="0"/>
          <a:lstStyle>
            <a:lvl1pPr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</a:defRPr>
            </a:lvl1pPr>
            <a:lvl2pPr marL="9525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E8AF8D62-F2FB-CF46-82BF-D768F72185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58842"/>
            <a:ext cx="10515600" cy="42602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b="0" i="0" spc="40" baseline="0">
                <a:solidFill>
                  <a:schemeClr val="tx1"/>
                </a:solidFill>
                <a:latin typeface="Arial" panose="020B0604020202020204" pitchFamily="34" charset="0"/>
                <a:ea typeface="Roboto Light" panose="020000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267B22AB-3DCF-F646-8C59-E0E97B18EBE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197" y="466818"/>
            <a:ext cx="4212859" cy="173736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000" b="1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  <a:lvl2pPr marL="9525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2222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40640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5778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96820C1E-8E8E-864F-AC09-49BED386338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9456" y="6392200"/>
            <a:ext cx="198715" cy="253075"/>
          </a:xfrm>
          <a:prstGeom prst="rect">
            <a:avLst/>
          </a:prstGeom>
        </p:spPr>
      </p:pic>
      <p:sp>
        <p:nvSpPr>
          <p:cNvPr id="13" name="Footer Placeholder 6">
            <a:extLst>
              <a:ext uri="{FF2B5EF4-FFF2-40B4-BE49-F238E27FC236}">
                <a16:creationId xmlns:a16="http://schemas.microsoft.com/office/drawing/2014/main" id="{CC0F4EBF-FEF3-7744-99E3-CBE2C9F39E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83401" y="6426616"/>
            <a:ext cx="4114800" cy="13849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algn="l">
              <a:defRPr sz="9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FFF2C938-9853-C842-B923-C293FC5D97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199" y="6313304"/>
            <a:ext cx="304801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0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</a:lstStyle>
          <a:p>
            <a:fld id="{D246DD65-7063-5C41-96CC-23CB1F95FA9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81820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raphic 17">
            <a:extLst>
              <a:ext uri="{FF2B5EF4-FFF2-40B4-BE49-F238E27FC236}">
                <a16:creationId xmlns:a16="http://schemas.microsoft.com/office/drawing/2014/main" id="{CBE97528-63E0-B947-8D70-BEDE869968D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699627" y="2090488"/>
            <a:ext cx="3072478" cy="3912973"/>
          </a:xfrm>
          <a:prstGeom prst="rect">
            <a:avLst/>
          </a:prstGeom>
        </p:spPr>
      </p:pic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20C621-5537-554E-8430-60B2C07AC0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239258" y="1702700"/>
            <a:ext cx="5116130" cy="4158350"/>
          </a:xfrm>
        </p:spPr>
        <p:txBody>
          <a:bodyPr/>
          <a:lstStyle>
            <a:lvl1pPr marL="0" indent="0">
              <a:buNone/>
              <a:defRPr sz="2400" b="0" i="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7F1BDB-3D52-C947-9A70-95CBB52C91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710638"/>
            <a:ext cx="5112956" cy="4158350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6A80D494-C4A5-8D42-9429-57A6352A7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58842"/>
            <a:ext cx="10515600" cy="103350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b="0" i="0" spc="40" baseline="0">
                <a:solidFill>
                  <a:schemeClr val="tx1"/>
                </a:solidFill>
                <a:latin typeface="Arial" panose="020B0604020202020204" pitchFamily="34" charset="0"/>
                <a:ea typeface="Roboto Light" panose="020000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4A805077-2DFF-C048-A74F-FEFC5F19E7F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197" y="466818"/>
            <a:ext cx="4212859" cy="173736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000" b="1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  <a:lvl2pPr marL="9525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2222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40640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5778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DB1F4726-EF65-7645-BCFF-353C11479F3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9456" y="6392200"/>
            <a:ext cx="198715" cy="253075"/>
          </a:xfrm>
          <a:prstGeom prst="rect">
            <a:avLst/>
          </a:prstGeom>
        </p:spPr>
      </p:pic>
      <p:sp>
        <p:nvSpPr>
          <p:cNvPr id="12" name="Footer Placeholder 6">
            <a:extLst>
              <a:ext uri="{FF2B5EF4-FFF2-40B4-BE49-F238E27FC236}">
                <a16:creationId xmlns:a16="http://schemas.microsoft.com/office/drawing/2014/main" id="{D0745A4F-A219-614C-98DD-9FEBFE44C8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83401" y="6426616"/>
            <a:ext cx="4114800" cy="13849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algn="l">
              <a:defRPr sz="9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11DE9D77-F61D-8943-B484-6666430D70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199" y="6313304"/>
            <a:ext cx="304801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0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</a:lstStyle>
          <a:p>
            <a:fld id="{D246DD65-7063-5C41-96CC-23CB1F95FA9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11780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with Caption"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raphic 17">
            <a:extLst>
              <a:ext uri="{FF2B5EF4-FFF2-40B4-BE49-F238E27FC236}">
                <a16:creationId xmlns:a16="http://schemas.microsoft.com/office/drawing/2014/main" id="{CCF33CEF-DB70-244F-80BA-B71548C44C8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699627" y="2109162"/>
            <a:ext cx="3072478" cy="3912973"/>
          </a:xfrm>
          <a:prstGeom prst="rect">
            <a:avLst/>
          </a:prstGeom>
        </p:spPr>
      </p:pic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20C621-5537-554E-8430-60B2C07AC0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581400" y="1710637"/>
            <a:ext cx="7773988" cy="4311497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7F1BDB-3D52-C947-9A70-95CBB52C91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718575"/>
            <a:ext cx="2424620" cy="4311497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461A6208-D7F3-AA47-9283-E80A86335C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58842"/>
            <a:ext cx="10515600" cy="103350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b="0" i="0" spc="40" baseline="0">
                <a:solidFill>
                  <a:schemeClr val="tx1"/>
                </a:solidFill>
                <a:latin typeface="Arial" panose="020B0604020202020204" pitchFamily="34" charset="0"/>
                <a:ea typeface="Roboto Light" panose="020000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A6EA457C-1F3A-2345-B3A2-D139B309BAC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197" y="466818"/>
            <a:ext cx="4212859" cy="173736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000" b="1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  <a:lvl2pPr marL="9525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2222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40640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5778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DF6F0085-7B88-B641-B1CC-CC66D5D423B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9456" y="6392200"/>
            <a:ext cx="198715" cy="253075"/>
          </a:xfrm>
          <a:prstGeom prst="rect">
            <a:avLst/>
          </a:prstGeom>
        </p:spPr>
      </p:pic>
      <p:sp>
        <p:nvSpPr>
          <p:cNvPr id="12" name="Footer Placeholder 6">
            <a:extLst>
              <a:ext uri="{FF2B5EF4-FFF2-40B4-BE49-F238E27FC236}">
                <a16:creationId xmlns:a16="http://schemas.microsoft.com/office/drawing/2014/main" id="{CB8FB673-6C0C-B34D-AD97-C684BEF171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83401" y="6426616"/>
            <a:ext cx="4114800" cy="13849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algn="l">
              <a:defRPr sz="9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407FF9FC-7358-9A45-854D-4327233895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199" y="6313304"/>
            <a:ext cx="304801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0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</a:lstStyle>
          <a:p>
            <a:fld id="{D246DD65-7063-5C41-96CC-23CB1F95FA9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68869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raphic 17">
            <a:extLst>
              <a:ext uri="{FF2B5EF4-FFF2-40B4-BE49-F238E27FC236}">
                <a16:creationId xmlns:a16="http://schemas.microsoft.com/office/drawing/2014/main" id="{8BA81E6B-2267-7240-BD8D-2F041945CD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7315484" y="-1458332"/>
            <a:ext cx="3072478" cy="3912973"/>
          </a:xfrm>
          <a:prstGeom prst="rect">
            <a:avLst/>
          </a:prstGeom>
        </p:spPr>
      </p:pic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B3737E8E-56AD-B14E-B718-902488B11F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5400000">
            <a:off x="230383" y="477996"/>
            <a:ext cx="32480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0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</a:lstStyle>
          <a:p>
            <a:fld id="{D246DD65-7063-5C41-96CC-23CB1F95FA9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999DB6-1BEB-7640-A175-94DFE9DE44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498156"/>
            <a:ext cx="9970008" cy="5884356"/>
          </a:xfrm>
        </p:spPr>
        <p:txBody>
          <a:bodyPr vert="eaVert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Vertical Title 1">
            <a:extLst>
              <a:ext uri="{FF2B5EF4-FFF2-40B4-BE49-F238E27FC236}">
                <a16:creationId xmlns:a16="http://schemas.microsoft.com/office/drawing/2014/main" id="{1B43DC09-6FF9-2F4A-ADBD-BBFED927C2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1103328" y="498158"/>
            <a:ext cx="601324" cy="4411594"/>
          </a:xfrm>
        </p:spPr>
        <p:txBody>
          <a:bodyPr vert="eaVert" anchor="t" anchorCtr="0"/>
          <a:lstStyle>
            <a:lvl1pPr>
              <a:lnSpc>
                <a:spcPct val="90000"/>
              </a:lnSpc>
              <a:defRPr sz="2800" b="0" i="0">
                <a:solidFill>
                  <a:schemeClr val="tx1"/>
                </a:solidFill>
                <a:latin typeface="Arial" panose="020B0604020202020204" pitchFamily="34" charset="0"/>
                <a:ea typeface="Roboto Light" panose="02000000000000000000" pitchFamily="2" charset="0"/>
              </a:defRPr>
            </a:lvl1pPr>
          </a:lstStyle>
          <a:p>
            <a:r>
              <a:rPr lang="en-US" dirty="0"/>
              <a:t>Click to edit Master</a:t>
            </a:r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08E47882-5D0B-C447-B5DC-B66FE0E54FC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5400000">
            <a:off x="253491" y="692734"/>
            <a:ext cx="198715" cy="253075"/>
          </a:xfrm>
          <a:prstGeom prst="rect">
            <a:avLst/>
          </a:prstGeom>
        </p:spPr>
      </p:pic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ADE54E77-F0EC-5F4D-8092-77A8D8566C8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 rot="5400000">
            <a:off x="9694236" y="2517718"/>
            <a:ext cx="4212859" cy="173736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000" b="1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  <a:lvl2pPr marL="9525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2222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40640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5778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Footer Placeholder 6">
            <a:extLst>
              <a:ext uri="{FF2B5EF4-FFF2-40B4-BE49-F238E27FC236}">
                <a16:creationId xmlns:a16="http://schemas.microsoft.com/office/drawing/2014/main" id="{8DB796B6-2923-7F4A-BC63-73C15DCEAF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-1681138" y="2998146"/>
            <a:ext cx="4114800" cy="13849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algn="l">
              <a:defRPr sz="9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58310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A9B179C-6459-684A-A044-79034DD62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0846"/>
            <a:ext cx="10515600" cy="833831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9AD13B-9F9E-CF4D-B001-BDCFA8B95B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342949"/>
            <a:ext cx="10515600" cy="468512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652324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0" r:id="rId3"/>
    <p:sldLayoutId id="2147483652" r:id="rId4"/>
    <p:sldLayoutId id="2147483653" r:id="rId5"/>
    <p:sldLayoutId id="2147483659" r:id="rId6"/>
    <p:sldLayoutId id="2147483660" r:id="rId7"/>
    <p:sldLayoutId id="2147483656" r:id="rId8"/>
    <p:sldLayoutId id="2147483657" r:id="rId9"/>
    <p:sldLayoutId id="2147483661" r:id="rId10"/>
    <p:sldLayoutId id="2147483658" r:id="rId11"/>
  </p:sldLayoutIdLst>
  <p:hf hdr="0" dt="0"/>
  <p:txStyles>
    <p:titleStyle>
      <a:lvl1pPr algn="l" defTabSz="914400" rtl="0" eaLnBrk="1" latinLnBrk="0" hangingPunct="1">
        <a:lnSpc>
          <a:spcPct val="110000"/>
        </a:lnSpc>
        <a:spcBef>
          <a:spcPct val="0"/>
        </a:spcBef>
        <a:buNone/>
        <a:defRPr sz="3200" b="0" i="0" kern="1200">
          <a:solidFill>
            <a:schemeClr val="tx1"/>
          </a:solidFill>
          <a:latin typeface="Arial" panose="020B0604020202020204" pitchFamily="34" charset="0"/>
          <a:ea typeface="Roboto" panose="02000000000000000000" pitchFamily="2" charset="0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1600" b="0" i="0" kern="1200">
          <a:solidFill>
            <a:schemeClr val="tx1"/>
          </a:solidFill>
          <a:latin typeface="Arial" panose="020B0604020202020204" pitchFamily="34" charset="0"/>
          <a:ea typeface="Roboto" panose="02000000000000000000" pitchFamily="2" charset="0"/>
          <a:cs typeface="+mn-cs"/>
        </a:defRPr>
      </a:lvl1pPr>
      <a:lvl2pPr marL="182563" indent="-173038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tabLst/>
        <a:defRPr sz="1600" b="0" i="0" kern="1200">
          <a:solidFill>
            <a:schemeClr val="tx1"/>
          </a:solidFill>
          <a:latin typeface="Arial" panose="020B0604020202020204" pitchFamily="34" charset="0"/>
          <a:ea typeface="Roboto" panose="02000000000000000000" pitchFamily="2" charset="0"/>
          <a:cs typeface="+mn-cs"/>
        </a:defRPr>
      </a:lvl2pPr>
      <a:lvl3pPr marL="365125" indent="-142875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tabLst/>
        <a:defRPr sz="1600" b="0" i="0" kern="1200">
          <a:solidFill>
            <a:schemeClr val="tx1"/>
          </a:solidFill>
          <a:latin typeface="Arial" panose="020B0604020202020204" pitchFamily="34" charset="0"/>
          <a:ea typeface="Roboto" panose="02000000000000000000" pitchFamily="2" charset="0"/>
          <a:cs typeface="+mn-cs"/>
        </a:defRPr>
      </a:lvl3pPr>
      <a:lvl4pPr marL="538163" indent="-131763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tabLst/>
        <a:defRPr sz="1600" b="0" i="0" kern="1200">
          <a:solidFill>
            <a:schemeClr val="tx1"/>
          </a:solidFill>
          <a:latin typeface="Arial" panose="020B0604020202020204" pitchFamily="34" charset="0"/>
          <a:ea typeface="Roboto" panose="02000000000000000000" pitchFamily="2" charset="0"/>
          <a:cs typeface="+mn-cs"/>
        </a:defRPr>
      </a:lvl4pPr>
      <a:lvl5pPr marL="720725" indent="-142875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tabLst/>
        <a:defRPr sz="1600" b="0" i="0" kern="1200">
          <a:solidFill>
            <a:schemeClr val="tx1"/>
          </a:solidFill>
          <a:latin typeface="Arial" panose="020B0604020202020204" pitchFamily="34" charset="0"/>
          <a:ea typeface="Roboto" panose="02000000000000000000" pitchFamily="2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8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6CE87-9BCD-0243-B22C-4EA155A25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3297" y="1866949"/>
            <a:ext cx="7462421" cy="2105723"/>
          </a:xfrm>
        </p:spPr>
        <p:txBody>
          <a:bodyPr/>
          <a:lstStyle/>
          <a:p>
            <a:r>
              <a:rPr lang="en-US" dirty="0"/>
              <a:t>Marcus Kittelson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792B5759-45DB-614C-B4FA-512A040C1E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5922320"/>
            <a:ext cx="9829800" cy="238783"/>
          </a:xfrm>
        </p:spPr>
        <p:txBody>
          <a:bodyPr anchor="b" anchorCtr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1400" dirty="0">
                <a:latin typeface="Arial" panose="020B0604020202020204" pitchFamily="34" charset="0"/>
                <a:ea typeface="Roboto Light" panose="02000000000000000000" pitchFamily="2" charset="0"/>
              </a:rPr>
              <a:t>Student 2024</a:t>
            </a:r>
          </a:p>
        </p:txBody>
      </p:sp>
    </p:spTree>
    <p:extLst>
      <p:ext uri="{BB962C8B-B14F-4D97-AF65-F5344CB8AC3E}">
        <p14:creationId xmlns:p14="http://schemas.microsoft.com/office/powerpoint/2010/main" val="38927479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2CFEBB4-475D-448A-81B0-65E3F5CD43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44007"/>
            <a:ext cx="10515600" cy="5082609"/>
          </a:xfrm>
        </p:spPr>
        <p:txBody>
          <a:bodyPr/>
          <a:lstStyle/>
          <a:p>
            <a:r>
              <a:rPr lang="en-US" sz="1600" b="1" dirty="0"/>
              <a:t>Length:</a:t>
            </a:r>
            <a:r>
              <a:rPr lang="en-US" sz="1600" dirty="0"/>
              <a:t> 10 – 15 minutes (Max 20 minutes) each student </a:t>
            </a:r>
          </a:p>
          <a:p>
            <a:r>
              <a:rPr lang="en-US" sz="1600" b="1" dirty="0"/>
              <a:t>Format</a:t>
            </a:r>
            <a:r>
              <a:rPr lang="en-US" sz="1600" dirty="0"/>
              <a:t>: NVA template, you can use this one. Structure the presentation as you wish, this is meant as a guide! </a:t>
            </a:r>
          </a:p>
          <a:p>
            <a:pPr algn="ctr"/>
            <a:r>
              <a:rPr lang="en-US" sz="1600" b="1" dirty="0"/>
              <a:t>In your presentation, please cover the following: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2">
                    <a:lumMod val="25000"/>
                  </a:schemeClr>
                </a:solidFill>
              </a:rPr>
              <a:t>Introduction</a:t>
            </a:r>
            <a:r>
              <a:rPr lang="en-US" sz="1600" dirty="0">
                <a:solidFill>
                  <a:schemeClr val="bg2">
                    <a:lumMod val="25000"/>
                  </a:schemeClr>
                </a:solidFill>
              </a:rPr>
              <a:t>: who you are, where you are from, where you go to school, what are you taking in school &amp; what year you are going into.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2">
                    <a:lumMod val="25000"/>
                  </a:schemeClr>
                </a:solidFill>
              </a:rPr>
              <a:t>Share about your projects during your time at NVA: </a:t>
            </a:r>
          </a:p>
          <a:p>
            <a:pPr marL="285750" indent="-285750">
              <a:buFontTx/>
              <a:buChar char="-"/>
            </a:pPr>
            <a:r>
              <a:rPr lang="en-US" sz="1600" dirty="0">
                <a:solidFill>
                  <a:schemeClr val="bg2">
                    <a:lumMod val="25000"/>
                  </a:schemeClr>
                </a:solidFill>
              </a:rPr>
              <a:t>Description of the project </a:t>
            </a:r>
          </a:p>
          <a:p>
            <a:pPr marL="285750" indent="-285750">
              <a:buFontTx/>
              <a:buChar char="-"/>
            </a:pPr>
            <a:r>
              <a:rPr lang="en-US" sz="1600" dirty="0">
                <a:solidFill>
                  <a:schemeClr val="bg2">
                    <a:lumMod val="25000"/>
                  </a:schemeClr>
                </a:solidFill>
              </a:rPr>
              <a:t>What were some challenges you faced? How did you overcome them? </a:t>
            </a:r>
          </a:p>
          <a:p>
            <a:pPr marL="285750" indent="-285750">
              <a:buFontTx/>
              <a:buChar char="-"/>
            </a:pPr>
            <a:r>
              <a:rPr lang="en-US" sz="1600" dirty="0">
                <a:solidFill>
                  <a:schemeClr val="bg2">
                    <a:lumMod val="25000"/>
                  </a:schemeClr>
                </a:solidFill>
              </a:rPr>
              <a:t>What did you learn </a:t>
            </a:r>
          </a:p>
          <a:p>
            <a:pPr marL="285750" indent="-285750">
              <a:buFontTx/>
              <a:buChar char="-"/>
            </a:pPr>
            <a:r>
              <a:rPr lang="en-US" sz="1600" dirty="0">
                <a:solidFill>
                  <a:schemeClr val="bg2">
                    <a:lumMod val="25000"/>
                  </a:schemeClr>
                </a:solidFill>
              </a:rPr>
              <a:t>How did your project impact or support the business?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2">
                    <a:lumMod val="25000"/>
                  </a:schemeClr>
                </a:solidFill>
              </a:rPr>
              <a:t>What’s Next for you? </a:t>
            </a:r>
          </a:p>
          <a:p>
            <a:pPr marL="171450" indent="-171450">
              <a:buFontTx/>
              <a:buChar char="-"/>
            </a:pPr>
            <a:r>
              <a:rPr lang="en-US" sz="1600" dirty="0">
                <a:solidFill>
                  <a:schemeClr val="bg2">
                    <a:lumMod val="25000"/>
                  </a:schemeClr>
                </a:solidFill>
              </a:rPr>
              <a:t>What are your future career goals? Did this summer change or affirm your goals?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2">
                    <a:lumMod val="25000"/>
                  </a:schemeClr>
                </a:solidFill>
              </a:rPr>
              <a:t>Questions</a:t>
            </a:r>
            <a:endParaRPr lang="en-US" sz="1600" dirty="0">
              <a:solidFill>
                <a:schemeClr val="bg2">
                  <a:lumMod val="25000"/>
                </a:schemeClr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2">
                    <a:lumMod val="25000"/>
                  </a:schemeClr>
                </a:solidFill>
              </a:rPr>
              <a:t>- 5 minutes for questions </a:t>
            </a:r>
            <a:endParaRPr lang="en-US" dirty="0"/>
          </a:p>
          <a:p>
            <a:endParaRPr lang="en-US" sz="1600" dirty="0">
              <a:solidFill>
                <a:schemeClr val="bg2">
                  <a:lumMod val="25000"/>
                </a:schemeClr>
              </a:solidFill>
            </a:endParaRPr>
          </a:p>
          <a:p>
            <a:endParaRPr lang="en-US" sz="1600" dirty="0">
              <a:solidFill>
                <a:schemeClr val="bg2">
                  <a:lumMod val="25000"/>
                </a:schemeClr>
              </a:solidFill>
            </a:endParaRPr>
          </a:p>
          <a:p>
            <a:pPr marL="285750" indent="-285750">
              <a:buFontTx/>
              <a:buChar char="-"/>
            </a:pPr>
            <a:endParaRPr lang="en-US" sz="1600" dirty="0">
              <a:solidFill>
                <a:schemeClr val="bg2">
                  <a:lumMod val="25000"/>
                </a:schemeClr>
              </a:solidFill>
            </a:endParaRPr>
          </a:p>
          <a:p>
            <a:pPr marL="285750" indent="-285750">
              <a:buFontTx/>
              <a:buChar char="-"/>
            </a:pPr>
            <a:endParaRPr lang="en-US" sz="1600" dirty="0">
              <a:solidFill>
                <a:schemeClr val="bg2">
                  <a:lumMod val="2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Tx/>
              <a:buChar char="-"/>
            </a:pPr>
            <a:endParaRPr lang="en-US" sz="16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923FD54-476D-4506-AF7F-E6228A1B2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Summer Students- Final Presentation </a:t>
            </a:r>
            <a:br>
              <a:rPr lang="en-US" dirty="0"/>
            </a:br>
            <a:r>
              <a:rPr lang="en-US" dirty="0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94CD71-9F6B-4361-9556-16E888E9B2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F1B8FD-2130-4C06-8879-0CEC073769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246DD65-7063-5C41-96CC-23CB1F95FA91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3357AC3-59DF-421A-939C-A74FCBD3DA87}"/>
              </a:ext>
            </a:extLst>
          </p:cNvPr>
          <p:cNvSpPr txBox="1"/>
          <p:nvPr/>
        </p:nvSpPr>
        <p:spPr>
          <a:xfrm>
            <a:off x="122019" y="108218"/>
            <a:ext cx="27640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**Remove when framework complete</a:t>
            </a:r>
          </a:p>
        </p:txBody>
      </p:sp>
    </p:spTree>
    <p:extLst>
      <p:ext uri="{BB962C8B-B14F-4D97-AF65-F5344CB8AC3E}">
        <p14:creationId xmlns:p14="http://schemas.microsoft.com/office/powerpoint/2010/main" val="11433272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BF87AC7-7957-4917-9632-0215852F62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475F44-E198-4589-8DAE-36374B7D650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197" y="1346090"/>
            <a:ext cx="10515600" cy="229704"/>
          </a:xfrm>
        </p:spPr>
        <p:txBody>
          <a:bodyPr/>
          <a:lstStyle/>
          <a:p>
            <a:r>
              <a:rPr lang="en-US" dirty="0"/>
              <a:t>16 Month Co-op Development Engineering Student</a:t>
            </a:r>
          </a:p>
          <a:p>
            <a:endParaRPr lang="en-US" sz="100" dirty="0"/>
          </a:p>
          <a:p>
            <a:r>
              <a:rPr lang="en-US" dirty="0"/>
              <a:t>Education: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Software Engineering - University of Calgary (2021 - 2026)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Machine Learning Specialization - Stanford Online (July 2024)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00" dirty="0"/>
          </a:p>
          <a:p>
            <a:r>
              <a:rPr lang="en-US" dirty="0"/>
              <a:t>Previous Work Experience: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Data Scientist Intern - M2M Tech (Summer 2023)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Safety Monitor - ‘</a:t>
            </a:r>
            <a:r>
              <a:rPr lang="en-US" i="1" dirty="0"/>
              <a:t>The Last of Us’  </a:t>
            </a:r>
            <a:r>
              <a:rPr lang="en-US" dirty="0"/>
              <a:t>HBO Series (2021 - 2022)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00" dirty="0"/>
          </a:p>
          <a:p>
            <a:r>
              <a:rPr lang="en-US" dirty="0"/>
              <a:t>Interests: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Variety of Sports and Activities (Basketball, Hiking) </a:t>
            </a:r>
            <a:r>
              <a:rPr lang="en-US" dirty="0">
                <a:solidFill>
                  <a:srgbClr val="FF0000"/>
                </a:solidFill>
              </a:rPr>
              <a:t>*format nicer</a:t>
            </a:r>
            <a:endParaRPr lang="en-US" dirty="0"/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9141426-82E5-4B5F-AD91-268C2BA022A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Marcus Kittelson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D832C4-0DAF-4680-87FC-D628A99429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81AC33-5D55-4C89-B4BC-17D729D60D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246DD65-7063-5C41-96CC-23CB1F95FA91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2DEE4CF-983E-43B1-9B1C-1F6F712F1A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8736" y="1252996"/>
            <a:ext cx="1875064" cy="199270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40CA57B-6C16-4BA5-988C-0E657E00AE60}"/>
              </a:ext>
            </a:extLst>
          </p:cNvPr>
          <p:cNvSpPr txBox="1"/>
          <p:nvPr/>
        </p:nvSpPr>
        <p:spPr>
          <a:xfrm>
            <a:off x="9788979" y="3534365"/>
            <a:ext cx="190636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**Decide either no personal photos or do a few</a:t>
            </a:r>
          </a:p>
        </p:txBody>
      </p:sp>
    </p:spTree>
    <p:extLst>
      <p:ext uri="{BB962C8B-B14F-4D97-AF65-F5344CB8AC3E}">
        <p14:creationId xmlns:p14="http://schemas.microsoft.com/office/powerpoint/2010/main" val="32510430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0BFF44E-8C7E-4A7C-8366-7974BFA866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7" y="1551727"/>
            <a:ext cx="7165875" cy="4110992"/>
          </a:xfrm>
        </p:spPr>
        <p:txBody>
          <a:bodyPr/>
          <a:lstStyle/>
          <a:p>
            <a:r>
              <a:rPr lang="en-US" sz="1200" b="1" dirty="0"/>
              <a:t>Problem Statement: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Q1 2024 Pipestone North Pad (06-07-072-09W6) experienced high levels of well to well fracture interaction and subsequent sand placement issues, as well as observations of casing ovality during coil mill out operation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Issues driven by natural fractures / faulting features identified in area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Q2 2024 Pipestone North Pad (16-33-071-09W6) to be developed across same features identified at 06-07-072-09W6</a:t>
            </a:r>
          </a:p>
          <a:p>
            <a:r>
              <a:rPr lang="en-US" sz="1200" b="1" dirty="0"/>
              <a:t>Project Goals: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Further automation of all completion, pressure and seismic (surface array tool) data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Introduction of Realtime Analytics Dashboard allowing team to analyze real time data and make informed operational decisions to improve sand placement, pumping time as well as mitigate casing ovality concerns</a:t>
            </a:r>
          </a:p>
          <a:p>
            <a:r>
              <a:rPr lang="en-US" sz="1200" b="1" dirty="0"/>
              <a:t>Project Outcome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Analytics Dashboard allowed team to better monitor sand placement and pressure trends leading to</a:t>
            </a:r>
            <a:r>
              <a:rPr lang="en-US" sz="1200" dirty="0">
                <a:solidFill>
                  <a:srgbClr val="FF0000"/>
                </a:solidFill>
              </a:rPr>
              <a:t> xx% improvement in sand placement and xx% improvement in pumping time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Q2 2024 Pad (16-33) subsequently completed at 675$/</a:t>
            </a:r>
            <a:r>
              <a:rPr lang="en-US" sz="1200" dirty="0" err="1"/>
              <a:t>tonne</a:t>
            </a:r>
            <a:r>
              <a:rPr lang="en-US" sz="1200" dirty="0"/>
              <a:t> vs Q1 2024 Pad (06-07) at 785$/</a:t>
            </a:r>
            <a:r>
              <a:rPr lang="en-US" sz="1200" dirty="0" err="1"/>
              <a:t>tonne</a:t>
            </a:r>
            <a:endParaRPr lang="en-US" sz="12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0978E46-4E58-4D3A-84F7-5367FEB3F7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Description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8A9D5C0-B146-45AB-85A3-E714FDC8CE4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746C0A-33D2-4675-B73E-44AF512E8E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8224AB-F1E3-496F-BC01-AD82567ABC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246DD65-7063-5C41-96CC-23CB1F95FA91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0CF3C09-DE2F-FCF1-DE3E-A23F88512A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4657" y="1996692"/>
            <a:ext cx="3693831" cy="3513154"/>
          </a:xfrm>
          <a:prstGeom prst="rect">
            <a:avLst/>
          </a:prstGeom>
        </p:spPr>
      </p:pic>
      <p:sp>
        <p:nvSpPr>
          <p:cNvPr id="9" name="Callout: Line 8">
            <a:extLst>
              <a:ext uri="{FF2B5EF4-FFF2-40B4-BE49-F238E27FC236}">
                <a16:creationId xmlns:a16="http://schemas.microsoft.com/office/drawing/2014/main" id="{947472E1-5E25-C6D3-0CA1-3C81491DC9E0}"/>
              </a:ext>
            </a:extLst>
          </p:cNvPr>
          <p:cNvSpPr/>
          <p:nvPr/>
        </p:nvSpPr>
        <p:spPr>
          <a:xfrm>
            <a:off x="10911218" y="3561886"/>
            <a:ext cx="1147892" cy="396600"/>
          </a:xfrm>
          <a:prstGeom prst="borderCallout1">
            <a:avLst>
              <a:gd name="adj1" fmla="val 100931"/>
              <a:gd name="adj2" fmla="val 50410"/>
              <a:gd name="adj3" fmla="val 256823"/>
              <a:gd name="adj4" fmla="val 12321"/>
            </a:avLst>
          </a:prstGeom>
          <a:solidFill>
            <a:srgbClr val="FF0000"/>
          </a:solidFill>
          <a:ln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800" dirty="0">
                <a:solidFill>
                  <a:schemeClr val="bg1"/>
                </a:solidFill>
              </a:rPr>
              <a:t>Identified Feature</a:t>
            </a:r>
            <a:endParaRPr lang="en-CA" sz="800" dirty="0">
              <a:solidFill>
                <a:schemeClr val="bg1"/>
              </a:solidFill>
            </a:endParaRPr>
          </a:p>
        </p:txBody>
      </p:sp>
      <p:sp>
        <p:nvSpPr>
          <p:cNvPr id="10" name="Callout: Line 9">
            <a:extLst>
              <a:ext uri="{FF2B5EF4-FFF2-40B4-BE49-F238E27FC236}">
                <a16:creationId xmlns:a16="http://schemas.microsoft.com/office/drawing/2014/main" id="{84F935A0-41CE-7C7A-8B68-A242C47C5DB2}"/>
              </a:ext>
            </a:extLst>
          </p:cNvPr>
          <p:cNvSpPr/>
          <p:nvPr/>
        </p:nvSpPr>
        <p:spPr>
          <a:xfrm>
            <a:off x="8150851" y="3314656"/>
            <a:ext cx="1147892" cy="396600"/>
          </a:xfrm>
          <a:prstGeom prst="borderCallout1">
            <a:avLst>
              <a:gd name="adj1" fmla="val 100931"/>
              <a:gd name="adj2" fmla="val 50410"/>
              <a:gd name="adj3" fmla="val 203086"/>
              <a:gd name="adj4" fmla="val 139459"/>
            </a:avLst>
          </a:prstGeom>
          <a:ln>
            <a:headEnd type="none" w="med" len="med"/>
            <a:tailEnd type="triangle" w="med" len="med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800" dirty="0">
                <a:solidFill>
                  <a:schemeClr val="bg1"/>
                </a:solidFill>
              </a:rPr>
              <a:t>06-07P2 (Q1 2024)</a:t>
            </a:r>
            <a:endParaRPr lang="en-CA" sz="800" dirty="0">
              <a:solidFill>
                <a:schemeClr val="bg1"/>
              </a:solidFill>
            </a:endParaRPr>
          </a:p>
        </p:txBody>
      </p:sp>
      <p:sp>
        <p:nvSpPr>
          <p:cNvPr id="12" name="Callout: Line 11">
            <a:extLst>
              <a:ext uri="{FF2B5EF4-FFF2-40B4-BE49-F238E27FC236}">
                <a16:creationId xmlns:a16="http://schemas.microsoft.com/office/drawing/2014/main" id="{2CD6B53F-8DFE-5188-144C-9016E0D448FF}"/>
              </a:ext>
            </a:extLst>
          </p:cNvPr>
          <p:cNvSpPr/>
          <p:nvPr/>
        </p:nvSpPr>
        <p:spPr>
          <a:xfrm>
            <a:off x="10657951" y="5481137"/>
            <a:ext cx="1147892" cy="396600"/>
          </a:xfrm>
          <a:prstGeom prst="borderCallout1">
            <a:avLst>
              <a:gd name="adj1" fmla="val -2525"/>
              <a:gd name="adj2" fmla="val 52452"/>
              <a:gd name="adj3" fmla="val -65798"/>
              <a:gd name="adj4" fmla="val 54323"/>
            </a:avLst>
          </a:prstGeom>
          <a:solidFill>
            <a:srgbClr val="FF99FF"/>
          </a:solidFill>
          <a:ln>
            <a:solidFill>
              <a:srgbClr val="FF33CC"/>
            </a:solidFill>
            <a:headEnd type="none" w="med" len="med"/>
            <a:tailEnd type="triangle" w="med" len="med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800" dirty="0">
                <a:solidFill>
                  <a:schemeClr val="bg1"/>
                </a:solidFill>
              </a:rPr>
              <a:t>16-33 (Q2 2024)</a:t>
            </a:r>
            <a:endParaRPr lang="en-CA" sz="800" dirty="0">
              <a:solidFill>
                <a:schemeClr val="bg1"/>
              </a:solidFill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564037E5-32E6-C156-32DB-F16DB19AF69F}"/>
              </a:ext>
            </a:extLst>
          </p:cNvPr>
          <p:cNvSpPr/>
          <p:nvPr/>
        </p:nvSpPr>
        <p:spPr>
          <a:xfrm>
            <a:off x="10215103" y="4584301"/>
            <a:ext cx="1270253" cy="586364"/>
          </a:xfrm>
          <a:prstGeom prst="ellipse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11173FB-4219-479C-858A-6945F25F3D15}"/>
              </a:ext>
            </a:extLst>
          </p:cNvPr>
          <p:cNvSpPr txBox="1"/>
          <p:nvPr/>
        </p:nvSpPr>
        <p:spPr>
          <a:xfrm>
            <a:off x="8450358" y="5535496"/>
            <a:ext cx="208189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*discuss improvement numbers with Brian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8857BB6-73EA-4EE1-B68A-EACBD528ACD9}"/>
              </a:ext>
            </a:extLst>
          </p:cNvPr>
          <p:cNvSpPr txBox="1"/>
          <p:nvPr/>
        </p:nvSpPr>
        <p:spPr>
          <a:xfrm>
            <a:off x="9084451" y="292422"/>
            <a:ext cx="24802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*decide if want to be more concise and shorten word count</a:t>
            </a:r>
          </a:p>
        </p:txBody>
      </p:sp>
    </p:spTree>
    <p:extLst>
      <p:ext uri="{BB962C8B-B14F-4D97-AF65-F5344CB8AC3E}">
        <p14:creationId xmlns:p14="http://schemas.microsoft.com/office/powerpoint/2010/main" val="2837477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BA369C0-5DA5-4BC7-A6FB-7CC2DB6CB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58842"/>
            <a:ext cx="10515600" cy="1033508"/>
          </a:xfrm>
        </p:spPr>
        <p:txBody>
          <a:bodyPr/>
          <a:lstStyle/>
          <a:p>
            <a:r>
              <a:rPr lang="en-US" dirty="0"/>
              <a:t>16-33 Spotfire Dashboard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3F7640-01BC-421C-A3F7-361B8F40946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05538" y="1175596"/>
            <a:ext cx="10006029" cy="281081"/>
          </a:xfrm>
        </p:spPr>
        <p:txBody>
          <a:bodyPr/>
          <a:lstStyle/>
          <a:p>
            <a:r>
              <a:rPr lang="en-US" dirty="0"/>
              <a:t>Converting large amounts of data into interpretable insights for live decision-making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8FFDD2A-9A00-492B-9B42-6C34B64BF35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05539" y="485106"/>
            <a:ext cx="4212859" cy="173736"/>
          </a:xfrm>
        </p:spPr>
        <p:txBody>
          <a:bodyPr/>
          <a:lstStyle/>
          <a:p>
            <a:r>
              <a:rPr lang="en-US" dirty="0"/>
              <a:t>Project Overview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B13353-DC13-4E3C-AD5D-13FFDA648E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6DB241-68F1-4360-90D9-2A410B4A14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246DD65-7063-5C41-96CC-23CB1F95FA91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22F9580-604E-4F32-ACAC-50773A14A5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497" y="2198589"/>
            <a:ext cx="2572087" cy="280783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D8DED59-D73C-44AE-8ABF-99C8EB0C582C}"/>
              </a:ext>
            </a:extLst>
          </p:cNvPr>
          <p:cNvSpPr txBox="1"/>
          <p:nvPr/>
        </p:nvSpPr>
        <p:spPr>
          <a:xfrm>
            <a:off x="264784" y="1733381"/>
            <a:ext cx="37520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Raw Data (500,000+ Datapoints)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7D5A16F-7846-4B41-8C46-4F124EC2F3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915" y="2352591"/>
            <a:ext cx="2582324" cy="277237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61446E7-1B74-4864-91E5-4808FDD5EF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725" y="2532143"/>
            <a:ext cx="2789377" cy="280391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D3DE3F26-3B77-493B-90FA-B1416F69DF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1479" y="2103835"/>
            <a:ext cx="2995760" cy="155036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CA4898E8-00E2-4091-B180-B0E12E8D3189}"/>
              </a:ext>
            </a:extLst>
          </p:cNvPr>
          <p:cNvSpPr/>
          <p:nvPr/>
        </p:nvSpPr>
        <p:spPr>
          <a:xfrm>
            <a:off x="7223598" y="1683496"/>
            <a:ext cx="352051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Realtime Spotfire Visualizations</a:t>
            </a:r>
          </a:p>
        </p:txBody>
      </p:sp>
      <p:sp>
        <p:nvSpPr>
          <p:cNvPr id="32" name="Arrow: Striped Right 31">
            <a:extLst>
              <a:ext uri="{FF2B5EF4-FFF2-40B4-BE49-F238E27FC236}">
                <a16:creationId xmlns:a16="http://schemas.microsoft.com/office/drawing/2014/main" id="{9F56827B-427D-42F7-A320-5AFB5BD75406}"/>
              </a:ext>
            </a:extLst>
          </p:cNvPr>
          <p:cNvSpPr/>
          <p:nvPr/>
        </p:nvSpPr>
        <p:spPr>
          <a:xfrm>
            <a:off x="3751044" y="3429000"/>
            <a:ext cx="1842811" cy="1033508"/>
          </a:xfrm>
          <a:prstGeom prst="striped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9703A522-B5C6-4486-8CFF-224EA14E4FD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02095" y="2565539"/>
            <a:ext cx="3295467" cy="172692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F4158E56-7C19-4624-B63B-6586773FAB6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60198" y="3819480"/>
            <a:ext cx="3325592" cy="172692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9C343AA9-C8C9-44CB-B877-A9A5850DD91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66290" y="4589252"/>
            <a:ext cx="3487510" cy="180138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4089F58-DE43-4B3E-9182-8902A84BB4E1}"/>
              </a:ext>
            </a:extLst>
          </p:cNvPr>
          <p:cNvSpPr txBox="1"/>
          <p:nvPr/>
        </p:nvSpPr>
        <p:spPr>
          <a:xfrm>
            <a:off x="6833507" y="170391"/>
            <a:ext cx="374740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*Go to an even higher level? Explain what Spotfire is? Data visualization tool.</a:t>
            </a:r>
          </a:p>
        </p:txBody>
      </p:sp>
    </p:spTree>
    <p:extLst>
      <p:ext uri="{BB962C8B-B14F-4D97-AF65-F5344CB8AC3E}">
        <p14:creationId xmlns:p14="http://schemas.microsoft.com/office/powerpoint/2010/main" val="40713471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FA43654-534E-4EA3-90BD-8B0CE7FC6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01833"/>
            <a:ext cx="10515600" cy="1033508"/>
          </a:xfrm>
        </p:spPr>
        <p:txBody>
          <a:bodyPr/>
          <a:lstStyle/>
          <a:p>
            <a:r>
              <a:rPr lang="en-US" dirty="0"/>
              <a:t>Initial Shut-In Pressure (ISIP)</a:t>
            </a:r>
            <a:br>
              <a:rPr lang="en-US" dirty="0">
                <a:solidFill>
                  <a:srgbClr val="FF0000"/>
                </a:solidFill>
              </a:rPr>
            </a:b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A58A9C-66B4-49B1-BBA5-487FD0890F5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197" y="1190757"/>
            <a:ext cx="10515600" cy="229704"/>
          </a:xfrm>
        </p:spPr>
        <p:txBody>
          <a:bodyPr/>
          <a:lstStyle/>
          <a:p>
            <a:r>
              <a:rPr lang="en-US" dirty="0"/>
              <a:t>Spotfire dashboard automatically extracts ISIP values from gauge data and plots them, enabling quick identification of pressure trends.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F1324BA-87C9-4FA5-8B00-8F584994622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197" y="409809"/>
            <a:ext cx="4212859" cy="173736"/>
          </a:xfrm>
        </p:spPr>
        <p:txBody>
          <a:bodyPr/>
          <a:lstStyle/>
          <a:p>
            <a:r>
              <a:rPr lang="en-US" dirty="0"/>
              <a:t>16-33 Spotfire Dashboard</a:t>
            </a:r>
          </a:p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482674-BA19-4D2E-A827-363B05779C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26120" y="6444474"/>
            <a:ext cx="4114800" cy="138499"/>
          </a:xfrm>
        </p:spPr>
        <p:txBody>
          <a:bodyPr/>
          <a:lstStyle/>
          <a:p>
            <a:r>
              <a:rPr lang="en-US" b="1" dirty="0" err="1">
                <a:latin typeface="Arial" panose="020B0604020202020204" pitchFamily="34" charset="0"/>
              </a:rPr>
              <a:t>NuVista</a:t>
            </a:r>
            <a:r>
              <a:rPr lang="en-US" b="1" dirty="0">
                <a:latin typeface="Arial" panose="020B0604020202020204" pitchFamily="34" charset="0"/>
              </a:rPr>
              <a:t> Energy Ltd.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C7A50B-6E9F-4728-A2A3-6EBB9AF9D4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31160"/>
            <a:ext cx="304801" cy="365125"/>
          </a:xfrm>
        </p:spPr>
        <p:txBody>
          <a:bodyPr/>
          <a:lstStyle/>
          <a:p>
            <a:fld id="{D246DD65-7063-5C41-96CC-23CB1F95FA91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257AA14-4951-450A-B80B-69BA9044E6A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" r="-1130"/>
          <a:stretch/>
        </p:blipFill>
        <p:spPr>
          <a:xfrm>
            <a:off x="4823172" y="2103320"/>
            <a:ext cx="3965816" cy="2044627"/>
          </a:xfrm>
          <a:prstGeom prst="rect">
            <a:avLst/>
          </a:prstGeom>
          <a:ln>
            <a:solidFill>
              <a:schemeClr val="accent2"/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82BBD44-BD4D-4369-A73D-00CA994A62B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9678"/>
          <a:stretch/>
        </p:blipFill>
        <p:spPr>
          <a:xfrm>
            <a:off x="4823172" y="4157474"/>
            <a:ext cx="3965816" cy="2151950"/>
          </a:xfrm>
          <a:prstGeom prst="rect">
            <a:avLst/>
          </a:prstGeom>
          <a:ln>
            <a:solidFill>
              <a:schemeClr val="accent2"/>
            </a:solidFill>
          </a:ln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AAFDCC9-1725-41C2-95C3-A69D5F2F1F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8701" y="2102611"/>
            <a:ext cx="4000697" cy="2040501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29C6B89A-904B-44FC-B040-AC813FFC6597}"/>
              </a:ext>
            </a:extLst>
          </p:cNvPr>
          <p:cNvSpPr txBox="1">
            <a:spLocks/>
          </p:cNvSpPr>
          <p:nvPr/>
        </p:nvSpPr>
        <p:spPr>
          <a:xfrm>
            <a:off x="5903170" y="1817442"/>
            <a:ext cx="1805820" cy="255672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  <a:cs typeface="+mn-cs"/>
              </a:defRPr>
            </a:lvl1pPr>
            <a:lvl2pPr marL="182563" indent="-1730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+mn-cs"/>
              </a:defRPr>
            </a:lvl2pPr>
            <a:lvl3pPr marL="365125" indent="-1428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+mn-cs"/>
              </a:defRPr>
            </a:lvl3pPr>
            <a:lvl4pPr marL="538163" indent="-13176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+mn-cs"/>
              </a:defRPr>
            </a:lvl4pPr>
            <a:lvl5pPr marL="720725" indent="-1428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16-33 (Q2 2024)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9D5F6FCA-7A11-47CB-81D5-7E3CD21468AE}"/>
              </a:ext>
            </a:extLst>
          </p:cNvPr>
          <p:cNvSpPr txBox="1">
            <a:spLocks/>
          </p:cNvSpPr>
          <p:nvPr/>
        </p:nvSpPr>
        <p:spPr>
          <a:xfrm>
            <a:off x="1548584" y="1834267"/>
            <a:ext cx="1805820" cy="268344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  <a:cs typeface="+mn-cs"/>
              </a:defRPr>
            </a:lvl1pPr>
            <a:lvl2pPr marL="182563" indent="-1730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+mn-cs"/>
              </a:defRPr>
            </a:lvl2pPr>
            <a:lvl3pPr marL="365125" indent="-1428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+mn-cs"/>
              </a:defRPr>
            </a:lvl3pPr>
            <a:lvl4pPr marL="538163" indent="-13176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+mn-cs"/>
              </a:defRPr>
            </a:lvl4pPr>
            <a:lvl5pPr marL="720725" indent="-1428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06-07 (Q1 2024)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F3DB1571-51D1-4722-93B0-90664489DBA0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429" r="70" b="14296"/>
          <a:stretch/>
        </p:blipFill>
        <p:spPr>
          <a:xfrm>
            <a:off x="418700" y="4156510"/>
            <a:ext cx="4000697" cy="2127079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11" name="Flowchart: Connector 10">
            <a:extLst>
              <a:ext uri="{FF2B5EF4-FFF2-40B4-BE49-F238E27FC236}">
                <a16:creationId xmlns:a16="http://schemas.microsoft.com/office/drawing/2014/main" id="{B378D129-8D97-4DB6-8D15-5F11741EC796}"/>
              </a:ext>
            </a:extLst>
          </p:cNvPr>
          <p:cNvSpPr/>
          <p:nvPr/>
        </p:nvSpPr>
        <p:spPr>
          <a:xfrm>
            <a:off x="9252739" y="3009544"/>
            <a:ext cx="161915" cy="164497"/>
          </a:xfrm>
          <a:prstGeom prst="flowChartConnector">
            <a:avLst/>
          </a:prstGeom>
          <a:solidFill>
            <a:srgbClr val="2341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highlight>
                <a:srgbClr val="FFFF00"/>
              </a:highlight>
            </a:endParaRPr>
          </a:p>
        </p:txBody>
      </p:sp>
      <p:sp>
        <p:nvSpPr>
          <p:cNvPr id="17" name="Flowchart: Connector 16">
            <a:extLst>
              <a:ext uri="{FF2B5EF4-FFF2-40B4-BE49-F238E27FC236}">
                <a16:creationId xmlns:a16="http://schemas.microsoft.com/office/drawing/2014/main" id="{82161766-4C71-466F-B3B1-9F0D155C4A4D}"/>
              </a:ext>
            </a:extLst>
          </p:cNvPr>
          <p:cNvSpPr/>
          <p:nvPr/>
        </p:nvSpPr>
        <p:spPr>
          <a:xfrm>
            <a:off x="9252741" y="2705401"/>
            <a:ext cx="161915" cy="164497"/>
          </a:xfrm>
          <a:prstGeom prst="flowChartConnector">
            <a:avLst/>
          </a:prstGeom>
          <a:solidFill>
            <a:srgbClr val="CFDB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highlight>
                <a:srgbClr val="FFFF00"/>
              </a:highlight>
            </a:endParaRPr>
          </a:p>
        </p:txBody>
      </p:sp>
      <p:sp>
        <p:nvSpPr>
          <p:cNvPr id="20" name="Flowchart: Connector 19">
            <a:extLst>
              <a:ext uri="{FF2B5EF4-FFF2-40B4-BE49-F238E27FC236}">
                <a16:creationId xmlns:a16="http://schemas.microsoft.com/office/drawing/2014/main" id="{5627074E-1D91-4A7F-B88A-664CAE8A9FFA}"/>
              </a:ext>
            </a:extLst>
          </p:cNvPr>
          <p:cNvSpPr/>
          <p:nvPr/>
        </p:nvSpPr>
        <p:spPr>
          <a:xfrm>
            <a:off x="9252741" y="2397716"/>
            <a:ext cx="161915" cy="164497"/>
          </a:xfrm>
          <a:prstGeom prst="flowChartConnector">
            <a:avLst/>
          </a:prstGeom>
          <a:solidFill>
            <a:srgbClr val="FF4E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highlight>
                <a:srgbClr val="FFFF00"/>
              </a:highlight>
            </a:endParaRPr>
          </a:p>
        </p:txBody>
      </p:sp>
      <p:sp>
        <p:nvSpPr>
          <p:cNvPr id="22" name="Flowchart: Connector 21">
            <a:extLst>
              <a:ext uri="{FF2B5EF4-FFF2-40B4-BE49-F238E27FC236}">
                <a16:creationId xmlns:a16="http://schemas.microsoft.com/office/drawing/2014/main" id="{8FFA79E5-EF4D-437F-AD0E-EB2FCC5C4B04}"/>
              </a:ext>
            </a:extLst>
          </p:cNvPr>
          <p:cNvSpPr/>
          <p:nvPr/>
        </p:nvSpPr>
        <p:spPr>
          <a:xfrm>
            <a:off x="9252741" y="2089939"/>
            <a:ext cx="161915" cy="164497"/>
          </a:xfrm>
          <a:prstGeom prst="flowChartConnector">
            <a:avLst/>
          </a:prstGeom>
          <a:solidFill>
            <a:srgbClr val="2323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highlight>
                <a:srgbClr val="FFFF00"/>
              </a:highlight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6D1C16F-86EA-4569-B3E2-DD4F498E3B4D}"/>
              </a:ext>
            </a:extLst>
          </p:cNvPr>
          <p:cNvSpPr txBox="1"/>
          <p:nvPr/>
        </p:nvSpPr>
        <p:spPr>
          <a:xfrm>
            <a:off x="9414655" y="2025275"/>
            <a:ext cx="26235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232323"/>
                </a:solidFill>
              </a:rPr>
              <a:t>29500 – 35000: </a:t>
            </a:r>
            <a:r>
              <a:rPr lang="en-US" sz="1400" dirty="0">
                <a:solidFill>
                  <a:srgbClr val="FF4E33"/>
                </a:solidFill>
              </a:rPr>
              <a:t>{Bad – {Risk}}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48CA242-535C-423F-82FD-94FD15D55486}"/>
              </a:ext>
            </a:extLst>
          </p:cNvPr>
          <p:cNvSpPr txBox="1"/>
          <p:nvPr/>
        </p:nvSpPr>
        <p:spPr>
          <a:xfrm>
            <a:off x="9414656" y="2325926"/>
            <a:ext cx="27773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232323"/>
                </a:solidFill>
              </a:rPr>
              <a:t>28000 – 29500: </a:t>
            </a:r>
            <a:r>
              <a:rPr lang="en-US" sz="1400" dirty="0">
                <a:solidFill>
                  <a:srgbClr val="FF4E33"/>
                </a:solidFill>
              </a:rPr>
              <a:t>{High – {l risk}}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2120741-EF7A-46EF-8444-555CC11A1117}"/>
              </a:ext>
            </a:extLst>
          </p:cNvPr>
          <p:cNvSpPr txBox="1"/>
          <p:nvPr/>
        </p:nvSpPr>
        <p:spPr>
          <a:xfrm>
            <a:off x="9414654" y="2640828"/>
            <a:ext cx="26235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232323"/>
                </a:solidFill>
              </a:rPr>
              <a:t>25000 – 28000: </a:t>
            </a:r>
            <a:r>
              <a:rPr lang="en-US" sz="1400" dirty="0">
                <a:solidFill>
                  <a:srgbClr val="FF4E33"/>
                </a:solidFill>
              </a:rPr>
              <a:t>{Ideal}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4A3EB1E-F5CB-4377-998B-7E87F48AE0DF}"/>
              </a:ext>
            </a:extLst>
          </p:cNvPr>
          <p:cNvSpPr txBox="1"/>
          <p:nvPr/>
        </p:nvSpPr>
        <p:spPr>
          <a:xfrm>
            <a:off x="9414656" y="2955730"/>
            <a:ext cx="26235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232323"/>
                </a:solidFill>
              </a:rPr>
              <a:t>20000 – 25000: </a:t>
            </a:r>
            <a:r>
              <a:rPr lang="en-US" sz="1400" dirty="0">
                <a:solidFill>
                  <a:srgbClr val="FF4E33"/>
                </a:solidFill>
              </a:rPr>
              <a:t>{Fine}</a:t>
            </a:r>
          </a:p>
        </p:txBody>
      </p: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980F012D-B234-45EF-B83A-71A049F6BD01}"/>
              </a:ext>
            </a:extLst>
          </p:cNvPr>
          <p:cNvSpPr txBox="1">
            <a:spLocks/>
          </p:cNvSpPr>
          <p:nvPr/>
        </p:nvSpPr>
        <p:spPr>
          <a:xfrm>
            <a:off x="9502457" y="1816057"/>
            <a:ext cx="2281918" cy="255672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  <a:cs typeface="+mn-cs"/>
              </a:defRPr>
            </a:lvl1pPr>
            <a:lvl2pPr marL="182563" indent="-1730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+mn-cs"/>
              </a:defRPr>
            </a:lvl2pPr>
            <a:lvl3pPr marL="365125" indent="-1428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+mn-cs"/>
              </a:defRPr>
            </a:lvl3pPr>
            <a:lvl4pPr marL="538163" indent="-13176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+mn-cs"/>
              </a:defRPr>
            </a:lvl4pPr>
            <a:lvl5pPr marL="720725" indent="-1428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Pressure Categories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A26D1A8-5B15-4243-B27D-94DE6AE0396E}"/>
              </a:ext>
            </a:extLst>
          </p:cNvPr>
          <p:cNvSpPr txBox="1"/>
          <p:nvPr/>
        </p:nvSpPr>
        <p:spPr>
          <a:xfrm>
            <a:off x="9574601" y="3346020"/>
            <a:ext cx="2039096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*Add Importance of ISIP / A direct value add -&gt; touch up what each </a:t>
            </a:r>
            <a:r>
              <a:rPr lang="en-US" sz="1400" dirty="0" err="1">
                <a:solidFill>
                  <a:srgbClr val="FF0000"/>
                </a:solidFill>
              </a:rPr>
              <a:t>colour</a:t>
            </a:r>
            <a:r>
              <a:rPr lang="en-US" sz="1400" dirty="0">
                <a:solidFill>
                  <a:srgbClr val="FF0000"/>
                </a:solidFill>
              </a:rPr>
              <a:t> really means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EB71A41-BB7C-4DC5-A2D1-06CDAC62CE97}"/>
              </a:ext>
            </a:extLst>
          </p:cNvPr>
          <p:cNvSpPr txBox="1"/>
          <p:nvPr/>
        </p:nvSpPr>
        <p:spPr>
          <a:xfrm>
            <a:off x="9710646" y="507432"/>
            <a:ext cx="186554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*Should clarify and start with ISIP definition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8B99C4F-4A01-442E-8FD3-05ACB5B1AEC9}"/>
              </a:ext>
            </a:extLst>
          </p:cNvPr>
          <p:cNvSpPr txBox="1"/>
          <p:nvPr/>
        </p:nvSpPr>
        <p:spPr>
          <a:xfrm>
            <a:off x="5051056" y="111465"/>
            <a:ext cx="19063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*Use “Initial” or “Instantaneous”</a:t>
            </a:r>
          </a:p>
        </p:txBody>
      </p:sp>
    </p:spTree>
    <p:extLst>
      <p:ext uri="{BB962C8B-B14F-4D97-AF65-F5344CB8AC3E}">
        <p14:creationId xmlns:p14="http://schemas.microsoft.com/office/powerpoint/2010/main" val="12247525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A675C04-310D-4BA2-BA9C-56DDED9565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4803" y="1771322"/>
            <a:ext cx="10515600" cy="3912973"/>
          </a:xfrm>
        </p:spPr>
        <p:txBody>
          <a:bodyPr/>
          <a:lstStyle/>
          <a:p>
            <a:r>
              <a:rPr lang="en-US" sz="1600" b="1" dirty="0"/>
              <a:t>Backend Rate Drop Algorithm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Searches through pumping data and flags significant </a:t>
            </a:r>
          </a:p>
          <a:p>
            <a:r>
              <a:rPr lang="en-US" sz="1600" dirty="0"/>
              <a:t>and sustained rate decline in stages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Reduces redundant manual data skimming, with </a:t>
            </a:r>
          </a:p>
          <a:p>
            <a:r>
              <a:rPr lang="en-US" sz="1600" dirty="0"/>
              <a:t>instant identification of challenging stages</a:t>
            </a:r>
            <a:endParaRPr lang="en-US" sz="800" dirty="0"/>
          </a:p>
          <a:p>
            <a:r>
              <a:rPr lang="en-US" sz="1600" b="1" dirty="0"/>
              <a:t>Slow Rate Ramp-Up Algorithm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Detects stages that were slow to reach maximum slurry rates,</a:t>
            </a:r>
          </a:p>
          <a:p>
            <a:r>
              <a:rPr lang="en-US" sz="1600" dirty="0">
                <a:solidFill>
                  <a:srgbClr val="FF0000"/>
                </a:solidFill>
              </a:rPr>
              <a:t>*- explain offers additional insight</a:t>
            </a:r>
            <a:r>
              <a:rPr lang="en-US" sz="1600" dirty="0"/>
              <a:t> </a:t>
            </a:r>
          </a:p>
          <a:p>
            <a:r>
              <a:rPr lang="en-US" sz="1600" b="1" dirty="0"/>
              <a:t>Pressure Decline Rate Script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Identifies pressure decline periods after stage was fracked</a:t>
            </a:r>
          </a:p>
          <a:p>
            <a:r>
              <a:rPr lang="en-US" sz="1600" dirty="0"/>
              <a:t>and calculates the pressure decline rate (-kPa/min)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FF0000"/>
                </a:solidFill>
              </a:rPr>
              <a:t>* what do these values tell us? *talk w/ Katie</a:t>
            </a:r>
            <a:endParaRPr lang="en-US" sz="1600" b="1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7EF8BF2-79AC-46E1-A9FE-BCDF0546F9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Frac Metric Automation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D45AEA-BBA9-4350-A15A-3D5DEB15F0C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16-33 Spotfire Dashboard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11B77F-C97C-4E42-AC54-72457895FE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b="1" dirty="0" err="1">
                <a:latin typeface="Arial" panose="020B0604020202020204" pitchFamily="34" charset="0"/>
              </a:rPr>
              <a:t>NuVista</a:t>
            </a:r>
            <a:r>
              <a:rPr lang="en-US" b="1" dirty="0">
                <a:latin typeface="Arial" panose="020B0604020202020204" pitchFamily="34" charset="0"/>
              </a:rPr>
              <a:t> Energy Ltd.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0443AD-D78B-4B01-B066-37490C34EA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246DD65-7063-5C41-96CC-23CB1F95FA91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078EA8A8-DEDB-4CD0-91CB-16F6616953DD}"/>
              </a:ext>
            </a:extLst>
          </p:cNvPr>
          <p:cNvSpPr/>
          <p:nvPr/>
        </p:nvSpPr>
        <p:spPr>
          <a:xfrm>
            <a:off x="7638111" y="2554384"/>
            <a:ext cx="3191682" cy="688153"/>
          </a:xfrm>
          <a:prstGeom prst="roundRect">
            <a:avLst/>
          </a:prstGeom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Python Code:</a:t>
            </a:r>
          </a:p>
          <a:p>
            <a:pPr algn="ctr"/>
            <a:r>
              <a:rPr lang="en-US" sz="1600" dirty="0"/>
              <a:t>Rate Drop Detection Algorithm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E486CDC-01FE-4F02-8445-B598574A9509}"/>
              </a:ext>
            </a:extLst>
          </p:cNvPr>
          <p:cNvSpPr txBox="1"/>
          <p:nvPr/>
        </p:nvSpPr>
        <p:spPr>
          <a:xfrm>
            <a:off x="9288605" y="2000362"/>
            <a:ext cx="11391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Input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ABC71E8-5DCD-4ECB-8933-B86892FF7115}"/>
              </a:ext>
            </a:extLst>
          </p:cNvPr>
          <p:cNvSpPr txBox="1"/>
          <p:nvPr/>
        </p:nvSpPr>
        <p:spPr>
          <a:xfrm>
            <a:off x="9322868" y="3405694"/>
            <a:ext cx="11391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Output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DE0B5998-66EB-4DA3-961F-75CEDDF72C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6342" y="365795"/>
            <a:ext cx="5748031" cy="153083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Arrow: Down 7">
            <a:extLst>
              <a:ext uri="{FF2B5EF4-FFF2-40B4-BE49-F238E27FC236}">
                <a16:creationId xmlns:a16="http://schemas.microsoft.com/office/drawing/2014/main" id="{E0350E13-C934-489A-BD12-FB7AE73A3931}"/>
              </a:ext>
            </a:extLst>
          </p:cNvPr>
          <p:cNvSpPr/>
          <p:nvPr/>
        </p:nvSpPr>
        <p:spPr>
          <a:xfrm>
            <a:off x="9083310" y="1939969"/>
            <a:ext cx="300838" cy="526396"/>
          </a:xfrm>
          <a:prstGeom prst="downArrow">
            <a:avLst/>
          </a:prstGeom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Arrow: Down 24">
            <a:extLst>
              <a:ext uri="{FF2B5EF4-FFF2-40B4-BE49-F238E27FC236}">
                <a16:creationId xmlns:a16="http://schemas.microsoft.com/office/drawing/2014/main" id="{3B6D4D56-7ABA-4FA9-A6B0-B24BB775C8B8}"/>
              </a:ext>
            </a:extLst>
          </p:cNvPr>
          <p:cNvSpPr/>
          <p:nvPr/>
        </p:nvSpPr>
        <p:spPr>
          <a:xfrm>
            <a:off x="9120357" y="3306153"/>
            <a:ext cx="300838" cy="526396"/>
          </a:xfrm>
          <a:prstGeom prst="downArrow">
            <a:avLst/>
          </a:prstGeom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60019D1-0177-42B0-A883-D192FEE554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2160" y="3932090"/>
            <a:ext cx="4612889" cy="263982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79B8406F-59CE-4457-BDCD-E4E94D120603}"/>
              </a:ext>
            </a:extLst>
          </p:cNvPr>
          <p:cNvSpPr txBox="1"/>
          <p:nvPr/>
        </p:nvSpPr>
        <p:spPr>
          <a:xfrm>
            <a:off x="7489810" y="64332"/>
            <a:ext cx="45045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Pumping Data (Over 120,000 Datapoints)</a:t>
            </a:r>
          </a:p>
        </p:txBody>
      </p:sp>
    </p:spTree>
    <p:extLst>
      <p:ext uri="{BB962C8B-B14F-4D97-AF65-F5344CB8AC3E}">
        <p14:creationId xmlns:p14="http://schemas.microsoft.com/office/powerpoint/2010/main" val="3039685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77AFC3E-9C55-4096-9F2E-D7143D35D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Frac Planning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EEBEAB-C2E2-4EEA-AA1A-4B599C4AD6B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85132" y="1358840"/>
            <a:ext cx="10515600" cy="229704"/>
          </a:xfrm>
        </p:spPr>
        <p:txBody>
          <a:bodyPr/>
          <a:lstStyle/>
          <a:p>
            <a:r>
              <a:rPr lang="en-US" dirty="0"/>
              <a:t>Dashboard contains geological data, 06-07 frac hits to show communication paths, well proximity buffers, and frac sequencing visualization </a:t>
            </a:r>
            <a:r>
              <a:rPr lang="en-US" dirty="0">
                <a:solidFill>
                  <a:srgbClr val="FF0000"/>
                </a:solidFill>
              </a:rPr>
              <a:t>*mention importance of this pages content, rework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D3E7A11-0C19-4DB5-B708-72DEDB6C1D7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16-33 Spotfire Dashboard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A7E9E7-B58E-4321-BF59-F8BD6F75A2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6EB550-5659-48A4-90DB-A8C4EAEB16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246DD65-7063-5C41-96CC-23CB1F95FA91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C0C1C8C5-240D-4EB0-8334-65A927FBB7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996" y="3569885"/>
            <a:ext cx="3121478" cy="432941"/>
          </a:xfrm>
        </p:spPr>
        <p:txBody>
          <a:bodyPr/>
          <a:lstStyle/>
          <a:p>
            <a:r>
              <a:rPr lang="en-US" sz="1400" dirty="0">
                <a:solidFill>
                  <a:srgbClr val="FF0000"/>
                </a:solidFill>
              </a:rPr>
              <a:t>*Add a comparison to prior planning workflow – talk w/ Brian}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DBB042D-DE85-45D1-AC76-943620BE94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1879" y="2241400"/>
            <a:ext cx="5555796" cy="4400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1868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AED592E-B5D2-4B9F-B147-0CD75E396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Seismic Array Data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21A373-98A0-4484-B7FA-3DAE177CDDC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0203" y="1331650"/>
            <a:ext cx="10515600" cy="229704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Integrated Python-driven seismic monitoring to identify seismic risks, </a:t>
            </a:r>
            <a:r>
              <a:rPr lang="en-US" dirty="0">
                <a:solidFill>
                  <a:srgbClr val="FF0000"/>
                </a:solidFill>
              </a:rPr>
              <a:t>{*include point on proactive benefits in the case high magnitude was present – talk to MW}</a:t>
            </a:r>
            <a:r>
              <a:rPr lang="en-US" dirty="0"/>
              <a:t>, and deepen understanding of fracture propagation.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BF2C2F9-6FD0-4F38-B6F6-4D927BBA3A8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16-33 Spotfire Dashboard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65233A-1D24-41C5-8359-6260E00502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b="1" dirty="0" err="1">
                <a:latin typeface="Arial" panose="020B0604020202020204" pitchFamily="34" charset="0"/>
              </a:rPr>
              <a:t>NuVista</a:t>
            </a:r>
            <a:r>
              <a:rPr lang="en-US" b="1" dirty="0">
                <a:latin typeface="Arial" panose="020B0604020202020204" pitchFamily="34" charset="0"/>
              </a:rPr>
              <a:t> Energy Ltd.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42BC27-ED72-4106-B0CB-56E68276EB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246DD65-7063-5C41-96CC-23CB1F95FA91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9BEE32E-8F87-42DA-9EE8-2CC560952FA0}"/>
              </a:ext>
            </a:extLst>
          </p:cNvPr>
          <p:cNvSpPr txBox="1"/>
          <p:nvPr/>
        </p:nvSpPr>
        <p:spPr>
          <a:xfrm>
            <a:off x="146957" y="2982294"/>
            <a:ext cx="18805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Seismic Array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C214666-A9F9-4F9D-86CE-885AA15CD3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280" y="3316549"/>
            <a:ext cx="1296367" cy="202734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7730E9E-A627-40C7-AB98-EF68B79EC0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1068" y="3665577"/>
            <a:ext cx="1045139" cy="1045139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1D684E78-29AA-404E-B997-2CF22B39E2AF}"/>
              </a:ext>
            </a:extLst>
          </p:cNvPr>
          <p:cNvSpPr txBox="1"/>
          <p:nvPr/>
        </p:nvSpPr>
        <p:spPr>
          <a:xfrm>
            <a:off x="1905398" y="2862562"/>
            <a:ext cx="320544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Python Code:</a:t>
            </a:r>
          </a:p>
          <a:p>
            <a:pPr algn="ctr"/>
            <a:r>
              <a:rPr lang="en-US" b="1" dirty="0"/>
              <a:t>Connects to seismic database &amp; classifies events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50EFA1B-2CF6-448F-8427-EBB9985FFB0E}"/>
              </a:ext>
            </a:extLst>
          </p:cNvPr>
          <p:cNvCxnSpPr>
            <a:cxnSpLocks/>
          </p:cNvCxnSpPr>
          <p:nvPr/>
        </p:nvCxnSpPr>
        <p:spPr>
          <a:xfrm>
            <a:off x="1653268" y="4204607"/>
            <a:ext cx="1518557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024EC33B-9770-4EA2-9E95-6B26342AB658}"/>
              </a:ext>
            </a:extLst>
          </p:cNvPr>
          <p:cNvCxnSpPr>
            <a:cxnSpLocks/>
          </p:cNvCxnSpPr>
          <p:nvPr/>
        </p:nvCxnSpPr>
        <p:spPr>
          <a:xfrm>
            <a:off x="4000970" y="4173310"/>
            <a:ext cx="173763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E71A4DBD-AB71-4F37-AF9F-9A395D664D94}"/>
              </a:ext>
            </a:extLst>
          </p:cNvPr>
          <p:cNvSpPr txBox="1"/>
          <p:nvPr/>
        </p:nvSpPr>
        <p:spPr>
          <a:xfrm>
            <a:off x="6624066" y="2797193"/>
            <a:ext cx="37609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Live Spotfire Visualization Output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F77B5002-04E6-467F-92EF-4D5B23044C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8602" y="3166960"/>
            <a:ext cx="5980708" cy="2536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24010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2B2C273-AEE1-461A-B685-6120AFE8EE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03216"/>
            <a:ext cx="10515600" cy="391297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BD91363-B186-4AC0-BEBD-83754C2DDD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Machine Learning to Cluster Seismic Events (DBSCAN)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55B0BB-7543-4208-8D88-7C0066A88AE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200" y="1268140"/>
            <a:ext cx="10515600" cy="229704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Machine learning algorithm clusters data by grouping points based on their density, without need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Clusters events based on the location and time they occur, can be changed to give more weight to different variables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82B5676-BAF5-4CA8-A2CD-4BC142D1BC1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16-33 Spotfire Dashboard – Machine Learning</a:t>
            </a:r>
          </a:p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ACE918-B0DF-42B5-A334-05289C6821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B72171-7C31-452F-B325-AD41C03543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246DD65-7063-5C41-96CC-23CB1F95FA91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A2E644F-35FD-4FC1-8B16-BEE6EB171A5D}"/>
              </a:ext>
            </a:extLst>
          </p:cNvPr>
          <p:cNvSpPr txBox="1"/>
          <p:nvPr/>
        </p:nvSpPr>
        <p:spPr>
          <a:xfrm>
            <a:off x="2388054" y="2836057"/>
            <a:ext cx="315957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Slide recomplete after talk w/ Matt White -&gt; ensure high level and clear</a:t>
            </a:r>
          </a:p>
        </p:txBody>
      </p:sp>
    </p:spTree>
    <p:extLst>
      <p:ext uri="{BB962C8B-B14F-4D97-AF65-F5344CB8AC3E}">
        <p14:creationId xmlns:p14="http://schemas.microsoft.com/office/powerpoint/2010/main" val="425287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NuVista 1">
      <a:dk1>
        <a:srgbClr val="013E6A"/>
      </a:dk1>
      <a:lt1>
        <a:srgbClr val="FFFFFF"/>
      </a:lt1>
      <a:dk2>
        <a:srgbClr val="007FC5"/>
      </a:dk2>
      <a:lt2>
        <a:srgbClr val="EEEEEE"/>
      </a:lt2>
      <a:accent1>
        <a:srgbClr val="00B3EC"/>
      </a:accent1>
      <a:accent2>
        <a:srgbClr val="2BA73B"/>
      </a:accent2>
      <a:accent3>
        <a:srgbClr val="8093A2"/>
      </a:accent3>
      <a:accent4>
        <a:srgbClr val="008C72"/>
      </a:accent4>
      <a:accent5>
        <a:srgbClr val="D86D00"/>
      </a:accent5>
      <a:accent6>
        <a:srgbClr val="FFD145"/>
      </a:accent6>
      <a:hlink>
        <a:srgbClr val="00B4EC"/>
      </a:hlink>
      <a:folHlink>
        <a:srgbClr val="013E6A"/>
      </a:folHlink>
    </a:clrScheme>
    <a:fontScheme name="NuVista">
      <a:majorFont>
        <a:latin typeface="Roboto Medium"/>
        <a:ea typeface=""/>
        <a:cs typeface=""/>
      </a:majorFont>
      <a:minorFont>
        <a:latin typeface="Robo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ardinal" id="{E097D04B-40D9-2E4A-9293-9D4A30648264}" vid="{F0E31ECF-BAC4-FB41-9B86-D1547383E27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A56584E-0507-4745-816C-AF496AF9464E}">
  <we:reference id="wa104381063" version="1.0.0.1" store="en-US" storeType="OMEX"/>
  <we:alternateReferences>
    <we:reference id="WA104381063" version="1.0.0.1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20707</TotalTime>
  <Words>925</Words>
  <Application>Microsoft Office PowerPoint</Application>
  <PresentationFormat>Widescreen</PresentationFormat>
  <Paragraphs>126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Roboto Light</vt:lpstr>
      <vt:lpstr>Roboto Medium</vt:lpstr>
      <vt:lpstr>Arial</vt:lpstr>
      <vt:lpstr>Roboto</vt:lpstr>
      <vt:lpstr>Office Theme</vt:lpstr>
      <vt:lpstr>Marcus Kittelson</vt:lpstr>
      <vt:lpstr>Summer Students- Final Presentation   </vt:lpstr>
      <vt:lpstr>Introduction</vt:lpstr>
      <vt:lpstr>Project Description</vt:lpstr>
      <vt:lpstr>16-33 Spotfire Dashboard</vt:lpstr>
      <vt:lpstr>Initial Shut-In Pressure (ISIP) </vt:lpstr>
      <vt:lpstr>Frac Metric Automation</vt:lpstr>
      <vt:lpstr>Frac Planning</vt:lpstr>
      <vt:lpstr>Seismic Array Data</vt:lpstr>
      <vt:lpstr>Machine Learning to Cluster Seismic Events (DBSCAN)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Marcus Kittelson LT Presentation</dc:title>
  <dc:subject/>
  <dc:creator>Marcus Kittelson</dc:creator>
  <cp:lastModifiedBy>Marcus Kittelson</cp:lastModifiedBy>
  <cp:revision>499</cp:revision>
  <cp:lastPrinted>2023-07-27T19:01:59Z</cp:lastPrinted>
  <dcterms:created xsi:type="dcterms:W3CDTF">2020-02-25T19:46:46Z</dcterms:created>
  <dcterms:modified xsi:type="dcterms:W3CDTF">2024-08-22T20:17:00Z</dcterms:modified>
</cp:coreProperties>
</file>