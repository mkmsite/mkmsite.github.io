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14" r:id="rId2"/>
    <p:sldId id="752" r:id="rId3"/>
    <p:sldId id="756" r:id="rId4"/>
    <p:sldId id="754" r:id="rId5"/>
    <p:sldId id="755" r:id="rId6"/>
    <p:sldId id="75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901" autoAdjust="0"/>
  </p:normalViewPr>
  <p:slideViewPr>
    <p:cSldViewPr snapToGrid="0">
      <p:cViewPr varScale="1">
        <p:scale>
          <a:sx n="138" d="100"/>
          <a:sy n="138" d="100"/>
        </p:scale>
        <p:origin x="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71AC-A0D8-4729-8BDF-1C6A319ECCB9}" type="datetimeFigureOut">
              <a:rPr lang="en-US" smtClean="0"/>
              <a:t>10/4/2024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64DE-67DF-4D4C-916D-CA1852999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37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71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026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447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1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01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6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43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38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55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55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D828-B38D-4EC1-AA4E-CD5B7412B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1129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294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612436"/>
            <a:ext cx="7462421" cy="2105723"/>
          </a:xfrm>
        </p:spPr>
        <p:txBody>
          <a:bodyPr anchor="t"/>
          <a:lstStyle/>
          <a:p>
            <a:r>
              <a:rPr lang="en-US" sz="4400" dirty="0"/>
              <a:t>Clustering Seismic 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ea typeface="Roboto Light" panose="02000000000000000000" pitchFamily="2" charset="0"/>
              </a:rPr>
              <a:t>June 2024</a:t>
            </a:r>
            <a:endParaRPr lang="en-US" sz="1400" dirty="0">
              <a:latin typeface="Arial" panose="020B0604020202020204" pitchFamily="34" charset="0"/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BBD900-2B25-5662-E36E-EB60D12F8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35" y="2513644"/>
            <a:ext cx="10515600" cy="3206988"/>
          </a:xfrm>
        </p:spPr>
        <p:txBody>
          <a:bodyPr/>
          <a:lstStyle/>
          <a:p>
            <a:endParaRPr lang="en-US" sz="1800" b="1" dirty="0"/>
          </a:p>
          <a:p>
            <a:r>
              <a:rPr lang="en-US" sz="1800" b="1" dirty="0"/>
              <a:t>Key Benefits:</a:t>
            </a:r>
            <a:endParaRPr lang="en-US" dirty="0"/>
          </a:p>
          <a:p>
            <a:r>
              <a:rPr lang="en-US" sz="1800" dirty="0"/>
              <a:t> - Detects clusters of any shape, ideal for irregular patterns in fracking-induced seismicity.</a:t>
            </a:r>
          </a:p>
          <a:p>
            <a:r>
              <a:rPr lang="en-US" sz="1800" dirty="0"/>
              <a:t> - No need to predefine cluster count, allowing natural event grouping.</a:t>
            </a:r>
          </a:p>
          <a:p>
            <a:r>
              <a:rPr lang="en-US" sz="1800" dirty="0"/>
              <a:t> - Captures trends in both space and time (</a:t>
            </a:r>
            <a:r>
              <a:rPr lang="en-US" sz="1800" dirty="0" err="1"/>
              <a:t>lat</a:t>
            </a:r>
            <a:r>
              <a:rPr lang="en-US" sz="1800" dirty="0"/>
              <a:t>, long and time)</a:t>
            </a:r>
          </a:p>
          <a:p>
            <a:endParaRPr lang="en-US" sz="1800" dirty="0"/>
          </a:p>
          <a:p>
            <a:r>
              <a:rPr lang="en-US" sz="1800" b="1" dirty="0"/>
              <a:t>Added Features</a:t>
            </a:r>
            <a:endParaRPr lang="en-US" sz="1800" dirty="0"/>
          </a:p>
          <a:p>
            <a:r>
              <a:rPr lang="en-US" sz="1800" b="1" dirty="0"/>
              <a:t> </a:t>
            </a:r>
            <a:r>
              <a:rPr lang="en-US" sz="1800" dirty="0"/>
              <a:t>-  Added scaling to prioritize/scale time or spatial as desired – allowing for a more in depth and vigorous</a:t>
            </a:r>
          </a:p>
          <a:p>
            <a:r>
              <a:rPr lang="en-US" sz="1800" dirty="0"/>
              <a:t>    dive into the data</a:t>
            </a:r>
            <a:endParaRPr lang="en-US" sz="18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59F5A7-19C3-2B37-AB8B-719D6C68F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Density-Based Spatial Clustering Algorithm (DBSCAN)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BCE361-2932-DF86-76CD-40866E65F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Groups events based on proximity, without predefining the number of clusters allowing for It provides unbiased, data-driven clustering, reflecting the true distribution of seismic events without assumptions or artificial constraints.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E015F-399B-AD7C-0854-384AC8875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1D158-AB32-3DF4-ADCE-0F894CE6DA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89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graph of a graph with a red green and blue circle&#10;&#10;Description automatically generated with medium confidence">
            <a:extLst>
              <a:ext uri="{FF2B5EF4-FFF2-40B4-BE49-F238E27FC236}">
                <a16:creationId xmlns:a16="http://schemas.microsoft.com/office/drawing/2014/main" id="{9B539511-A250-127E-03EA-69A589B8B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801" y="2886259"/>
            <a:ext cx="8726058" cy="3878248"/>
          </a:xfr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A3889-29A8-8792-89E5-ED2E5DEBA8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BFEB1-19EC-FF9E-FE6E-7D62B0887A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Picture 10" descr="A diagram of a diagram of a core point&#10;&#10;Description automatically generated with medium confidence">
            <a:extLst>
              <a:ext uri="{FF2B5EF4-FFF2-40B4-BE49-F238E27FC236}">
                <a16:creationId xmlns:a16="http://schemas.microsoft.com/office/drawing/2014/main" id="{7AF7F2E4-F1A7-E97C-6612-EBBBD1A0D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2" y="-24418"/>
            <a:ext cx="3807950" cy="327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563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36AD43-FA88-B153-3AC7-09E9E53B8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ACEF9C-9D22-8E6B-B2F1-5E6DEC0FE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187" y="188960"/>
            <a:ext cx="10515600" cy="1033508"/>
          </a:xfrm>
        </p:spPr>
        <p:txBody>
          <a:bodyPr/>
          <a:lstStyle/>
          <a:p>
            <a:r>
              <a:rPr lang="en-US" dirty="0"/>
              <a:t>Min Pts = 20, Spatial = 0.7, Temporal  =  0.5, EPS = 1.85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685B6-A87F-2497-4C00-1E89320514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B88E5-FFBC-F561-6010-90371A0D60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4959C-51C1-D1D6-31A9-973052CF9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15AEFC-1194-3114-D05B-CFEFE5F32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6" y="705714"/>
            <a:ext cx="12138832" cy="597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540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567206-6650-EA13-04BA-804ED1C0B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023" y="292885"/>
            <a:ext cx="10515600" cy="1033508"/>
          </a:xfrm>
        </p:spPr>
        <p:txBody>
          <a:bodyPr/>
          <a:lstStyle/>
          <a:p>
            <a:r>
              <a:rPr lang="en-US" dirty="0"/>
              <a:t>Min pts = 25, Spatial = 0.5, Temporal = 0.5, EPS = 2.00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DCB3B-D187-EBFA-7192-D71D87B9FD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197B8-51B8-30C5-5A2C-C3EF55D95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043CC8-8C8C-50E8-F8E3-799785510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23917"/>
            <a:ext cx="11887200" cy="5248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B89F36-CC01-39B2-3072-05E652B246D8}"/>
              </a:ext>
            </a:extLst>
          </p:cNvPr>
          <p:cNvSpPr txBox="1"/>
          <p:nvPr/>
        </p:nvSpPr>
        <p:spPr>
          <a:xfrm>
            <a:off x="3440801" y="6211669"/>
            <a:ext cx="6954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Takeaway: Macro groupings (only 2 groups met criteria) both show fault correlation </a:t>
            </a:r>
          </a:p>
        </p:txBody>
      </p:sp>
    </p:spTree>
    <p:extLst>
      <p:ext uri="{BB962C8B-B14F-4D97-AF65-F5344CB8AC3E}">
        <p14:creationId xmlns:p14="http://schemas.microsoft.com/office/powerpoint/2010/main" val="4016534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53E328-5236-41AD-8746-D356CC6CE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D33C8-8972-4233-BD27-A0BCB63C51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5EE4C4-9715-48A4-83E3-556CFCF7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3" y="755712"/>
            <a:ext cx="5108622" cy="27263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C08FE6-1E0F-4D5E-9609-B8B8625575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54" r="15496"/>
          <a:stretch/>
        </p:blipFill>
        <p:spPr>
          <a:xfrm>
            <a:off x="59123" y="3482109"/>
            <a:ext cx="6645645" cy="26922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4B428C-FB81-4B55-A1AE-2F3383669C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944" y="683685"/>
            <a:ext cx="6228933" cy="27795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BE2E09-1FDC-7A99-6067-0100FD5517A7}"/>
              </a:ext>
            </a:extLst>
          </p:cNvPr>
          <p:cNvSpPr txBox="1"/>
          <p:nvPr/>
        </p:nvSpPr>
        <p:spPr>
          <a:xfrm>
            <a:off x="8130563" y="4736714"/>
            <a:ext cx="25743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Takeaway: On azimuth, azimuth change likely due to fracking A repeatedly on tail end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B916E237-B860-D576-D0D5-4AA53EE6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600" y="238958"/>
            <a:ext cx="10515600" cy="1033508"/>
          </a:xfrm>
        </p:spPr>
        <p:txBody>
          <a:bodyPr/>
          <a:lstStyle/>
          <a:p>
            <a:r>
              <a:rPr lang="en-US" dirty="0"/>
              <a:t>Min Pts = 15</a:t>
            </a:r>
          </a:p>
        </p:txBody>
      </p:sp>
    </p:spTree>
    <p:extLst>
      <p:ext uri="{BB962C8B-B14F-4D97-AF65-F5344CB8AC3E}">
        <p14:creationId xmlns:p14="http://schemas.microsoft.com/office/powerpoint/2010/main" val="8424906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5491</TotalTime>
  <Words>216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Roboto</vt:lpstr>
      <vt:lpstr>Roboto Light</vt:lpstr>
      <vt:lpstr>1_Office Theme</vt:lpstr>
      <vt:lpstr>Clustering Seismic  </vt:lpstr>
      <vt:lpstr>Density-Based Spatial Clustering Algorithm (DBSCAN)</vt:lpstr>
      <vt:lpstr>PowerPoint Presentation</vt:lpstr>
      <vt:lpstr>Min Pts = 20, Spatial = 0.7, Temporal  =  0.5, EPS = 1.85</vt:lpstr>
      <vt:lpstr>Min pts = 25, Spatial = 0.5, Temporal = 0.5, EPS = 2.00</vt:lpstr>
      <vt:lpstr>Min Pts =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Wapiti FDP Gold Creek and Elmworth Infrastructure Considerations</dc:title>
  <dc:creator>Thomas Litchfield</dc:creator>
  <cp:lastModifiedBy>Marcus Kittelson</cp:lastModifiedBy>
  <cp:revision>198</cp:revision>
  <dcterms:created xsi:type="dcterms:W3CDTF">2022-02-01T19:15:29Z</dcterms:created>
  <dcterms:modified xsi:type="dcterms:W3CDTF">2024-10-07T19:16:51Z</dcterms:modified>
</cp:coreProperties>
</file>