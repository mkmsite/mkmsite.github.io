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14"/>
  </p:notesMasterIdLst>
  <p:sldIdLst>
    <p:sldId id="314" r:id="rId2"/>
    <p:sldId id="315" r:id="rId3"/>
    <p:sldId id="329" r:id="rId4"/>
    <p:sldId id="330" r:id="rId5"/>
    <p:sldId id="327" r:id="rId6"/>
    <p:sldId id="316" r:id="rId7"/>
    <p:sldId id="317" r:id="rId8"/>
    <p:sldId id="321" r:id="rId9"/>
    <p:sldId id="322" r:id="rId10"/>
    <p:sldId id="323" r:id="rId11"/>
    <p:sldId id="325" r:id="rId12"/>
    <p:sldId id="326" r:id="rId13"/>
  </p:sldIdLst>
  <p:sldSz cx="12192000" cy="6858000"/>
  <p:notesSz cx="9296400" cy="7010400"/>
  <p:embeddedFontLst>
    <p:embeddedFont>
      <p:font typeface="Roboto" panose="02000000000000000000" pitchFamily="2" charset="0"/>
      <p:regular r:id="rId15"/>
      <p:bold r:id="rId16"/>
      <p:italic r:id="rId17"/>
      <p:boldItalic r:id="rId18"/>
    </p:embeddedFont>
    <p:embeddedFont>
      <p:font typeface="Roboto Light" panose="02000000000000000000" pitchFamily="2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FF1"/>
    <a:srgbClr val="2CA73C"/>
    <a:srgbClr val="FDFDFD"/>
    <a:srgbClr val="000000"/>
    <a:srgbClr val="D6D6D6"/>
    <a:srgbClr val="EEEEEE"/>
    <a:srgbClr val="E6E6E6"/>
    <a:srgbClr val="00B3ED"/>
    <a:srgbClr val="DBE1E5"/>
    <a:srgbClr val="A0AE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0" autoAdjust="0"/>
    <p:restoredTop sz="95930" autoAdjust="0"/>
  </p:normalViewPr>
  <p:slideViewPr>
    <p:cSldViewPr snapToGrid="0" snapToObjects="1">
      <p:cViewPr varScale="1">
        <p:scale>
          <a:sx n="162" d="100"/>
          <a:sy n="162" d="100"/>
        </p:scale>
        <p:origin x="120" y="236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7462421" cy="2105723"/>
          </a:xfrm>
        </p:spPr>
        <p:txBody>
          <a:bodyPr/>
          <a:lstStyle/>
          <a:p>
            <a:r>
              <a:rPr lang="en-US" dirty="0"/>
              <a:t>BIR DV </a:t>
            </a:r>
            <a:r>
              <a:rPr lang="en-US" dirty="0" err="1"/>
              <a:t>Dataswap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May 2025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CD71-9F6B-4361-9556-16E888E9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34298"/>
            <a:ext cx="4114800" cy="138499"/>
          </a:xfrm>
        </p:spPr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B8FD-2130-4C06-8879-0CEC0737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2BA6FC-D3BE-BF51-7B8C-96D6EB2D1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3" y="716837"/>
            <a:ext cx="5432768" cy="5596467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8C2699-A9A1-D028-AA85-619778F72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170756"/>
              </p:ext>
            </p:extLst>
          </p:nvPr>
        </p:nvGraphicFramePr>
        <p:xfrm>
          <a:off x="5624301" y="104394"/>
          <a:ext cx="6411067" cy="66749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00024">
                  <a:extLst>
                    <a:ext uri="{9D8B030D-6E8A-4147-A177-3AD203B41FA5}">
                      <a16:colId xmlns:a16="http://schemas.microsoft.com/office/drawing/2014/main" val="4284917384"/>
                    </a:ext>
                  </a:extLst>
                </a:gridCol>
                <a:gridCol w="962842">
                  <a:extLst>
                    <a:ext uri="{9D8B030D-6E8A-4147-A177-3AD203B41FA5}">
                      <a16:colId xmlns:a16="http://schemas.microsoft.com/office/drawing/2014/main" val="315440634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3963300944"/>
                    </a:ext>
                  </a:extLst>
                </a:gridCol>
                <a:gridCol w="503766">
                  <a:extLst>
                    <a:ext uri="{9D8B030D-6E8A-4147-A177-3AD203B41FA5}">
                      <a16:colId xmlns:a16="http://schemas.microsoft.com/office/drawing/2014/main" val="1595688629"/>
                    </a:ext>
                  </a:extLst>
                </a:gridCol>
                <a:gridCol w="516467">
                  <a:extLst>
                    <a:ext uri="{9D8B030D-6E8A-4147-A177-3AD203B41FA5}">
                      <a16:colId xmlns:a16="http://schemas.microsoft.com/office/drawing/2014/main" val="2770314648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3848402178"/>
                    </a:ext>
                  </a:extLst>
                </a:gridCol>
                <a:gridCol w="499533">
                  <a:extLst>
                    <a:ext uri="{9D8B030D-6E8A-4147-A177-3AD203B41FA5}">
                      <a16:colId xmlns:a16="http://schemas.microsoft.com/office/drawing/2014/main" val="3304389922"/>
                    </a:ext>
                  </a:extLst>
                </a:gridCol>
                <a:gridCol w="656167">
                  <a:extLst>
                    <a:ext uri="{9D8B030D-6E8A-4147-A177-3AD203B41FA5}">
                      <a16:colId xmlns:a16="http://schemas.microsoft.com/office/drawing/2014/main" val="2891312454"/>
                    </a:ext>
                  </a:extLst>
                </a:gridCol>
                <a:gridCol w="850901">
                  <a:extLst>
                    <a:ext uri="{9D8B030D-6E8A-4147-A177-3AD203B41FA5}">
                      <a16:colId xmlns:a16="http://schemas.microsoft.com/office/drawing/2014/main" val="288839406"/>
                    </a:ext>
                  </a:extLst>
                </a:gridCol>
              </a:tblGrid>
              <a:tr h="35371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PAD_LOCATION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BIR_UWI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BIR_ZONE_SHORT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VINTAGE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STAGES ANALYSED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BIR TRIAL/COMMENTS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b="1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Stabilized CGR</a:t>
                      </a: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b="1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Average Intensity (T/m)</a:t>
                      </a: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b="1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Average Stage Length (m)</a:t>
                      </a:r>
                    </a:p>
                  </a:txBody>
                  <a:tcPr marL="24889" marR="24889" marT="0" marB="0" anchor="b"/>
                </a:tc>
                <a:extLst>
                  <a:ext uri="{0D108BD9-81ED-4DB2-BD59-A6C34878D82A}">
                    <a16:rowId xmlns:a16="http://schemas.microsoft.com/office/drawing/2014/main" val="2047070249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14-19-079-12W6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105/10-18-079-12W6/0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18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Cluster count (4, 5, 6 and 8)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11662"/>
                  </a:ext>
                </a:extLst>
              </a:tr>
              <a:tr h="2516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14-19-079-12W6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106/10-18-079-12W6/0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Cluster count (3,4,5) and oriented versus not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46477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100/04-12-079-13W6/0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2023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8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5 versus 8 cluster only heel half of the well analysed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42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92527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14-19-079-12W6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104/10-18-079-12W6/0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15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cluster count (5, 6, 8)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115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44286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14-28-077-13W6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100/07-22-077-13W6/0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E3+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upper montney cluster uniformity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10-15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110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469550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102/02-07-078-13W6/0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E3+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28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high tonnage 3 TPM on entire well,6vs 8 clusters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10-15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650638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102/05-12-079-13W6/0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2023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alternating 5 and 10 cluster design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065044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05-07-079-11W6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102/14-13-079-12W6/0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23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Parent vs non parent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288518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100/10-07-078-13W6/0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E3+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4 vs 6 cluster design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10-15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260136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102/13-34-077-13W6/0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2022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depletion response on cluster efficiency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&lt;10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894620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102/08-36-078-13W6/0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16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effect of tonnage and stage length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057625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13-29-077-12W6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103/14-21-077-12W6/0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Parent vs non parent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&lt;10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212615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100/07-06-078-13W6/0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E3+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13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effect of depletion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091131"/>
                  </a:ext>
                </a:extLst>
              </a:tr>
              <a:tr h="26648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13-29-077-12W6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100/16-21-077-12W6/0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24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Parent vs non parent and perf orientation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10-15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8127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01-10-078-11W6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103/08-02-078-11W6/0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2019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19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35-50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105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389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01-10-078-11W6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102/08-02-078-11W6/0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2019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35-50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65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904653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102/04-12-079-13W6/0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2023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far to near field geometry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145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70587"/>
                  </a:ext>
                </a:extLst>
              </a:tr>
              <a:tr h="284117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05-07-079-11W6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100/13-13-079-12W6/0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D1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25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DFIT-FBA and cluster relationship, parent vs non parent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8157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100/04-31-078-12W6/0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effect of tonnage and stage length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315509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100/08-36-078-13W6/0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C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16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effect of tonnage and stage length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1.7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35132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14-28-077-13W6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102/07-06-078-13W6/0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5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depletion response on cluster efficiency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&lt;10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877521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100/05-35-077-13W6/0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37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cluster design (number and spacing)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&lt;10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550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09-21-078-11W6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106/14-29-078-11W6/0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2019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cluster design (number and spacing)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N/a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N/a</a:t>
                      </a:r>
                    </a:p>
                  </a:txBody>
                  <a:tcPr marL="24889" marR="24889" marT="0" marB="0" anchor="ctr">
                    <a:solidFill>
                      <a:srgbClr val="EB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385264"/>
                  </a:ext>
                </a:extLst>
              </a:tr>
              <a:tr h="2665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14-19-079-12W6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100/11-18-079-12W6/0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far to near field geometry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29002"/>
                  </a:ext>
                </a:extLst>
              </a:tr>
            </a:tbl>
          </a:graphicData>
        </a:graphic>
      </p:graphicFrame>
      <p:sp>
        <p:nvSpPr>
          <p:cNvPr id="13" name="Title 2">
            <a:extLst>
              <a:ext uri="{FF2B5EF4-FFF2-40B4-BE49-F238E27FC236}">
                <a16:creationId xmlns:a16="http://schemas.microsoft.com/office/drawing/2014/main" id="{8CD8E343-F50F-0B7D-3E77-E26E7786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66" y="232229"/>
            <a:ext cx="2017102" cy="495904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14332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914CCD-2937-E7A1-3EA8-372520F3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9" y="130267"/>
            <a:ext cx="10515600" cy="1033508"/>
          </a:xfrm>
        </p:spPr>
        <p:txBody>
          <a:bodyPr/>
          <a:lstStyle/>
          <a:p>
            <a:r>
              <a:rPr lang="en-US" dirty="0"/>
              <a:t>Recommendation - Data Tiering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732EBD9-9A77-8FBB-9F63-C135E35AD3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238482"/>
              </p:ext>
            </p:extLst>
          </p:nvPr>
        </p:nvGraphicFramePr>
        <p:xfrm>
          <a:off x="1031077" y="574705"/>
          <a:ext cx="10129845" cy="625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377">
                  <a:extLst>
                    <a:ext uri="{9D8B030D-6E8A-4147-A177-3AD203B41FA5}">
                      <a16:colId xmlns:a16="http://schemas.microsoft.com/office/drawing/2014/main" val="2782997244"/>
                    </a:ext>
                  </a:extLst>
                </a:gridCol>
                <a:gridCol w="2102377">
                  <a:extLst>
                    <a:ext uri="{9D8B030D-6E8A-4147-A177-3AD203B41FA5}">
                      <a16:colId xmlns:a16="http://schemas.microsoft.com/office/drawing/2014/main" val="865991953"/>
                    </a:ext>
                  </a:extLst>
                </a:gridCol>
                <a:gridCol w="2150009">
                  <a:extLst>
                    <a:ext uri="{9D8B030D-6E8A-4147-A177-3AD203B41FA5}">
                      <a16:colId xmlns:a16="http://schemas.microsoft.com/office/drawing/2014/main" val="3975573759"/>
                    </a:ext>
                  </a:extLst>
                </a:gridCol>
                <a:gridCol w="3775082">
                  <a:extLst>
                    <a:ext uri="{9D8B030D-6E8A-4147-A177-3AD203B41FA5}">
                      <a16:colId xmlns:a16="http://schemas.microsoft.com/office/drawing/2014/main" val="746205125"/>
                    </a:ext>
                  </a:extLst>
                </a:gridCol>
              </a:tblGrid>
              <a:tr h="306867"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</a:rPr>
                        <a:t>Tier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</a:rPr>
                        <a:t>UWI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</a:rPr>
                        <a:t>Reason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</a:rPr>
                        <a:t>Reservoir/Design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240169"/>
                  </a:ext>
                </a:extLst>
              </a:tr>
              <a:tr h="386198">
                <a:tc rowSpan="3">
                  <a:txBody>
                    <a:bodyPr/>
                    <a:lstStyle/>
                    <a:p>
                      <a:pPr algn="ctr"/>
                      <a:r>
                        <a:rPr lang="en-CA" sz="5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100/04-12-079-13W6/0</a:t>
                      </a:r>
                      <a:b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(MNTN C)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Tight Stage Spacing </a:t>
                      </a:r>
                    </a:p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(40m average)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1T/m &amp; 30bbl/</a:t>
                      </a:r>
                      <a:r>
                        <a:rPr lang="en-CA" sz="1000" dirty="0" err="1">
                          <a:solidFill>
                            <a:schemeClr val="bg1"/>
                          </a:solidFill>
                        </a:rPr>
                        <a:t>mmcf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 &amp; 25-100m/stage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755018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102/05-12-079-13W6/0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(MNTN D1)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vs 10 Cluster Test </a:t>
                      </a:r>
                      <a:b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(Cluster Spacing Test)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1T/m &amp; 12bbl/</a:t>
                      </a:r>
                      <a:r>
                        <a:rPr lang="en-CA" sz="10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mmcf</a:t>
                      </a:r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100m/stage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229825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100/08-36-078-13W6/0</a:t>
                      </a:r>
                    </a:p>
                    <a:p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(MNTN C)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Intensity &amp; Stage Length Test</a:t>
                      </a:r>
                    </a:p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(1-3T/m &amp; 110/140m)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1.7T/m &amp; 17bbl/</a:t>
                      </a:r>
                      <a:r>
                        <a:rPr lang="en-US" sz="1000" dirty="0" err="1">
                          <a:solidFill>
                            <a:schemeClr val="bg1"/>
                          </a:solidFill>
                        </a:rPr>
                        <a:t>mmcf</a:t>
                      </a: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 &amp; 110-140m/stage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062224"/>
                  </a:ext>
                </a:extLst>
              </a:tr>
              <a:tr h="386198">
                <a:tc rowSpan="7">
                  <a:txBody>
                    <a:bodyPr/>
                    <a:lstStyle/>
                    <a:p>
                      <a:pPr algn="ctr"/>
                      <a:r>
                        <a:rPr lang="en-US" sz="50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105/10-18-079-12W6/0</a:t>
                      </a:r>
                      <a:b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(MNTN C)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Cluster Count Test </a:t>
                      </a:r>
                    </a:p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(4, 5, 6 &amp; 8)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1.5T/m &amp; 30bbl/</a:t>
                      </a:r>
                      <a:r>
                        <a:rPr lang="en-CA" sz="1000" dirty="0" err="1">
                          <a:solidFill>
                            <a:schemeClr val="bg1"/>
                          </a:solidFill>
                        </a:rPr>
                        <a:t>mmcf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 &amp; 80-140m/stage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00442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106/10-18-079-12W6/0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(MNTN D2)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Cluster Count Test </a:t>
                      </a:r>
                    </a:p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(3, 4 &amp; 5)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1T/m &amp; 30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bbl/</a:t>
                      </a:r>
                      <a:r>
                        <a:rPr lang="en-CA" sz="1000" dirty="0" err="1">
                          <a:solidFill>
                            <a:schemeClr val="bg1"/>
                          </a:solidFill>
                        </a:rPr>
                        <a:t>mmcf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 &amp; 75-140m/stage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380436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102/02-07-078-13W6/0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(MNTN E3+)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High Intensity </a:t>
                      </a:r>
                    </a:p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(3T/m)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3T/m &amp; 12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bbl/</a:t>
                      </a:r>
                      <a:r>
                        <a:rPr lang="en-CA" sz="1000" dirty="0" err="1">
                          <a:solidFill>
                            <a:schemeClr val="bg1"/>
                          </a:solidFill>
                        </a:rPr>
                        <a:t>mmcf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 &amp; 80m/stage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281231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pPr algn="ctr"/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100/10-07-078-13W6/0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E3+)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4 vs 6 Cluster Test</a:t>
                      </a:r>
                    </a:p>
                    <a:p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(Cluster Spacing Test)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1T/m &amp; </a:t>
                      </a:r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bbl/</a:t>
                      </a:r>
                      <a:r>
                        <a:rPr lang="en-CA" sz="1000" dirty="0" err="1">
                          <a:solidFill>
                            <a:schemeClr val="bg1"/>
                          </a:solidFill>
                        </a:rPr>
                        <a:t>mmcf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 &amp; 100m/stage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013658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pPr algn="ctr"/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102/08-36-078-13W6/0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D1)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Intensity &amp; Stage Length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(1-3T/m &amp; 100-150m)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1.5T/m &amp; 17bbl/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mmcf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100-150/stage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451488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pPr algn="ctr"/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102/08-02-078-11W6/0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D2)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Similar Well Design to NVA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(60m &amp; 75m stages)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1.5T/m &amp; 45bbl/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mmcf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60-75m/stage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831171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pPr algn="ctr"/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100/04-31-078-12W6/0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D1)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Intensity &amp; Stage Length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(1-3T/m &amp; 100-150m)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1.5T/m &amp; 17bbl/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mmcf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100-150m/stage</a:t>
                      </a: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119346"/>
                  </a:ext>
                </a:extLst>
              </a:tr>
              <a:tr h="386198">
                <a:tc rowSpan="5">
                  <a:txBody>
                    <a:bodyPr/>
                    <a:lstStyle/>
                    <a:p>
                      <a:pPr algn="ctr"/>
                      <a:r>
                        <a:rPr lang="en-US" sz="50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104/10-18-079-12W6/0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D1)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Cluster Count Test </a:t>
                      </a:r>
                    </a:p>
                    <a:p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(5, 6 &amp; 8)</a:t>
                      </a:r>
                      <a:endParaRPr 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1T/m &amp; 30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bbl/</a:t>
                      </a:r>
                      <a:r>
                        <a:rPr lang="en-CA" sz="1000" dirty="0" err="1">
                          <a:solidFill>
                            <a:schemeClr val="bg1"/>
                          </a:solidFill>
                        </a:rPr>
                        <a:t>mmcf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 &amp; 100-175m/stage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76330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pPr algn="ctr"/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100/07-22-077-13W6/0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E3+)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Stage Length Test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(100m vs 120m)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2T/m &amp; 12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bbl/</a:t>
                      </a:r>
                      <a:r>
                        <a:rPr lang="en-CA" sz="1000" dirty="0" err="1">
                          <a:solidFill>
                            <a:schemeClr val="bg1"/>
                          </a:solidFill>
                        </a:rPr>
                        <a:t>mmcf</a:t>
                      </a:r>
                      <a:r>
                        <a:rPr lang="en-CA" sz="1000" dirty="0">
                          <a:solidFill>
                            <a:schemeClr val="bg1"/>
                          </a:solidFill>
                        </a:rPr>
                        <a:t> &amp; 100-120m/stage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307478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pPr algn="ctr"/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100/05-35-077-13W6/0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C)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Cluster Count &amp; Spacing Test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(5, 6, 8 and 10, 15, 17 respectively)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1T/M &amp; &lt;10bbl/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mmcf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85m/stage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211577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pPr algn="ctr"/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effectLst/>
                        </a:rPr>
                        <a:t>106/14-29-078-11W6/0</a:t>
                      </a:r>
                      <a:endParaRPr lang="en-US" sz="10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D2)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Cluster Design &amp; Spacing Test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(*as per BIR)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*Frac data not in Minerva &amp; 200bbl/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mmcf</a:t>
                      </a:r>
                      <a:endParaRPr lang="en-US" sz="1000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712023"/>
                  </a:ext>
                </a:extLst>
              </a:tr>
              <a:tr h="386198">
                <a:tc vMerge="1">
                  <a:txBody>
                    <a:bodyPr/>
                    <a:lstStyle/>
                    <a:p>
                      <a:pPr algn="ctr"/>
                      <a:endParaRPr lang="en-US" sz="5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100/11-18-079-12W6/0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(MNTN D1)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High Cluster Spacing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(25m)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1T/m &amp; 30bbl/</a:t>
                      </a:r>
                      <a:r>
                        <a:rPr lang="en-US" sz="100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mmcf</a:t>
                      </a:r>
                      <a:r>
                        <a:rPr lang="en-US" sz="100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100m/stage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764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93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5FC76-8575-7A2E-A218-F41CA61E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15086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807268-FDD4-4276-0839-5A70E593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80" y="39575"/>
            <a:ext cx="10515600" cy="1033508"/>
          </a:xfrm>
        </p:spPr>
        <p:txBody>
          <a:bodyPr/>
          <a:lstStyle/>
          <a:p>
            <a:r>
              <a:rPr lang="en-US" sz="2400" dirty="0"/>
              <a:t>Data Table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CFF52-0D76-D3DF-CD66-F100639E27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C4C68-20CB-9554-45C2-560601A97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1A500B-EAD1-2192-F695-68726F892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232879"/>
              </p:ext>
            </p:extLst>
          </p:nvPr>
        </p:nvGraphicFramePr>
        <p:xfrm>
          <a:off x="125580" y="329381"/>
          <a:ext cx="10372359" cy="65016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3321">
                  <a:extLst>
                    <a:ext uri="{9D8B030D-6E8A-4147-A177-3AD203B41FA5}">
                      <a16:colId xmlns:a16="http://schemas.microsoft.com/office/drawing/2014/main" val="4284917384"/>
                    </a:ext>
                  </a:extLst>
                </a:gridCol>
                <a:gridCol w="1105100">
                  <a:extLst>
                    <a:ext uri="{9D8B030D-6E8A-4147-A177-3AD203B41FA5}">
                      <a16:colId xmlns:a16="http://schemas.microsoft.com/office/drawing/2014/main" val="315440634"/>
                    </a:ext>
                  </a:extLst>
                </a:gridCol>
                <a:gridCol w="571302">
                  <a:extLst>
                    <a:ext uri="{9D8B030D-6E8A-4147-A177-3AD203B41FA5}">
                      <a16:colId xmlns:a16="http://schemas.microsoft.com/office/drawing/2014/main" val="3963300944"/>
                    </a:ext>
                  </a:extLst>
                </a:gridCol>
                <a:gridCol w="666296">
                  <a:extLst>
                    <a:ext uri="{9D8B030D-6E8A-4147-A177-3AD203B41FA5}">
                      <a16:colId xmlns:a16="http://schemas.microsoft.com/office/drawing/2014/main" val="1595688629"/>
                    </a:ext>
                  </a:extLst>
                </a:gridCol>
                <a:gridCol w="775758">
                  <a:extLst>
                    <a:ext uri="{9D8B030D-6E8A-4147-A177-3AD203B41FA5}">
                      <a16:colId xmlns:a16="http://schemas.microsoft.com/office/drawing/2014/main" val="2770314648"/>
                    </a:ext>
                  </a:extLst>
                </a:gridCol>
                <a:gridCol w="1794241">
                  <a:extLst>
                    <a:ext uri="{9D8B030D-6E8A-4147-A177-3AD203B41FA5}">
                      <a16:colId xmlns:a16="http://schemas.microsoft.com/office/drawing/2014/main" val="3848402178"/>
                    </a:ext>
                  </a:extLst>
                </a:gridCol>
                <a:gridCol w="575869">
                  <a:extLst>
                    <a:ext uri="{9D8B030D-6E8A-4147-A177-3AD203B41FA5}">
                      <a16:colId xmlns:a16="http://schemas.microsoft.com/office/drawing/2014/main" val="3304389922"/>
                    </a:ext>
                  </a:extLst>
                </a:gridCol>
                <a:gridCol w="794796">
                  <a:extLst>
                    <a:ext uri="{9D8B030D-6E8A-4147-A177-3AD203B41FA5}">
                      <a16:colId xmlns:a16="http://schemas.microsoft.com/office/drawing/2014/main" val="2891312454"/>
                    </a:ext>
                  </a:extLst>
                </a:gridCol>
                <a:gridCol w="785279">
                  <a:extLst>
                    <a:ext uri="{9D8B030D-6E8A-4147-A177-3AD203B41FA5}">
                      <a16:colId xmlns:a16="http://schemas.microsoft.com/office/drawing/2014/main" val="288839406"/>
                    </a:ext>
                  </a:extLst>
                </a:gridCol>
                <a:gridCol w="1910397">
                  <a:extLst>
                    <a:ext uri="{9D8B030D-6E8A-4147-A177-3AD203B41FA5}">
                      <a16:colId xmlns:a16="http://schemas.microsoft.com/office/drawing/2014/main" val="3523838646"/>
                    </a:ext>
                  </a:extLst>
                </a:gridCol>
              </a:tblGrid>
              <a:tr h="25423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PAD_LOCATION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BIR_UWI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BIR_ZONE_SHORT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VINTAGE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STAGES ANALYSED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BIR TRIAL/COMMENTS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b="1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Stabilized CGR</a:t>
                      </a: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b="1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Average Intensity (T/m)</a:t>
                      </a: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b="1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Average Stage Length (m)</a:t>
                      </a: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b="1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Additional Details /  Conclusion</a:t>
                      </a:r>
                    </a:p>
                  </a:txBody>
                  <a:tcPr marL="24889" marR="24889" marT="0" marB="0" anchor="b"/>
                </a:tc>
                <a:extLst>
                  <a:ext uri="{0D108BD9-81ED-4DB2-BD59-A6C34878D82A}">
                    <a16:rowId xmlns:a16="http://schemas.microsoft.com/office/drawing/2014/main" val="2047070249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14-19-079-12W6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105/10-18-079-12W6/0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C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18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Cluster count (4, 5, 6 and 8)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Uniform Intensity, stage lengths cycled at: 80, 100, 120, 140. Cluster count is changed when stage spacing is – multivariate.</a:t>
                      </a:r>
                    </a:p>
                  </a:txBody>
                  <a:tcPr marL="24889" marR="24889" marT="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11662"/>
                  </a:ext>
                </a:extLst>
              </a:tr>
              <a:tr h="2032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14-19-079-12W6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106/10-18-079-12W6/0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Cluster count (3,4,5) and oriented versus not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Uniform Intensity, stage lengths used: 75, 100, 125, 140. Cluster &amp; Intensity are fixed. Low Intensity.</a:t>
                      </a:r>
                    </a:p>
                  </a:txBody>
                  <a:tcPr marL="24889" marR="24889" marT="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46477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100/04-12-079-13W6/0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2023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8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5 versus 8 cluster only heel half of the well </a:t>
                      </a:r>
                      <a:r>
                        <a:rPr lang="en-US" sz="700" dirty="0" err="1">
                          <a:effectLst/>
                        </a:rPr>
                        <a:t>analysed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42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100m toe stages, 25m toe stages. Uniform intensity on observed stages. Small dataset with only 8 stages. Newer data, 2023. Better CGR.</a:t>
                      </a:r>
                    </a:p>
                  </a:txBody>
                  <a:tcPr marL="24889" marR="24889" marT="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92527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14-19-079-12W6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104/10-18-079-12W6/0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15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cluster count (5, 6, 8)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115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Very long stages cycled: 100, 125, 150. 175. Low intensity. Did  a 10 &amp; 25m stage.</a:t>
                      </a:r>
                    </a:p>
                  </a:txBody>
                  <a:tcPr marL="24889" marR="24889" marT="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44286"/>
                  </a:ext>
                </a:extLst>
              </a:tr>
              <a:tr h="17283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14-28-077-13W6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100/07-22-077-13W6/0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E3+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upper </a:t>
                      </a:r>
                      <a:r>
                        <a:rPr lang="en-US" sz="700" dirty="0" err="1">
                          <a:effectLst/>
                        </a:rPr>
                        <a:t>montney</a:t>
                      </a:r>
                      <a:r>
                        <a:rPr lang="en-US" sz="700" dirty="0">
                          <a:effectLst/>
                        </a:rPr>
                        <a:t> cluster uniformity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10-15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110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Upper Montney. Intensity fixed for entire lateral. Roughly 50/50 distribution of long stages at 100m vs 120m. Cluster spacing fixed at 20m. Low CGR well.</a:t>
                      </a:r>
                    </a:p>
                  </a:txBody>
                  <a:tcPr marL="24889" marR="24889" marT="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469550"/>
                  </a:ext>
                </a:extLst>
              </a:tr>
              <a:tr h="22787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102/02-07-078-13W6/0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E3+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28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high tonnage 3 TPM on entire well,6vs 8 clusters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10-15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All stages analyzed are 80m and 6 clusters and 3T/m. Many stages analyzed. Low CGR well.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650638"/>
                  </a:ext>
                </a:extLst>
              </a:tr>
              <a:tr h="17130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102/05-12-079-13W6/0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D1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2023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alternating 5 and 10 cluster design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Fixed low intensity at 1T/m, fixed spacing at 100m.  Great dataset. Fixed variables help isolate clusters. Clusters cycled  every 2 stages.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065044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05-07-079-11W6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102/14-13-079-12W6/0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23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Parent vs non parent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Stages very long, very manipulated with no apparent cycle or pattern.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288518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100/10-07-078-13W6/0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E3+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4 vs 6 cluster design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10-15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Clusters rotated every stage. Fixed stage length at 100m and Intensity at 1T/m. Upper Montney.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260136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102/13-34-077-13W6/0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2022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depletion response on cluster efficiency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&lt;10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Fixed intensity at 1T/m, stages at 85m and clusters at 5 . Very Low CGR.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894620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102/08-36-078-13W6/0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16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effect of tonnage and stage length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Long stages at lengths of 100, 125 and 150. Ran 4 stages at 3T/m – two at 100m, two at 150m.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057625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13-29-077-12W6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</a:rPr>
                        <a:t>103/14-21-077-12W6/0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Parent vs non parent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&lt;10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Stages at 125m and 150m. Fixed cluster spacing of 25m. Fixed intensity at 1.5T/m.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212615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100/07-06-078-13W6/0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E3+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13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effect of depletion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Stages fixed at 1T/m, clusters at 6, intensity at 1T/m.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091131"/>
                  </a:ext>
                </a:extLst>
              </a:tr>
              <a:tr h="21519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13-29-077-12W6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100/16-21-077-12W6/0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24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Parent vs non parent and perf orientation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10-15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Stages at 125m and 150m. Cluster spacing at 25m. Fixed Intensity at 1T/m,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581270"/>
                  </a:ext>
                </a:extLst>
              </a:tr>
              <a:tr h="17434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01-10-078-11W6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103/08-02-078-11W6/0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2019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19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35-50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105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Fixed intensity at 1.5T/m, cluster spacing at 25m and stages at 125m and 150m. Older data.</a:t>
                      </a:r>
                    </a:p>
                  </a:txBody>
                  <a:tcPr marL="24889" marR="24889" marT="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538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01-10-078-11W6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102/08-02-078-11W6/0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2019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35-50</a:t>
                      </a:r>
                    </a:p>
                  </a:txBody>
                  <a:tcPr marL="24889" marR="24889" marT="0" marB="0" anchor="b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65</a:t>
                      </a:r>
                    </a:p>
                  </a:txBody>
                  <a:tcPr marL="24889" marR="24889" marT="0" marB="0" anchor="b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Fixed intensity at 1.5T/m, cluster spacing at 7.5m and stages at 60m and 75m. Older data. Could be beneficial to correlate with well above.</a:t>
                      </a:r>
                    </a:p>
                  </a:txBody>
                  <a:tcPr marL="24889" marR="24889" marT="0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2904653"/>
                  </a:ext>
                </a:extLst>
              </a:tr>
              <a:tr h="19626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102/04-12-079-13W6/0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2023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7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far to near field geometry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145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Mostly 150m stages, a few 125m. Fixed intensity at 1T/m. Clusters spacing at 25m.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70587"/>
                  </a:ext>
                </a:extLst>
              </a:tr>
              <a:tr h="18630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05-07-079-11W6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100/13-13-079-12W6/0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D1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25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DFIT-FBA and cluster relationship, parent vs non parent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Majority long stages but range from 30m to 150m. Most stages intensity varies in range 1.2-1.8. Many changing variable’s in this dataset.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88157"/>
                  </a:ext>
                </a:extLst>
              </a:tr>
              <a:tr h="1368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100/04-31-078-12W6/0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effect of tonnage and stage length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15-20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1.5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Part of lateral cycled at 1T/m and 3T/m for both 100m and 150m stages. 25m cluster spacing.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315509"/>
                  </a:ext>
                </a:extLst>
              </a:tr>
              <a:tr h="18080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14-06-079-12W6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100/08-36-078-13W6/0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C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2021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16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effect of tonnage and stage length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1.7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125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Stages at 140m and 100m.  Cluster spacing at 20m. Intensity tests with 1T/m, 1.5T/m and 3T/m. 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635132"/>
                  </a:ext>
                </a:extLst>
              </a:tr>
              <a:tr h="21674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14-28-077-13W6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102/07-06-078-13W6/0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 dirty="0">
                          <a:effectLst/>
                        </a:rPr>
                        <a:t>5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depletion response on cluster efficiency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&lt;10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130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Very low CGR. Fixed low intensity. Long stages at 150m and 125m. Cluster spacing at 25m.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877521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04-04-078-13W6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100/05-35-077-13W6/0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37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cluster design (number and spacing)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&lt;10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85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Very low CGR. Fixed low intensity. Mostly fixed stages at 85m. Cluster spacing at 25m. Cluster count at  at 5,6 and 8. Cluster spacing at 10, 15 and 17m.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550"/>
                  </a:ext>
                </a:extLst>
              </a:tr>
              <a:tr h="132078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09-21-078-11W6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106/14-29-078-11W6/0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D2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2019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27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cluster design (number and spacing)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200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N/a</a:t>
                      </a:r>
                    </a:p>
                  </a:txBody>
                  <a:tcPr marL="24889" marR="24889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N/a</a:t>
                      </a:r>
                    </a:p>
                  </a:txBody>
                  <a:tcPr marL="24889" marR="24889" marT="0" marB="0" anchor="ctr">
                    <a:solidFill>
                      <a:srgbClr val="EBEF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N/a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385264"/>
                  </a:ext>
                </a:extLst>
              </a:tr>
              <a:tr h="21522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14-19-079-12W6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100/11-18-079-12W6/0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>
                          <a:effectLst/>
                        </a:rPr>
                        <a:t>D1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700">
                          <a:effectLst/>
                        </a:rPr>
                        <a:t>20</a:t>
                      </a:r>
                      <a:endParaRPr lang="en-US" sz="7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b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700" dirty="0">
                          <a:effectLst/>
                        </a:rPr>
                        <a:t>far to near field geometry</a:t>
                      </a:r>
                      <a:endParaRPr lang="en-US" sz="7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24889" marR="24889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20-35</a:t>
                      </a:r>
                    </a:p>
                  </a:txBody>
                  <a:tcPr marL="24889" marR="24889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</a:t>
                      </a:r>
                    </a:p>
                  </a:txBody>
                  <a:tcPr marL="24889" marR="24889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</a:t>
                      </a:r>
                    </a:p>
                  </a:txBody>
                  <a:tcPr marL="24889" marR="24889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Fixed stage spacing at 100m, clusters at 4 and intensity at 1T/m.</a:t>
                      </a:r>
                    </a:p>
                  </a:txBody>
                  <a:tcPr marL="24889" marR="24889" marT="0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29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024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4D64EA-4C7B-C38E-3795-DA338F35C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65" y="548003"/>
            <a:ext cx="3776715" cy="495904"/>
          </a:xfrm>
        </p:spPr>
        <p:txBody>
          <a:bodyPr/>
          <a:lstStyle/>
          <a:p>
            <a:r>
              <a:rPr lang="en-US" dirty="0"/>
              <a:t>Pad Level Overview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DE0A6-FAD8-DE20-CF60-FEB4A3A8C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7AD14-DA4C-D51C-3D32-5A7363577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5AF87A1-45F6-6A86-A724-6F4328B8A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55" y="39244"/>
            <a:ext cx="1832869" cy="19188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9802665-35E2-4FEA-A347-4BAD04DCC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745578"/>
            <a:ext cx="12129209" cy="441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70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E3F940-7AE1-5E8F-1416-761EF7308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900" y="1726293"/>
            <a:ext cx="3548604" cy="339194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A2E6667-FACF-28DC-3DC4-E1076937D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Manipulated Frac Designs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4EFFB4-A741-633D-2A8F-929A1CB85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62789-A2EE-2E7E-8657-6A875E3DB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9019D1-5989-3EFC-25EE-DE3A66B2C337}"/>
              </a:ext>
            </a:extLst>
          </p:cNvPr>
          <p:cNvSpPr txBox="1"/>
          <p:nvPr/>
        </p:nvSpPr>
        <p:spPr>
          <a:xfrm>
            <a:off x="596900" y="1509656"/>
            <a:ext cx="34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105/10-18-079-12W6/0 - </a:t>
            </a:r>
            <a:r>
              <a:rPr lang="en-US" sz="1400" b="1" dirty="0"/>
              <a:t>Stage Spacing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C9FC552-7C55-1B2E-4B8B-D40E8A7BAECE}"/>
              </a:ext>
            </a:extLst>
          </p:cNvPr>
          <p:cNvSpPr txBox="1">
            <a:spLocks/>
          </p:cNvSpPr>
          <p:nvPr/>
        </p:nvSpPr>
        <p:spPr>
          <a:xfrm>
            <a:off x="838197" y="466818"/>
            <a:ext cx="4212859" cy="1737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1pPr>
            <a:lvl2pPr marL="95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2222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406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5778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Individual Well Data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981D34-DD8B-595B-8E8D-95C7E25ED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033" y="1726293"/>
            <a:ext cx="3607203" cy="34595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3DB0EFC-A942-E2E7-A81F-130256B46073}"/>
              </a:ext>
            </a:extLst>
          </p:cNvPr>
          <p:cNvSpPr txBox="1"/>
          <p:nvPr/>
        </p:nvSpPr>
        <p:spPr>
          <a:xfrm>
            <a:off x="4309277" y="1509656"/>
            <a:ext cx="3548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106/10-18-079-12W6/0 - </a:t>
            </a:r>
            <a:r>
              <a:rPr lang="en-US" sz="1400" b="1" dirty="0"/>
              <a:t>Stage Spacing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2AA8CC2-E6E3-C391-CEA2-BF33DC42A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607" y="1726293"/>
            <a:ext cx="3655760" cy="345954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D5DF1C0-DACF-E385-633C-01C48E3E336D}"/>
              </a:ext>
            </a:extLst>
          </p:cNvPr>
          <p:cNvSpPr txBox="1"/>
          <p:nvPr/>
        </p:nvSpPr>
        <p:spPr>
          <a:xfrm>
            <a:off x="8190033" y="1509655"/>
            <a:ext cx="3548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100/04-12-079-13W6/0 - </a:t>
            </a:r>
            <a:r>
              <a:rPr lang="en-US" sz="1400" b="1" dirty="0"/>
              <a:t>Stage Spacing</a:t>
            </a:r>
          </a:p>
        </p:txBody>
      </p:sp>
    </p:spTree>
    <p:extLst>
      <p:ext uri="{BB962C8B-B14F-4D97-AF65-F5344CB8AC3E}">
        <p14:creationId xmlns:p14="http://schemas.microsoft.com/office/powerpoint/2010/main" val="93829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57EED-4958-8543-F380-C519DB11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C48F28-4B44-78F1-F0E3-6B9B7600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Manipulated Frac Designs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ABA10-BA53-86E7-C528-B6A93BCB1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6582C-A23D-26A1-AF5A-EBBDBA4E7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EAF9DB-F753-4F74-EBE3-E9D464D2895C}"/>
              </a:ext>
            </a:extLst>
          </p:cNvPr>
          <p:cNvSpPr txBox="1"/>
          <p:nvPr/>
        </p:nvSpPr>
        <p:spPr>
          <a:xfrm>
            <a:off x="596900" y="1509656"/>
            <a:ext cx="34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104/10-18-079-12W6/0 - </a:t>
            </a:r>
            <a:r>
              <a:rPr lang="en-US" sz="1400" b="1" dirty="0"/>
              <a:t>Stage Spacing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0430F94-80DE-E62E-DE18-9CE74F1E97B0}"/>
              </a:ext>
            </a:extLst>
          </p:cNvPr>
          <p:cNvSpPr txBox="1">
            <a:spLocks/>
          </p:cNvSpPr>
          <p:nvPr/>
        </p:nvSpPr>
        <p:spPr>
          <a:xfrm>
            <a:off x="838197" y="466818"/>
            <a:ext cx="4212859" cy="1737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1pPr>
            <a:lvl2pPr marL="95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2222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406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5778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Individual Well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73F442-B14D-6839-6ED4-7FA1B361DDCE}"/>
              </a:ext>
            </a:extLst>
          </p:cNvPr>
          <p:cNvSpPr txBox="1"/>
          <p:nvPr/>
        </p:nvSpPr>
        <p:spPr>
          <a:xfrm>
            <a:off x="4309277" y="1509656"/>
            <a:ext cx="3548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100/07-22-077-13W6/0 - </a:t>
            </a:r>
            <a:r>
              <a:rPr lang="en-US" sz="1400" b="1" dirty="0"/>
              <a:t>Stage Spacing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137D07-166B-CF20-45AC-ED3B1CDC86E0}"/>
              </a:ext>
            </a:extLst>
          </p:cNvPr>
          <p:cNvSpPr txBox="1"/>
          <p:nvPr/>
        </p:nvSpPr>
        <p:spPr>
          <a:xfrm>
            <a:off x="8190033" y="1509655"/>
            <a:ext cx="3548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102/14-13-079-12W6/0 - </a:t>
            </a:r>
            <a:r>
              <a:rPr lang="en-US" sz="1400" b="1" dirty="0"/>
              <a:t>Intensity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7363E8-4E0C-B260-25CA-EC31572F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C65BD0-BD7A-032E-FA54-CFF82CF91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33" y="1817432"/>
            <a:ext cx="3675908" cy="34595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559C52-E82C-1FE4-6068-9CCB1B59A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476" y="1766631"/>
            <a:ext cx="3645913" cy="34595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F87124-8DE4-3F18-009E-15C34231C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8461" y="1766631"/>
            <a:ext cx="3706657" cy="346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83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127C-3AE0-37E8-8D68-7BDE43C0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544BD8-4925-872E-48E2-67C85DF99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Manipulated Frac Designs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463BDA-BF7F-FCC2-9787-A9F992DC0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513A3-BDC1-FBBB-C2F5-9EAE55DBE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4C102-085E-C75B-F478-EB0760FB925D}"/>
              </a:ext>
            </a:extLst>
          </p:cNvPr>
          <p:cNvSpPr txBox="1"/>
          <p:nvPr/>
        </p:nvSpPr>
        <p:spPr>
          <a:xfrm>
            <a:off x="596900" y="1509656"/>
            <a:ext cx="34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102/14-13-079-12W6/0 - </a:t>
            </a:r>
            <a:r>
              <a:rPr lang="en-US" sz="1400" b="1" dirty="0"/>
              <a:t>Stage Spacing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2A9918F-8D8B-D162-263B-EF0A85EF098F}"/>
              </a:ext>
            </a:extLst>
          </p:cNvPr>
          <p:cNvSpPr txBox="1">
            <a:spLocks/>
          </p:cNvSpPr>
          <p:nvPr/>
        </p:nvSpPr>
        <p:spPr>
          <a:xfrm>
            <a:off x="838197" y="466818"/>
            <a:ext cx="4212859" cy="1737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1pPr>
            <a:lvl2pPr marL="95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2222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406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5778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Individual Well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396313-C075-9E8D-1880-51DBCEAB5662}"/>
              </a:ext>
            </a:extLst>
          </p:cNvPr>
          <p:cNvSpPr txBox="1"/>
          <p:nvPr/>
        </p:nvSpPr>
        <p:spPr>
          <a:xfrm>
            <a:off x="4309278" y="1509656"/>
            <a:ext cx="343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102/08-36-078-13W6/0 - </a:t>
            </a:r>
            <a:r>
              <a:rPr lang="en-US" sz="1400" b="1" dirty="0"/>
              <a:t>Stage Spacing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A22900-B1C7-1985-7E4D-E3ED07764EA0}"/>
              </a:ext>
            </a:extLst>
          </p:cNvPr>
          <p:cNvSpPr txBox="1"/>
          <p:nvPr/>
        </p:nvSpPr>
        <p:spPr>
          <a:xfrm>
            <a:off x="8472166" y="1509655"/>
            <a:ext cx="2901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102/08-36-078-13W6/0 - </a:t>
            </a:r>
            <a:r>
              <a:rPr lang="en-US" sz="1400" b="1" dirty="0"/>
              <a:t>Intensity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27883DD-6F9F-FA5F-A68C-B97BD2272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8944" y="1767416"/>
            <a:ext cx="3626452" cy="3458755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2ED50F-CA21-CC01-81EA-20D357598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04" y="1767416"/>
            <a:ext cx="3630532" cy="34587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E0ADBE-9105-A74B-CB2F-740870BD8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033" y="1767416"/>
            <a:ext cx="3473089" cy="341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15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4BEE-E88B-BEC2-7A58-737DBCEB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100AA1-7040-DAD5-362F-F6CBE8CE2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Manipulated Frac Designs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B0F30-DCCD-D76A-ACBA-EF219D066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F7AE2-DCF0-2DA1-5166-3A3E12EC1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6B75F2-CB7A-8269-90F3-49278BCBDEFB}"/>
              </a:ext>
            </a:extLst>
          </p:cNvPr>
          <p:cNvSpPr txBox="1"/>
          <p:nvPr/>
        </p:nvSpPr>
        <p:spPr>
          <a:xfrm>
            <a:off x="596900" y="1509656"/>
            <a:ext cx="34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103/14-21-077-12W6/0 - </a:t>
            </a:r>
            <a:r>
              <a:rPr lang="en-US" sz="1400" b="1" dirty="0"/>
              <a:t>Stage Spacing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0A3F014-5BE2-B1E0-AB31-B359A25320ED}"/>
              </a:ext>
            </a:extLst>
          </p:cNvPr>
          <p:cNvSpPr txBox="1">
            <a:spLocks/>
          </p:cNvSpPr>
          <p:nvPr/>
        </p:nvSpPr>
        <p:spPr>
          <a:xfrm>
            <a:off x="838197" y="466818"/>
            <a:ext cx="4212859" cy="1737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1pPr>
            <a:lvl2pPr marL="95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2222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406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5778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Individual Well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4758FB-06DF-792C-88F8-E3B36EDB883F}"/>
              </a:ext>
            </a:extLst>
          </p:cNvPr>
          <p:cNvSpPr txBox="1"/>
          <p:nvPr/>
        </p:nvSpPr>
        <p:spPr>
          <a:xfrm>
            <a:off x="4309278" y="1509656"/>
            <a:ext cx="343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100/16-21-077-12W6/0 - </a:t>
            </a:r>
            <a:r>
              <a:rPr lang="en-US" sz="1400" b="1" dirty="0"/>
              <a:t>Stage Spacing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259B02-A731-4642-63E2-6037B5C7E4A3}"/>
              </a:ext>
            </a:extLst>
          </p:cNvPr>
          <p:cNvSpPr txBox="1"/>
          <p:nvPr/>
        </p:nvSpPr>
        <p:spPr>
          <a:xfrm>
            <a:off x="8294975" y="1509656"/>
            <a:ext cx="3483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103/08-02-078-11W6/0 - </a:t>
            </a:r>
            <a:r>
              <a:rPr lang="en-US" sz="1400" b="1" dirty="0"/>
              <a:t>Stage Spacing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ECF9463-ED85-7E43-5F90-07C74589B8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900" y="1767416"/>
            <a:ext cx="3550836" cy="3379167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C3B4DB-0A0D-11F2-D805-25A420F2D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6363" y="1785890"/>
            <a:ext cx="3519319" cy="33422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3DEEA23-E544-322D-961E-78D14701C2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778" y="1773662"/>
            <a:ext cx="3468538" cy="331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2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0D2E-A1E7-E986-5FBF-1E5B6389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AEF034-1FE3-5441-35B4-D093AF4A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Manipulated Frac Designs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D9BB4-0720-22C9-D7CA-FEB6AE7B7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0D194-1D59-ED73-0C1C-AF4687A02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567224-CA3D-8C54-87D4-922C071B4EA7}"/>
              </a:ext>
            </a:extLst>
          </p:cNvPr>
          <p:cNvSpPr txBox="1"/>
          <p:nvPr/>
        </p:nvSpPr>
        <p:spPr>
          <a:xfrm>
            <a:off x="636770" y="1509655"/>
            <a:ext cx="340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102/08-02-078-11W6/0 - </a:t>
            </a:r>
            <a:r>
              <a:rPr lang="en-US" sz="1400" b="1" dirty="0"/>
              <a:t>Stage Spacing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F99B969-6B74-056E-92BF-1BB0EAFCA22F}"/>
              </a:ext>
            </a:extLst>
          </p:cNvPr>
          <p:cNvSpPr txBox="1">
            <a:spLocks/>
          </p:cNvSpPr>
          <p:nvPr/>
        </p:nvSpPr>
        <p:spPr>
          <a:xfrm>
            <a:off x="838197" y="466818"/>
            <a:ext cx="4212859" cy="1737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1pPr>
            <a:lvl2pPr marL="95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2222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406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5778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Individual Well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0A21CC-3A18-A40A-9421-1C9A66EDBACB}"/>
              </a:ext>
            </a:extLst>
          </p:cNvPr>
          <p:cNvSpPr txBox="1"/>
          <p:nvPr/>
        </p:nvSpPr>
        <p:spPr>
          <a:xfrm>
            <a:off x="4309278" y="1509656"/>
            <a:ext cx="343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100/13-13-079-12W6/0 - </a:t>
            </a:r>
            <a:r>
              <a:rPr lang="en-US" sz="1400" b="1" dirty="0"/>
              <a:t>Stage Spacing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1E848C-9AE3-C23A-8B85-8901A925EC08}"/>
              </a:ext>
            </a:extLst>
          </p:cNvPr>
          <p:cNvSpPr txBox="1"/>
          <p:nvPr/>
        </p:nvSpPr>
        <p:spPr>
          <a:xfrm>
            <a:off x="8294975" y="1509656"/>
            <a:ext cx="34833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100/04-31-078-12W6/0 - </a:t>
            </a:r>
            <a:r>
              <a:rPr lang="en-US" sz="1400" b="1" dirty="0"/>
              <a:t>Stage Spacing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170DA8-A580-1D4C-2265-AB26D97FF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10" y="1785889"/>
            <a:ext cx="3587320" cy="34041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A0F794-ECF2-6B16-8285-3C0170A65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340" y="1785889"/>
            <a:ext cx="3587320" cy="34234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387EFB-E740-44F9-E9FE-50B4D5B73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975" y="1833918"/>
            <a:ext cx="3525082" cy="335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1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364E-ABFE-8966-4788-63B95FC9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CFEE36-79F9-9C85-99B8-34466D81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Manipulated Frac Designs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4D5E4-94DB-25BF-AA50-12A9EA143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4CEFA-8845-DBF0-3BEA-5C1E1F094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BF6381-D4D7-70C5-66B0-16A40BC598AE}"/>
              </a:ext>
            </a:extLst>
          </p:cNvPr>
          <p:cNvSpPr txBox="1"/>
          <p:nvPr/>
        </p:nvSpPr>
        <p:spPr>
          <a:xfrm>
            <a:off x="636770" y="1509655"/>
            <a:ext cx="340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100/04-31-078-12W6/0 - </a:t>
            </a:r>
            <a:r>
              <a:rPr lang="en-US" sz="1400" b="1" dirty="0"/>
              <a:t>Intensity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3E9BE12-C20C-C5B7-BE77-DCDCE73F95AA}"/>
              </a:ext>
            </a:extLst>
          </p:cNvPr>
          <p:cNvSpPr txBox="1">
            <a:spLocks/>
          </p:cNvSpPr>
          <p:nvPr/>
        </p:nvSpPr>
        <p:spPr>
          <a:xfrm>
            <a:off x="838197" y="466818"/>
            <a:ext cx="4212859" cy="17373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1pPr>
            <a:lvl2pPr marL="95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2222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406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57785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None/>
              <a:tabLst/>
              <a:defRPr sz="1000" b="1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Individual Well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8FCA18-4C3F-868F-1AD5-9E7D164AFF5F}"/>
              </a:ext>
            </a:extLst>
          </p:cNvPr>
          <p:cNvSpPr txBox="1"/>
          <p:nvPr/>
        </p:nvSpPr>
        <p:spPr>
          <a:xfrm>
            <a:off x="4309278" y="1509656"/>
            <a:ext cx="3433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102/07-06-078-13W6/0 - </a:t>
            </a:r>
            <a:r>
              <a:rPr lang="en-US" sz="1400" b="1" dirty="0"/>
              <a:t>Stage Spacing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102CA-F94F-62E6-ABC1-7869CC616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621" y="1794261"/>
            <a:ext cx="3597898" cy="3455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9A64F9-B19B-66D0-17D0-5DC34EC28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060" y="1817432"/>
            <a:ext cx="3615925" cy="345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216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1542</TotalTime>
  <Words>1877</Words>
  <Application>Microsoft Office PowerPoint</Application>
  <PresentationFormat>Widescreen</PresentationFormat>
  <Paragraphs>608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Roboto Light</vt:lpstr>
      <vt:lpstr>Arial</vt:lpstr>
      <vt:lpstr>Roboto</vt:lpstr>
      <vt:lpstr>Office Theme</vt:lpstr>
      <vt:lpstr>BIR DV Dataswap</vt:lpstr>
      <vt:lpstr>Summary</vt:lpstr>
      <vt:lpstr>Recommendation - Data Tiering</vt:lpstr>
      <vt:lpstr>Appendix</vt:lpstr>
      <vt:lpstr>Data Table</vt:lpstr>
      <vt:lpstr>Pad Level Overview</vt:lpstr>
      <vt:lpstr>Manipulated Frac Designs</vt:lpstr>
      <vt:lpstr>Manipulated Frac Designs</vt:lpstr>
      <vt:lpstr>Manipulated Frac Designs</vt:lpstr>
      <vt:lpstr>Manipulated Frac Designs</vt:lpstr>
      <vt:lpstr>Manipulated Frac Designs</vt:lpstr>
      <vt:lpstr>Manipulated Frac Designs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NuVista Corporate Presentation</dc:title>
  <dc:subject/>
  <dc:creator>Bryan Galambos</dc:creator>
  <cp:lastModifiedBy>Marcus Kittelson</cp:lastModifiedBy>
  <cp:revision>464</cp:revision>
  <cp:lastPrinted>2020-09-16T13:08:11Z</cp:lastPrinted>
  <dcterms:created xsi:type="dcterms:W3CDTF">2020-02-25T19:46:46Z</dcterms:created>
  <dcterms:modified xsi:type="dcterms:W3CDTF">2025-05-14T22:21:44Z</dcterms:modified>
</cp:coreProperties>
</file>