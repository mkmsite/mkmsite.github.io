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3"/>
  </p:notesMasterIdLst>
  <p:sldIdLst>
    <p:sldId id="314" r:id="rId2"/>
    <p:sldId id="765" r:id="rId3"/>
    <p:sldId id="757" r:id="rId4"/>
    <p:sldId id="758" r:id="rId5"/>
    <p:sldId id="759" r:id="rId6"/>
    <p:sldId id="755" r:id="rId7"/>
    <p:sldId id="764" r:id="rId8"/>
    <p:sldId id="756" r:id="rId9"/>
    <p:sldId id="762" r:id="rId10"/>
    <p:sldId id="763" r:id="rId11"/>
    <p:sldId id="752" r:id="rId12"/>
  </p:sldIdLst>
  <p:sldSz cx="12192000" cy="6858000"/>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A7864"/>
    <a:srgbClr val="FFDE5B"/>
    <a:srgbClr val="72ECA6"/>
    <a:srgbClr val="336699"/>
    <a:srgbClr val="003366"/>
    <a:srgbClr val="003399"/>
    <a:srgbClr val="0033CC"/>
    <a:srgbClr val="3333FF"/>
    <a:srgbClr val="3399FF"/>
    <a:srgbClr val="FB786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3557" autoAdjust="0"/>
  </p:normalViewPr>
  <p:slideViewPr>
    <p:cSldViewPr snapToGrid="0">
      <p:cViewPr>
        <p:scale>
          <a:sx n="150" d="100"/>
          <a:sy n="150" d="100"/>
        </p:scale>
        <p:origin x="632" y="3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6434"/>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idx="1"/>
          </p:nvPr>
        </p:nvSpPr>
        <p:spPr>
          <a:xfrm>
            <a:off x="3970938" y="0"/>
            <a:ext cx="3037840" cy="466434"/>
          </a:xfrm>
          <a:prstGeom prst="rect">
            <a:avLst/>
          </a:prstGeom>
        </p:spPr>
        <p:txBody>
          <a:bodyPr vert="horz" lIns="93177" tIns="46589" rIns="93177" bIns="46589" rtlCol="0"/>
          <a:lstStyle>
            <a:lvl1pPr algn="r">
              <a:defRPr sz="1200"/>
            </a:lvl1pPr>
          </a:lstStyle>
          <a:p>
            <a:fld id="{082B71AC-A0D8-4729-8BDF-1C6A319ECCB9}" type="datetimeFigureOut">
              <a:rPr lang="en-US" smtClean="0"/>
              <a:t>8/11/2025</a:t>
            </a:fld>
            <a:endParaRPr lang="en-US"/>
          </a:p>
        </p:txBody>
      </p:sp>
      <p:sp>
        <p:nvSpPr>
          <p:cNvPr id="4" name="Slide Image Placeholder 3"/>
          <p:cNvSpPr>
            <a:spLocks noGrp="1" noRot="1" noChangeAspect="1"/>
          </p:cNvSpPr>
          <p:nvPr>
            <p:ph type="sldImg" idx="2"/>
          </p:nvPr>
        </p:nvSpPr>
        <p:spPr>
          <a:xfrm>
            <a:off x="717550" y="1162050"/>
            <a:ext cx="5575300" cy="3136900"/>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701040" y="4473892"/>
            <a:ext cx="5608320" cy="3660458"/>
          </a:xfrm>
          <a:prstGeom prst="rect">
            <a:avLst/>
          </a:prstGeom>
        </p:spPr>
        <p:txBody>
          <a:bodyPr vert="horz" lIns="93177" tIns="46589" rIns="93177" bIns="46589"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3037840" cy="466433"/>
          </a:xfrm>
          <a:prstGeom prst="rect">
            <a:avLst/>
          </a:prstGeom>
        </p:spPr>
        <p:txBody>
          <a:bodyPr vert="horz" lIns="93177" tIns="46589" rIns="93177" bIns="46589"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829967"/>
            <a:ext cx="3037840" cy="466433"/>
          </a:xfrm>
          <a:prstGeom prst="rect">
            <a:avLst/>
          </a:prstGeom>
        </p:spPr>
        <p:txBody>
          <a:bodyPr vert="horz" lIns="93177" tIns="46589" rIns="93177" bIns="46589" rtlCol="0" anchor="b"/>
          <a:lstStyle>
            <a:lvl1pPr algn="r">
              <a:defRPr sz="1200"/>
            </a:lvl1pPr>
          </a:lstStyle>
          <a:p>
            <a:fld id="{E7AF64DE-67DF-4D4C-916D-CA1852999696}" type="slidenum">
              <a:rPr lang="en-US" smtClean="0"/>
              <a:t>‹#›</a:t>
            </a:fld>
            <a:endParaRPr lang="en-US"/>
          </a:p>
        </p:txBody>
      </p:sp>
    </p:spTree>
    <p:extLst>
      <p:ext uri="{BB962C8B-B14F-4D97-AF65-F5344CB8AC3E}">
        <p14:creationId xmlns:p14="http://schemas.microsoft.com/office/powerpoint/2010/main" val="14509379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7AF64DE-67DF-4D4C-916D-CA1852999696}" type="slidenum">
              <a:rPr lang="en-US" smtClean="0"/>
              <a:t>3</a:t>
            </a:fld>
            <a:endParaRPr lang="en-US"/>
          </a:p>
        </p:txBody>
      </p:sp>
    </p:spTree>
    <p:extLst>
      <p:ext uri="{BB962C8B-B14F-4D97-AF65-F5344CB8AC3E}">
        <p14:creationId xmlns:p14="http://schemas.microsoft.com/office/powerpoint/2010/main" val="27543167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7AF64DE-67DF-4D4C-916D-CA1852999696}" type="slidenum">
              <a:rPr lang="en-US" smtClean="0"/>
              <a:t>5</a:t>
            </a:fld>
            <a:endParaRPr lang="en-US"/>
          </a:p>
        </p:txBody>
      </p:sp>
    </p:spTree>
    <p:extLst>
      <p:ext uri="{BB962C8B-B14F-4D97-AF65-F5344CB8AC3E}">
        <p14:creationId xmlns:p14="http://schemas.microsoft.com/office/powerpoint/2010/main" val="617866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7AF64DE-67DF-4D4C-916D-CA1852999696}" type="slidenum">
              <a:rPr lang="en-US" smtClean="0"/>
              <a:t>6</a:t>
            </a:fld>
            <a:endParaRPr lang="en-US"/>
          </a:p>
        </p:txBody>
      </p:sp>
    </p:spTree>
    <p:extLst>
      <p:ext uri="{BB962C8B-B14F-4D97-AF65-F5344CB8AC3E}">
        <p14:creationId xmlns:p14="http://schemas.microsoft.com/office/powerpoint/2010/main" val="33757997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7AF64DE-67DF-4D4C-916D-CA1852999696}" type="slidenum">
              <a:rPr lang="en-US" smtClean="0"/>
              <a:t>9</a:t>
            </a:fld>
            <a:endParaRPr lang="en-US"/>
          </a:p>
        </p:txBody>
      </p:sp>
    </p:spTree>
    <p:extLst>
      <p:ext uri="{BB962C8B-B14F-4D97-AF65-F5344CB8AC3E}">
        <p14:creationId xmlns:p14="http://schemas.microsoft.com/office/powerpoint/2010/main" val="397805156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7AF64DE-67DF-4D4C-916D-CA1852999696}" type="slidenum">
              <a:rPr lang="en-US" smtClean="0"/>
              <a:t>10</a:t>
            </a:fld>
            <a:endParaRPr lang="en-US"/>
          </a:p>
        </p:txBody>
      </p:sp>
    </p:spTree>
    <p:extLst>
      <p:ext uri="{BB962C8B-B14F-4D97-AF65-F5344CB8AC3E}">
        <p14:creationId xmlns:p14="http://schemas.microsoft.com/office/powerpoint/2010/main" val="123004005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6.svg"/><Relationship Id="rId4" Type="http://schemas.openxmlformats.org/officeDocument/2006/relationships/image" Target="../media/image5.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8.svg"/><Relationship Id="rId4" Type="http://schemas.openxmlformats.org/officeDocument/2006/relationships/image" Target="../media/image7.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 Id="rId5" Type="http://schemas.openxmlformats.org/officeDocument/2006/relationships/image" Target="../media/image6.svg"/><Relationship Id="rId4" Type="http://schemas.openxmlformats.org/officeDocument/2006/relationships/image" Target="../media/image5.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 Id="rId5" Type="http://schemas.openxmlformats.org/officeDocument/2006/relationships/image" Target="../media/image6.svg"/><Relationship Id="rId4" Type="http://schemas.openxmlformats.org/officeDocument/2006/relationships/image" Target="../media/image5.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 Id="rId5" Type="http://schemas.openxmlformats.org/officeDocument/2006/relationships/image" Target="../media/image6.svg"/><Relationship Id="rId4" Type="http://schemas.openxmlformats.org/officeDocument/2006/relationships/image" Target="../media/image5.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 Id="rId5" Type="http://schemas.openxmlformats.org/officeDocument/2006/relationships/image" Target="../media/image6.svg"/><Relationship Id="rId4" Type="http://schemas.openxmlformats.org/officeDocument/2006/relationships/image" Target="../media/image5.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 Id="rId5" Type="http://schemas.openxmlformats.org/officeDocument/2006/relationships/image" Target="../media/image6.svg"/><Relationship Id="rId4" Type="http://schemas.openxmlformats.org/officeDocument/2006/relationships/image" Target="../media/image5.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 Id="rId5" Type="http://schemas.openxmlformats.org/officeDocument/2006/relationships/image" Target="../media/image6.svg"/><Relationship Id="rId4" Type="http://schemas.openxmlformats.org/officeDocument/2006/relationships/image" Target="../media/image5.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 Id="rId5" Type="http://schemas.openxmlformats.org/officeDocument/2006/relationships/image" Target="../media/image6.svg"/><Relationship Id="rId4" Type="http://schemas.openxmlformats.org/officeDocument/2006/relationships/image" Target="../media/image5.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gradFill>
          <a:gsLst>
            <a:gs pos="61000">
              <a:schemeClr val="accent2"/>
            </a:gs>
            <a:gs pos="0">
              <a:schemeClr val="tx1"/>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4BFB67-BD8B-2F46-BAA9-8CF50A857211}"/>
              </a:ext>
            </a:extLst>
          </p:cNvPr>
          <p:cNvSpPr>
            <a:spLocks noGrp="1"/>
          </p:cNvSpPr>
          <p:nvPr>
            <p:ph type="ctrTitle"/>
          </p:nvPr>
        </p:nvSpPr>
        <p:spPr>
          <a:xfrm>
            <a:off x="838200" y="1421995"/>
            <a:ext cx="10341864" cy="2105723"/>
          </a:xfrm>
        </p:spPr>
        <p:txBody>
          <a:bodyPr anchor="b"/>
          <a:lstStyle>
            <a:lvl1pPr algn="l">
              <a:lnSpc>
                <a:spcPct val="95000"/>
              </a:lnSpc>
              <a:defRPr sz="5200" b="0" i="0">
                <a:solidFill>
                  <a:schemeClr val="bg1"/>
                </a:solidFill>
                <a:latin typeface="Arial" panose="020B0604020202020204" pitchFamily="34" charset="0"/>
                <a:ea typeface="Roboto Medium" panose="02000000000000000000" pitchFamily="2" charset="0"/>
              </a:defRPr>
            </a:lvl1pPr>
          </a:lstStyle>
          <a:p>
            <a:endParaRPr lang="en-US" dirty="0"/>
          </a:p>
        </p:txBody>
      </p:sp>
      <p:sp>
        <p:nvSpPr>
          <p:cNvPr id="3" name="Subtitle 2">
            <a:extLst>
              <a:ext uri="{FF2B5EF4-FFF2-40B4-BE49-F238E27FC236}">
                <a16:creationId xmlns:a16="http://schemas.microsoft.com/office/drawing/2014/main" id="{E1431A88-9057-D447-B807-2E546697797A}"/>
              </a:ext>
            </a:extLst>
          </p:cNvPr>
          <p:cNvSpPr>
            <a:spLocks noGrp="1"/>
          </p:cNvSpPr>
          <p:nvPr>
            <p:ph type="subTitle" idx="1"/>
          </p:nvPr>
        </p:nvSpPr>
        <p:spPr>
          <a:xfrm>
            <a:off x="838200" y="5930284"/>
            <a:ext cx="9829800" cy="230819"/>
          </a:xfrm>
        </p:spPr>
        <p:txBody>
          <a:bodyPr/>
          <a:lstStyle>
            <a:lvl1pPr marL="0" indent="0" algn="l">
              <a:buNone/>
              <a:defRPr sz="1600" b="0" i="0">
                <a:solidFill>
                  <a:schemeClr val="bg1"/>
                </a:solidFill>
                <a:latin typeface="Arial" panose="020B0604020202020204" pitchFamily="34" charset="0"/>
                <a:ea typeface="Roboto Medium" panose="02000000000000000000"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pic>
        <p:nvPicPr>
          <p:cNvPr id="6" name="Graphic 12">
            <a:extLst>
              <a:ext uri="{FF2B5EF4-FFF2-40B4-BE49-F238E27FC236}">
                <a16:creationId xmlns:a16="http://schemas.microsoft.com/office/drawing/2014/main" id="{941B6592-629D-784C-80B7-6283B6801E27}"/>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852996" y="696897"/>
            <a:ext cx="1384634" cy="674299"/>
          </a:xfrm>
          <a:prstGeom prst="rect">
            <a:avLst/>
          </a:prstGeom>
        </p:spPr>
      </p:pic>
    </p:spTree>
    <p:extLst>
      <p:ext uri="{BB962C8B-B14F-4D97-AF65-F5344CB8AC3E}">
        <p14:creationId xmlns:p14="http://schemas.microsoft.com/office/powerpoint/2010/main" val="7357181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rgbClr val="FDFDFD"/>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705D95-4537-EB40-9FCC-C9389FD0B8CC}"/>
              </a:ext>
            </a:extLst>
          </p:cNvPr>
          <p:cNvSpPr>
            <a:spLocks noGrp="1"/>
          </p:cNvSpPr>
          <p:nvPr>
            <p:ph type="title"/>
          </p:nvPr>
        </p:nvSpPr>
        <p:spPr>
          <a:xfrm>
            <a:off x="831850" y="1709738"/>
            <a:ext cx="10515600" cy="2852737"/>
          </a:xfrm>
        </p:spPr>
        <p:txBody>
          <a:bodyPr anchor="b"/>
          <a:lstStyle>
            <a:lvl1pPr>
              <a:defRPr sz="6000"/>
            </a:lvl1pPr>
          </a:lstStyle>
          <a:p>
            <a:r>
              <a:rPr lang="en-US" dirty="0"/>
              <a:t>Click to edit Master title style</a:t>
            </a:r>
          </a:p>
        </p:txBody>
      </p:sp>
      <p:sp>
        <p:nvSpPr>
          <p:cNvPr id="3" name="Text Placeholder 2">
            <a:extLst>
              <a:ext uri="{FF2B5EF4-FFF2-40B4-BE49-F238E27FC236}">
                <a16:creationId xmlns:a16="http://schemas.microsoft.com/office/drawing/2014/main" id="{E1E12D98-80BF-4D4F-8979-784C42B732B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Tree>
    <p:extLst>
      <p:ext uri="{BB962C8B-B14F-4D97-AF65-F5344CB8AC3E}">
        <p14:creationId xmlns:p14="http://schemas.microsoft.com/office/powerpoint/2010/main" val="18902619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bg>
      <p:bgPr>
        <a:solidFill>
          <a:srgbClr val="FDFDFD"/>
        </a:solidFill>
        <a:effectLst/>
      </p:bgPr>
    </p:bg>
    <p:spTree>
      <p:nvGrpSpPr>
        <p:cNvPr id="1" name=""/>
        <p:cNvGrpSpPr/>
        <p:nvPr/>
      </p:nvGrpSpPr>
      <p:grpSpPr>
        <a:xfrm>
          <a:off x="0" y="0"/>
          <a:ext cx="0" cy="0"/>
          <a:chOff x="0" y="0"/>
          <a:chExt cx="0" cy="0"/>
        </a:xfrm>
      </p:grpSpPr>
      <p:pic>
        <p:nvPicPr>
          <p:cNvPr id="10" name="Graphic 9">
            <a:extLst>
              <a:ext uri="{FF2B5EF4-FFF2-40B4-BE49-F238E27FC236}">
                <a16:creationId xmlns:a16="http://schemas.microsoft.com/office/drawing/2014/main" id="{42057947-537C-1747-9E5C-A481123CE84F}"/>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99626" y="2099188"/>
            <a:ext cx="3072478" cy="3912973"/>
          </a:xfrm>
          <a:prstGeom prst="rect">
            <a:avLst/>
          </a:prstGeom>
        </p:spPr>
      </p:pic>
      <p:sp>
        <p:nvSpPr>
          <p:cNvPr id="3" name="Content Placeholder 2">
            <a:extLst>
              <a:ext uri="{FF2B5EF4-FFF2-40B4-BE49-F238E27FC236}">
                <a16:creationId xmlns:a16="http://schemas.microsoft.com/office/drawing/2014/main" id="{8681B710-B6DC-6643-A3D7-14913FD0D078}"/>
              </a:ext>
            </a:extLst>
          </p:cNvPr>
          <p:cNvSpPr>
            <a:spLocks noGrp="1"/>
          </p:cNvSpPr>
          <p:nvPr>
            <p:ph idx="1"/>
          </p:nvPr>
        </p:nvSpPr>
        <p:spPr>
          <a:xfrm>
            <a:off x="838200" y="2067697"/>
            <a:ext cx="10515600" cy="3912973"/>
          </a:xfrm>
        </p:spPr>
        <p:txBody>
          <a:bodyPr/>
          <a:lstStyle>
            <a:lvl1pPr>
              <a:lnSpc>
                <a:spcPts val="1400"/>
              </a:lnSpc>
              <a:spcBef>
                <a:spcPts val="0"/>
              </a:spcBef>
              <a:spcAft>
                <a:spcPts val="1400"/>
              </a:spcAft>
              <a:defRPr sz="1000" b="0" i="0">
                <a:solidFill>
                  <a:schemeClr val="tx1"/>
                </a:solidFill>
                <a:latin typeface="Arial" panose="020B0604020202020204" pitchFamily="34" charset="0"/>
                <a:ea typeface="Roboto" panose="02000000000000000000" pitchFamily="2" charset="0"/>
              </a:defRPr>
            </a:lvl1pPr>
            <a:lvl2pPr>
              <a:lnSpc>
                <a:spcPts val="1400"/>
              </a:lnSpc>
              <a:spcBef>
                <a:spcPts val="0"/>
              </a:spcBef>
              <a:spcAft>
                <a:spcPts val="1400"/>
              </a:spcAft>
              <a:defRPr sz="1000">
                <a:solidFill>
                  <a:schemeClr val="tx1"/>
                </a:solidFill>
                <a:latin typeface="Arial" panose="020B0604020202020204" pitchFamily="34" charset="0"/>
                <a:ea typeface="Roboto" panose="02000000000000000000" pitchFamily="2" charset="0"/>
              </a:defRPr>
            </a:lvl2pPr>
            <a:lvl3pPr>
              <a:lnSpc>
                <a:spcPts val="1400"/>
              </a:lnSpc>
              <a:spcBef>
                <a:spcPts val="0"/>
              </a:spcBef>
              <a:spcAft>
                <a:spcPts val="1400"/>
              </a:spcAft>
              <a:defRPr sz="1000">
                <a:solidFill>
                  <a:schemeClr val="tx1"/>
                </a:solidFill>
                <a:latin typeface="Arial" panose="020B0604020202020204" pitchFamily="34" charset="0"/>
                <a:ea typeface="Roboto" panose="02000000000000000000" pitchFamily="2" charset="0"/>
              </a:defRPr>
            </a:lvl3pPr>
            <a:lvl4pPr>
              <a:lnSpc>
                <a:spcPts val="1400"/>
              </a:lnSpc>
              <a:spcBef>
                <a:spcPts val="0"/>
              </a:spcBef>
              <a:spcAft>
                <a:spcPts val="1400"/>
              </a:spcAft>
              <a:defRPr sz="1000">
                <a:solidFill>
                  <a:schemeClr val="tx1"/>
                </a:solidFill>
                <a:latin typeface="Arial" panose="020B0604020202020204" pitchFamily="34" charset="0"/>
                <a:ea typeface="Roboto" panose="02000000000000000000" pitchFamily="2" charset="0"/>
              </a:defRPr>
            </a:lvl4pPr>
            <a:lvl5pPr>
              <a:lnSpc>
                <a:spcPts val="1400"/>
              </a:lnSpc>
              <a:spcBef>
                <a:spcPts val="0"/>
              </a:spcBef>
              <a:spcAft>
                <a:spcPts val="1400"/>
              </a:spcAft>
              <a:defRPr sz="1000">
                <a:solidFill>
                  <a:schemeClr val="tx1"/>
                </a:solidFill>
                <a:latin typeface="Arial" panose="020B0604020202020204" pitchFamily="34" charset="0"/>
                <a:ea typeface="Roboto" panose="020000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Title Placeholder 1">
            <a:extLst>
              <a:ext uri="{FF2B5EF4-FFF2-40B4-BE49-F238E27FC236}">
                <a16:creationId xmlns:a16="http://schemas.microsoft.com/office/drawing/2014/main" id="{29EA6210-5372-F44A-BAFF-E6D0C7F2C726}"/>
              </a:ext>
            </a:extLst>
          </p:cNvPr>
          <p:cNvSpPr>
            <a:spLocks noGrp="1"/>
          </p:cNvSpPr>
          <p:nvPr>
            <p:ph type="title"/>
          </p:nvPr>
        </p:nvSpPr>
        <p:spPr>
          <a:xfrm>
            <a:off x="838200" y="658842"/>
            <a:ext cx="10515600" cy="1033508"/>
          </a:xfrm>
          <a:prstGeom prst="rect">
            <a:avLst/>
          </a:prstGeom>
        </p:spPr>
        <p:txBody>
          <a:bodyPr vert="horz" lIns="0" tIns="0" rIns="0" bIns="0" rtlCol="0" anchor="t" anchorCtr="0">
            <a:noAutofit/>
          </a:bodyPr>
          <a:lstStyle>
            <a:lvl1pPr>
              <a:lnSpc>
                <a:spcPct val="90000"/>
              </a:lnSpc>
              <a:defRPr b="0" i="0" spc="40" baseline="0">
                <a:solidFill>
                  <a:schemeClr val="tx1"/>
                </a:solidFill>
                <a:latin typeface="Arial" panose="020B0604020202020204" pitchFamily="34" charset="0"/>
                <a:ea typeface="Roboto Light" panose="02000000000000000000" pitchFamily="2" charset="0"/>
              </a:defRPr>
            </a:lvl1pPr>
          </a:lstStyle>
          <a:p>
            <a:endParaRPr lang="en-US" dirty="0"/>
          </a:p>
        </p:txBody>
      </p:sp>
      <p:sp>
        <p:nvSpPr>
          <p:cNvPr id="2" name="Text Placeholder 1">
            <a:extLst>
              <a:ext uri="{FF2B5EF4-FFF2-40B4-BE49-F238E27FC236}">
                <a16:creationId xmlns:a16="http://schemas.microsoft.com/office/drawing/2014/main" id="{226F1068-89AF-344A-B083-2A76BF0DD016}"/>
              </a:ext>
            </a:extLst>
          </p:cNvPr>
          <p:cNvSpPr>
            <a:spLocks noGrp="1"/>
          </p:cNvSpPr>
          <p:nvPr>
            <p:ph type="body" sz="quarter" idx="10"/>
          </p:nvPr>
        </p:nvSpPr>
        <p:spPr>
          <a:xfrm>
            <a:off x="838199" y="1717565"/>
            <a:ext cx="10515600" cy="229704"/>
          </a:xfrm>
        </p:spPr>
        <p:txBody>
          <a:bodyPr/>
          <a:lstStyle>
            <a:lvl1pPr>
              <a:defRPr sz="1800" b="0" i="0">
                <a:solidFill>
                  <a:schemeClr val="tx1"/>
                </a:solidFill>
                <a:latin typeface="Arial" panose="020B0604020202020204" pitchFamily="34" charset="0"/>
                <a:ea typeface="Roboto Medium" panose="02000000000000000000" pitchFamily="2" charset="0"/>
              </a:defRPr>
            </a:lvl1pPr>
          </a:lstStyle>
          <a:p>
            <a:pPr lvl="0"/>
            <a:endParaRPr lang="en-US" dirty="0"/>
          </a:p>
        </p:txBody>
      </p:sp>
      <p:sp>
        <p:nvSpPr>
          <p:cNvPr id="4" name="Text Placeholder 3">
            <a:extLst>
              <a:ext uri="{FF2B5EF4-FFF2-40B4-BE49-F238E27FC236}">
                <a16:creationId xmlns:a16="http://schemas.microsoft.com/office/drawing/2014/main" id="{FBB6ED69-460B-FA45-B956-165C4C0408F2}"/>
              </a:ext>
            </a:extLst>
          </p:cNvPr>
          <p:cNvSpPr>
            <a:spLocks noGrp="1"/>
          </p:cNvSpPr>
          <p:nvPr>
            <p:ph type="body" sz="quarter" idx="11" hasCustomPrompt="1"/>
          </p:nvPr>
        </p:nvSpPr>
        <p:spPr>
          <a:xfrm>
            <a:off x="838197" y="466818"/>
            <a:ext cx="4212859" cy="173736"/>
          </a:xfrm>
        </p:spPr>
        <p:txBody>
          <a:bodyPr/>
          <a:lstStyle>
            <a:lvl1pPr marL="0" indent="0">
              <a:buFont typeface="Arial" panose="020B0604020202020204" pitchFamily="34" charset="0"/>
              <a:buNone/>
              <a:defRPr sz="1000" b="1" i="0">
                <a:solidFill>
                  <a:schemeClr val="tx1"/>
                </a:solidFill>
                <a:latin typeface="Arial" panose="020B0604020202020204" pitchFamily="34" charset="0"/>
                <a:ea typeface="Roboto" panose="02000000000000000000" pitchFamily="2" charset="0"/>
              </a:defRPr>
            </a:lvl1pPr>
            <a:lvl2pPr marL="9525" indent="0">
              <a:buNone/>
              <a:defRPr sz="1000" b="1" i="0">
                <a:latin typeface="Roboto" panose="02000000000000000000" pitchFamily="2" charset="0"/>
                <a:ea typeface="Roboto" panose="02000000000000000000" pitchFamily="2" charset="0"/>
              </a:defRPr>
            </a:lvl2pPr>
            <a:lvl3pPr marL="222250" indent="0">
              <a:buNone/>
              <a:defRPr sz="1000" b="1" i="0">
                <a:latin typeface="Roboto" panose="02000000000000000000" pitchFamily="2" charset="0"/>
                <a:ea typeface="Roboto" panose="02000000000000000000" pitchFamily="2" charset="0"/>
              </a:defRPr>
            </a:lvl3pPr>
            <a:lvl4pPr marL="406400" indent="0">
              <a:buNone/>
              <a:defRPr sz="1000" b="1" i="0">
                <a:latin typeface="Roboto" panose="02000000000000000000" pitchFamily="2" charset="0"/>
                <a:ea typeface="Roboto" panose="02000000000000000000" pitchFamily="2" charset="0"/>
              </a:defRPr>
            </a:lvl4pPr>
            <a:lvl5pPr marL="577850" indent="0">
              <a:buNone/>
              <a:defRPr sz="1000" b="1" i="0">
                <a:latin typeface="Roboto" panose="02000000000000000000" pitchFamily="2" charset="0"/>
                <a:ea typeface="Roboto" panose="02000000000000000000" pitchFamily="2" charset="0"/>
              </a:defRPr>
            </a:lvl5pPr>
          </a:lstStyle>
          <a:p>
            <a:pPr lvl="0"/>
            <a:r>
              <a:rPr lang="en-US" dirty="0"/>
              <a:t>CLICK TO EDIT MASTER TEXT STYLES</a:t>
            </a:r>
          </a:p>
        </p:txBody>
      </p:sp>
      <p:pic>
        <p:nvPicPr>
          <p:cNvPr id="11" name="Graphic 10">
            <a:extLst>
              <a:ext uri="{FF2B5EF4-FFF2-40B4-BE49-F238E27FC236}">
                <a16:creationId xmlns:a16="http://schemas.microsoft.com/office/drawing/2014/main" id="{4B83B254-AC64-B647-A844-80DA01F49274}"/>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069456" y="6392200"/>
            <a:ext cx="198715" cy="253075"/>
          </a:xfrm>
          <a:prstGeom prst="rect">
            <a:avLst/>
          </a:prstGeom>
        </p:spPr>
      </p:pic>
      <p:sp>
        <p:nvSpPr>
          <p:cNvPr id="12" name="Footer Placeholder 6">
            <a:extLst>
              <a:ext uri="{FF2B5EF4-FFF2-40B4-BE49-F238E27FC236}">
                <a16:creationId xmlns:a16="http://schemas.microsoft.com/office/drawing/2014/main" id="{2CF1CDE8-7229-A84D-862B-8F2083C76EE3}"/>
              </a:ext>
            </a:extLst>
          </p:cNvPr>
          <p:cNvSpPr>
            <a:spLocks noGrp="1"/>
          </p:cNvSpPr>
          <p:nvPr>
            <p:ph type="ftr" sz="quarter" idx="3"/>
          </p:nvPr>
        </p:nvSpPr>
        <p:spPr>
          <a:xfrm>
            <a:off x="1383401" y="6426616"/>
            <a:ext cx="4114800" cy="138499"/>
          </a:xfrm>
          <a:prstGeom prst="rect">
            <a:avLst/>
          </a:prstGeom>
        </p:spPr>
        <p:txBody>
          <a:bodyPr vert="horz" lIns="0" tIns="0" rIns="0" bIns="0" rtlCol="0" anchor="t" anchorCtr="0">
            <a:spAutoFit/>
          </a:bodyPr>
          <a:lstStyle>
            <a:lvl1pPr algn="l">
              <a:defRPr sz="900">
                <a:solidFill>
                  <a:schemeClr val="tx1"/>
                </a:solidFill>
                <a:latin typeface="Roboto" panose="02000000000000000000" pitchFamily="2" charset="0"/>
                <a:ea typeface="Roboto" panose="02000000000000000000" pitchFamily="2" charset="0"/>
              </a:defRPr>
            </a:lvl1pPr>
          </a:lstStyle>
          <a:p>
            <a:r>
              <a:rPr lang="en-US" b="1">
                <a:latin typeface="Arial" panose="020B0604020202020204" pitchFamily="34" charset="0"/>
              </a:rPr>
              <a:t>NuVista Energy Ltd.</a:t>
            </a:r>
            <a:endParaRPr lang="en-US" dirty="0">
              <a:latin typeface="Arial" panose="020B0604020202020204" pitchFamily="34" charset="0"/>
            </a:endParaRPr>
          </a:p>
        </p:txBody>
      </p:sp>
      <p:sp>
        <p:nvSpPr>
          <p:cNvPr id="15" name="Slide Number Placeholder 5">
            <a:extLst>
              <a:ext uri="{FF2B5EF4-FFF2-40B4-BE49-F238E27FC236}">
                <a16:creationId xmlns:a16="http://schemas.microsoft.com/office/drawing/2014/main" id="{B2E516B4-73C8-174D-BE93-D888D75ABAFC}"/>
              </a:ext>
            </a:extLst>
          </p:cNvPr>
          <p:cNvSpPr>
            <a:spLocks noGrp="1"/>
          </p:cNvSpPr>
          <p:nvPr>
            <p:ph type="sldNum" sz="quarter" idx="4"/>
          </p:nvPr>
        </p:nvSpPr>
        <p:spPr>
          <a:xfrm>
            <a:off x="838199" y="6313304"/>
            <a:ext cx="304801" cy="365125"/>
          </a:xfrm>
          <a:prstGeom prst="rect">
            <a:avLst/>
          </a:prstGeom>
        </p:spPr>
        <p:txBody>
          <a:bodyPr vert="horz" lIns="0" tIns="0" rIns="0" bIns="0" rtlCol="0" anchor="ctr"/>
          <a:lstStyle>
            <a:lvl1pPr algn="l">
              <a:defRPr sz="900" b="0" i="0">
                <a:solidFill>
                  <a:schemeClr val="tx1"/>
                </a:solidFill>
                <a:latin typeface="Arial" panose="020B0604020202020204" pitchFamily="34" charset="0"/>
                <a:ea typeface="Roboto" panose="02000000000000000000" pitchFamily="2" charset="0"/>
              </a:defRPr>
            </a:lvl1pPr>
          </a:lstStyle>
          <a:p>
            <a:fld id="{D246DD65-7063-5C41-96CC-23CB1F95FA91}" type="slidenum">
              <a:rPr lang="en-US" smtClean="0"/>
              <a:pPr/>
              <a:t>‹#›</a:t>
            </a:fld>
            <a:endParaRPr lang="en-US" dirty="0"/>
          </a:p>
        </p:txBody>
      </p:sp>
    </p:spTree>
    <p:extLst>
      <p:ext uri="{BB962C8B-B14F-4D97-AF65-F5344CB8AC3E}">
        <p14:creationId xmlns:p14="http://schemas.microsoft.com/office/powerpoint/2010/main" val="23204476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bg>
      <p:bgPr>
        <a:solidFill>
          <a:srgbClr val="FDFDFD"/>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248843A-554F-D54E-9519-6A59A18F5D6E}"/>
              </a:ext>
            </a:extLst>
          </p:cNvPr>
          <p:cNvSpPr>
            <a:spLocks noGrp="1"/>
          </p:cNvSpPr>
          <p:nvPr>
            <p:ph sz="half" idx="1"/>
          </p:nvPr>
        </p:nvSpPr>
        <p:spPr>
          <a:xfrm>
            <a:off x="838200" y="2067695"/>
            <a:ext cx="5126736" cy="4109267"/>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C0F16D07-96F7-6B4D-ABCF-9D5EEB14F163}"/>
              </a:ext>
            </a:extLst>
          </p:cNvPr>
          <p:cNvSpPr>
            <a:spLocks noGrp="1"/>
          </p:cNvSpPr>
          <p:nvPr>
            <p:ph sz="half" idx="2"/>
          </p:nvPr>
        </p:nvSpPr>
        <p:spPr>
          <a:xfrm>
            <a:off x="6227064" y="2067695"/>
            <a:ext cx="5126736" cy="4109267"/>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Text Placeholder 1">
            <a:extLst>
              <a:ext uri="{FF2B5EF4-FFF2-40B4-BE49-F238E27FC236}">
                <a16:creationId xmlns:a16="http://schemas.microsoft.com/office/drawing/2014/main" id="{C36C2F34-1E94-C949-B3BB-8E0144913EDA}"/>
              </a:ext>
            </a:extLst>
          </p:cNvPr>
          <p:cNvSpPr>
            <a:spLocks noGrp="1"/>
          </p:cNvSpPr>
          <p:nvPr>
            <p:ph type="body" sz="quarter" idx="10"/>
          </p:nvPr>
        </p:nvSpPr>
        <p:spPr>
          <a:xfrm>
            <a:off x="838199" y="1717565"/>
            <a:ext cx="10526926" cy="229704"/>
          </a:xfrm>
        </p:spPr>
        <p:txBody>
          <a:bodyPr/>
          <a:lstStyle>
            <a:lvl1pPr>
              <a:defRPr sz="1800" b="0" i="0">
                <a:solidFill>
                  <a:schemeClr val="tx1"/>
                </a:solidFill>
                <a:latin typeface="Arial" panose="020B0604020202020204" pitchFamily="34" charset="0"/>
                <a:ea typeface="Roboto Medium" panose="02000000000000000000" pitchFamily="2" charset="0"/>
              </a:defRPr>
            </a:lvl1pPr>
          </a:lstStyle>
          <a:p>
            <a:pPr lvl="0"/>
            <a:endParaRPr lang="en-US" dirty="0"/>
          </a:p>
        </p:txBody>
      </p:sp>
      <p:sp>
        <p:nvSpPr>
          <p:cNvPr id="9" name="Title Placeholder 1">
            <a:extLst>
              <a:ext uri="{FF2B5EF4-FFF2-40B4-BE49-F238E27FC236}">
                <a16:creationId xmlns:a16="http://schemas.microsoft.com/office/drawing/2014/main" id="{A491FEF2-01D4-194B-A16C-45B8EE9C3D65}"/>
              </a:ext>
            </a:extLst>
          </p:cNvPr>
          <p:cNvSpPr>
            <a:spLocks noGrp="1"/>
          </p:cNvSpPr>
          <p:nvPr>
            <p:ph type="title"/>
          </p:nvPr>
        </p:nvSpPr>
        <p:spPr>
          <a:xfrm>
            <a:off x="838200" y="658842"/>
            <a:ext cx="10515600" cy="1033508"/>
          </a:xfrm>
          <a:prstGeom prst="rect">
            <a:avLst/>
          </a:prstGeom>
        </p:spPr>
        <p:txBody>
          <a:bodyPr vert="horz" lIns="0" tIns="0" rIns="0" bIns="0" rtlCol="0" anchor="t" anchorCtr="0">
            <a:noAutofit/>
          </a:bodyPr>
          <a:lstStyle>
            <a:lvl1pPr>
              <a:lnSpc>
                <a:spcPct val="90000"/>
              </a:lnSpc>
              <a:defRPr b="0" i="0" spc="40" baseline="0">
                <a:solidFill>
                  <a:schemeClr val="tx1"/>
                </a:solidFill>
                <a:latin typeface="Arial" panose="020B0604020202020204" pitchFamily="34" charset="0"/>
                <a:ea typeface="Roboto Light" panose="02000000000000000000" pitchFamily="2" charset="0"/>
              </a:defRPr>
            </a:lvl1pPr>
          </a:lstStyle>
          <a:p>
            <a:endParaRPr lang="en-US" dirty="0"/>
          </a:p>
        </p:txBody>
      </p:sp>
      <p:sp>
        <p:nvSpPr>
          <p:cNvPr id="11" name="Text Placeholder 3">
            <a:extLst>
              <a:ext uri="{FF2B5EF4-FFF2-40B4-BE49-F238E27FC236}">
                <a16:creationId xmlns:a16="http://schemas.microsoft.com/office/drawing/2014/main" id="{FB0D7B51-4D49-AD48-9ABF-958F1713A11F}"/>
              </a:ext>
            </a:extLst>
          </p:cNvPr>
          <p:cNvSpPr>
            <a:spLocks noGrp="1"/>
          </p:cNvSpPr>
          <p:nvPr>
            <p:ph type="body" sz="quarter" idx="11" hasCustomPrompt="1"/>
          </p:nvPr>
        </p:nvSpPr>
        <p:spPr>
          <a:xfrm>
            <a:off x="838197" y="466818"/>
            <a:ext cx="4212859" cy="173736"/>
          </a:xfrm>
        </p:spPr>
        <p:txBody>
          <a:bodyPr/>
          <a:lstStyle>
            <a:lvl1pPr marL="0" indent="0">
              <a:buFont typeface="Arial" panose="020B0604020202020204" pitchFamily="34" charset="0"/>
              <a:buNone/>
              <a:defRPr sz="1000" b="1" i="0">
                <a:solidFill>
                  <a:schemeClr val="tx1"/>
                </a:solidFill>
                <a:latin typeface="Arial" panose="020B0604020202020204" pitchFamily="34" charset="0"/>
                <a:ea typeface="Roboto" panose="02000000000000000000" pitchFamily="2" charset="0"/>
              </a:defRPr>
            </a:lvl1pPr>
            <a:lvl2pPr marL="9525" indent="0">
              <a:buNone/>
              <a:defRPr sz="1000" b="1" i="0">
                <a:latin typeface="Roboto" panose="02000000000000000000" pitchFamily="2" charset="0"/>
                <a:ea typeface="Roboto" panose="02000000000000000000" pitchFamily="2" charset="0"/>
              </a:defRPr>
            </a:lvl2pPr>
            <a:lvl3pPr marL="222250" indent="0">
              <a:buNone/>
              <a:defRPr sz="1000" b="1" i="0">
                <a:latin typeface="Roboto" panose="02000000000000000000" pitchFamily="2" charset="0"/>
                <a:ea typeface="Roboto" panose="02000000000000000000" pitchFamily="2" charset="0"/>
              </a:defRPr>
            </a:lvl3pPr>
            <a:lvl4pPr marL="406400" indent="0">
              <a:buNone/>
              <a:defRPr sz="1000" b="1" i="0">
                <a:latin typeface="Roboto" panose="02000000000000000000" pitchFamily="2" charset="0"/>
                <a:ea typeface="Roboto" panose="02000000000000000000" pitchFamily="2" charset="0"/>
              </a:defRPr>
            </a:lvl4pPr>
            <a:lvl5pPr marL="577850" indent="0">
              <a:buNone/>
              <a:defRPr sz="1000" b="1" i="0">
                <a:latin typeface="Roboto" panose="02000000000000000000" pitchFamily="2" charset="0"/>
                <a:ea typeface="Roboto" panose="02000000000000000000" pitchFamily="2" charset="0"/>
              </a:defRPr>
            </a:lvl5pPr>
          </a:lstStyle>
          <a:p>
            <a:pPr lvl="0"/>
            <a:r>
              <a:rPr lang="en-US" dirty="0"/>
              <a:t>CLICK TO EDIT MASTER TEXT STYLES</a:t>
            </a:r>
          </a:p>
        </p:txBody>
      </p:sp>
      <p:pic>
        <p:nvPicPr>
          <p:cNvPr id="13" name="Graphic 12">
            <a:extLst>
              <a:ext uri="{FF2B5EF4-FFF2-40B4-BE49-F238E27FC236}">
                <a16:creationId xmlns:a16="http://schemas.microsoft.com/office/drawing/2014/main" id="{C652E8FF-2A26-9A4B-B5FD-995C2D4A7630}"/>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69456" y="6392200"/>
            <a:ext cx="198715" cy="253075"/>
          </a:xfrm>
          <a:prstGeom prst="rect">
            <a:avLst/>
          </a:prstGeom>
        </p:spPr>
      </p:pic>
      <p:sp>
        <p:nvSpPr>
          <p:cNvPr id="14" name="Footer Placeholder 6">
            <a:extLst>
              <a:ext uri="{FF2B5EF4-FFF2-40B4-BE49-F238E27FC236}">
                <a16:creationId xmlns:a16="http://schemas.microsoft.com/office/drawing/2014/main" id="{E77D3D50-ABCD-9946-BA54-11C20D30D3DD}"/>
              </a:ext>
            </a:extLst>
          </p:cNvPr>
          <p:cNvSpPr>
            <a:spLocks noGrp="1"/>
          </p:cNvSpPr>
          <p:nvPr>
            <p:ph type="ftr" sz="quarter" idx="3"/>
          </p:nvPr>
        </p:nvSpPr>
        <p:spPr>
          <a:xfrm>
            <a:off x="1383401" y="6426616"/>
            <a:ext cx="4114800" cy="138499"/>
          </a:xfrm>
          <a:prstGeom prst="rect">
            <a:avLst/>
          </a:prstGeom>
        </p:spPr>
        <p:txBody>
          <a:bodyPr vert="horz" lIns="0" tIns="0" rIns="0" bIns="0" rtlCol="0" anchor="t" anchorCtr="0">
            <a:spAutoFit/>
          </a:bodyPr>
          <a:lstStyle>
            <a:lvl1pPr algn="l">
              <a:defRPr sz="900">
                <a:solidFill>
                  <a:schemeClr val="tx1"/>
                </a:solidFill>
                <a:latin typeface="Roboto" panose="02000000000000000000" pitchFamily="2" charset="0"/>
                <a:ea typeface="Roboto" panose="02000000000000000000" pitchFamily="2" charset="0"/>
              </a:defRPr>
            </a:lvl1pPr>
          </a:lstStyle>
          <a:p>
            <a:r>
              <a:rPr lang="en-US" b="1">
                <a:latin typeface="Arial" panose="020B0604020202020204" pitchFamily="34" charset="0"/>
              </a:rPr>
              <a:t>NuVista Energy Ltd.</a:t>
            </a:r>
            <a:endParaRPr lang="en-US" dirty="0">
              <a:latin typeface="Arial" panose="020B0604020202020204" pitchFamily="34" charset="0"/>
            </a:endParaRPr>
          </a:p>
        </p:txBody>
      </p:sp>
      <p:sp>
        <p:nvSpPr>
          <p:cNvPr id="15" name="Slide Number Placeholder 5">
            <a:extLst>
              <a:ext uri="{FF2B5EF4-FFF2-40B4-BE49-F238E27FC236}">
                <a16:creationId xmlns:a16="http://schemas.microsoft.com/office/drawing/2014/main" id="{1CB36A6F-C078-A04F-A367-435FDB0A02FE}"/>
              </a:ext>
            </a:extLst>
          </p:cNvPr>
          <p:cNvSpPr>
            <a:spLocks noGrp="1"/>
          </p:cNvSpPr>
          <p:nvPr>
            <p:ph type="sldNum" sz="quarter" idx="4"/>
          </p:nvPr>
        </p:nvSpPr>
        <p:spPr>
          <a:xfrm>
            <a:off x="838199" y="6313304"/>
            <a:ext cx="304801" cy="365125"/>
          </a:xfrm>
          <a:prstGeom prst="rect">
            <a:avLst/>
          </a:prstGeom>
        </p:spPr>
        <p:txBody>
          <a:bodyPr vert="horz" lIns="0" tIns="0" rIns="0" bIns="0" rtlCol="0" anchor="ctr"/>
          <a:lstStyle>
            <a:lvl1pPr algn="l">
              <a:defRPr sz="900" b="0" i="0">
                <a:solidFill>
                  <a:schemeClr val="tx1"/>
                </a:solidFill>
                <a:latin typeface="Arial" panose="020B0604020202020204" pitchFamily="34" charset="0"/>
                <a:ea typeface="Roboto" panose="02000000000000000000" pitchFamily="2" charset="0"/>
              </a:defRPr>
            </a:lvl1pPr>
          </a:lstStyle>
          <a:p>
            <a:fld id="{D246DD65-7063-5C41-96CC-23CB1F95FA91}" type="slidenum">
              <a:rPr lang="en-US" smtClean="0"/>
              <a:pPr/>
              <a:t>‹#›</a:t>
            </a:fld>
            <a:endParaRPr lang="en-US" dirty="0"/>
          </a:p>
        </p:txBody>
      </p:sp>
      <p:pic>
        <p:nvPicPr>
          <p:cNvPr id="2" name="Graphic 1">
            <a:extLst>
              <a:ext uri="{FF2B5EF4-FFF2-40B4-BE49-F238E27FC236}">
                <a16:creationId xmlns:a16="http://schemas.microsoft.com/office/drawing/2014/main" id="{E8A68FED-0E8F-4861-AC42-0064E582B1AC}"/>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699626" y="2099188"/>
            <a:ext cx="3072478" cy="3912973"/>
          </a:xfrm>
          <a:prstGeom prst="rect">
            <a:avLst/>
          </a:prstGeom>
        </p:spPr>
      </p:pic>
    </p:spTree>
    <p:extLst>
      <p:ext uri="{BB962C8B-B14F-4D97-AF65-F5344CB8AC3E}">
        <p14:creationId xmlns:p14="http://schemas.microsoft.com/office/powerpoint/2010/main" val="38421913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 Column">
    <p:bg>
      <p:bgPr>
        <a:solidFill>
          <a:srgbClr val="FDFDFD"/>
        </a:solidFill>
        <a:effectLst/>
      </p:bgPr>
    </p:bg>
    <p:spTree>
      <p:nvGrpSpPr>
        <p:cNvPr id="1" name=""/>
        <p:cNvGrpSpPr/>
        <p:nvPr/>
      </p:nvGrpSpPr>
      <p:grpSpPr>
        <a:xfrm>
          <a:off x="0" y="0"/>
          <a:ext cx="0" cy="0"/>
          <a:chOff x="0" y="0"/>
          <a:chExt cx="0" cy="0"/>
        </a:xfrm>
      </p:grpSpPr>
      <p:pic>
        <p:nvPicPr>
          <p:cNvPr id="20" name="Graphic 19">
            <a:extLst>
              <a:ext uri="{FF2B5EF4-FFF2-40B4-BE49-F238E27FC236}">
                <a16:creationId xmlns:a16="http://schemas.microsoft.com/office/drawing/2014/main" id="{46DB92FE-1ED6-BD4F-8564-6110DD8EE8E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99626" y="2099188"/>
            <a:ext cx="3072478" cy="3912973"/>
          </a:xfrm>
          <a:prstGeom prst="rect">
            <a:avLst/>
          </a:prstGeom>
        </p:spPr>
      </p:pic>
      <p:sp>
        <p:nvSpPr>
          <p:cNvPr id="3" name="Text Placeholder 2">
            <a:extLst>
              <a:ext uri="{FF2B5EF4-FFF2-40B4-BE49-F238E27FC236}">
                <a16:creationId xmlns:a16="http://schemas.microsoft.com/office/drawing/2014/main" id="{40514D1F-5CA2-FD4A-8111-5C428B8EA2AB}"/>
              </a:ext>
            </a:extLst>
          </p:cNvPr>
          <p:cNvSpPr>
            <a:spLocks noGrp="1"/>
          </p:cNvSpPr>
          <p:nvPr>
            <p:ph type="body" idx="1"/>
          </p:nvPr>
        </p:nvSpPr>
        <p:spPr>
          <a:xfrm>
            <a:off x="839789" y="1681163"/>
            <a:ext cx="5112956" cy="823912"/>
          </a:xfrm>
        </p:spPr>
        <p:txBody>
          <a:bodyPr anchor="b"/>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5D0A67AE-768D-FF47-ADE4-FE6888DC7AE3}"/>
              </a:ext>
            </a:extLst>
          </p:cNvPr>
          <p:cNvSpPr>
            <a:spLocks noGrp="1"/>
          </p:cNvSpPr>
          <p:nvPr>
            <p:ph sz="half" idx="2"/>
          </p:nvPr>
        </p:nvSpPr>
        <p:spPr>
          <a:xfrm>
            <a:off x="839789" y="2505075"/>
            <a:ext cx="5112956" cy="368458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D2365714-2DEC-DB45-B4F8-C84DA01AD44B}"/>
              </a:ext>
            </a:extLst>
          </p:cNvPr>
          <p:cNvSpPr>
            <a:spLocks noGrp="1"/>
          </p:cNvSpPr>
          <p:nvPr>
            <p:ph type="body" sz="quarter" idx="3"/>
          </p:nvPr>
        </p:nvSpPr>
        <p:spPr>
          <a:xfrm>
            <a:off x="6239256" y="1681163"/>
            <a:ext cx="5116131" cy="823912"/>
          </a:xfrm>
        </p:spPr>
        <p:txBody>
          <a:bodyPr anchor="b"/>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1849B1B4-FD50-6A4A-94C0-75828986E310}"/>
              </a:ext>
            </a:extLst>
          </p:cNvPr>
          <p:cNvSpPr>
            <a:spLocks noGrp="1"/>
          </p:cNvSpPr>
          <p:nvPr>
            <p:ph sz="quarter" idx="4"/>
          </p:nvPr>
        </p:nvSpPr>
        <p:spPr>
          <a:xfrm>
            <a:off x="6239256" y="2505075"/>
            <a:ext cx="5116131" cy="368458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Title Placeholder 1">
            <a:extLst>
              <a:ext uri="{FF2B5EF4-FFF2-40B4-BE49-F238E27FC236}">
                <a16:creationId xmlns:a16="http://schemas.microsoft.com/office/drawing/2014/main" id="{465DEF1C-B957-0C45-AF3A-C80FCB786108}"/>
              </a:ext>
            </a:extLst>
          </p:cNvPr>
          <p:cNvSpPr>
            <a:spLocks noGrp="1"/>
          </p:cNvSpPr>
          <p:nvPr>
            <p:ph type="title"/>
          </p:nvPr>
        </p:nvSpPr>
        <p:spPr>
          <a:xfrm>
            <a:off x="838200" y="658842"/>
            <a:ext cx="10515600" cy="1033508"/>
          </a:xfrm>
          <a:prstGeom prst="rect">
            <a:avLst/>
          </a:prstGeom>
        </p:spPr>
        <p:txBody>
          <a:bodyPr vert="horz" lIns="0" tIns="0" rIns="0" bIns="0" rtlCol="0" anchor="t" anchorCtr="0">
            <a:noAutofit/>
          </a:bodyPr>
          <a:lstStyle>
            <a:lvl1pPr>
              <a:lnSpc>
                <a:spcPct val="90000"/>
              </a:lnSpc>
              <a:defRPr b="0" i="0" spc="40" baseline="0">
                <a:solidFill>
                  <a:schemeClr val="tx1"/>
                </a:solidFill>
                <a:latin typeface="Arial" panose="020B0604020202020204" pitchFamily="34" charset="0"/>
                <a:ea typeface="Roboto Light" panose="02000000000000000000" pitchFamily="2" charset="0"/>
              </a:defRPr>
            </a:lvl1pPr>
          </a:lstStyle>
          <a:p>
            <a:endParaRPr lang="en-US" dirty="0"/>
          </a:p>
        </p:txBody>
      </p:sp>
      <p:sp>
        <p:nvSpPr>
          <p:cNvPr id="12" name="Text Placeholder 3">
            <a:extLst>
              <a:ext uri="{FF2B5EF4-FFF2-40B4-BE49-F238E27FC236}">
                <a16:creationId xmlns:a16="http://schemas.microsoft.com/office/drawing/2014/main" id="{6837C80E-7584-0F41-9E77-45AA622281E9}"/>
              </a:ext>
            </a:extLst>
          </p:cNvPr>
          <p:cNvSpPr>
            <a:spLocks noGrp="1"/>
          </p:cNvSpPr>
          <p:nvPr>
            <p:ph type="body" sz="quarter" idx="11" hasCustomPrompt="1"/>
          </p:nvPr>
        </p:nvSpPr>
        <p:spPr>
          <a:xfrm>
            <a:off x="838197" y="466818"/>
            <a:ext cx="4212859" cy="173736"/>
          </a:xfrm>
        </p:spPr>
        <p:txBody>
          <a:bodyPr/>
          <a:lstStyle>
            <a:lvl1pPr marL="0" indent="0">
              <a:buFont typeface="Arial" panose="020B0604020202020204" pitchFamily="34" charset="0"/>
              <a:buNone/>
              <a:defRPr sz="1000" b="1" i="0">
                <a:solidFill>
                  <a:schemeClr val="tx1"/>
                </a:solidFill>
                <a:latin typeface="Arial" panose="020B0604020202020204" pitchFamily="34" charset="0"/>
                <a:ea typeface="Roboto" panose="02000000000000000000" pitchFamily="2" charset="0"/>
              </a:defRPr>
            </a:lvl1pPr>
            <a:lvl2pPr marL="9525" indent="0">
              <a:buNone/>
              <a:defRPr sz="1000" b="1" i="0">
                <a:latin typeface="Roboto" panose="02000000000000000000" pitchFamily="2" charset="0"/>
                <a:ea typeface="Roboto" panose="02000000000000000000" pitchFamily="2" charset="0"/>
              </a:defRPr>
            </a:lvl2pPr>
            <a:lvl3pPr marL="222250" indent="0">
              <a:buNone/>
              <a:defRPr sz="1000" b="1" i="0">
                <a:latin typeface="Roboto" panose="02000000000000000000" pitchFamily="2" charset="0"/>
                <a:ea typeface="Roboto" panose="02000000000000000000" pitchFamily="2" charset="0"/>
              </a:defRPr>
            </a:lvl3pPr>
            <a:lvl4pPr marL="406400" indent="0">
              <a:buNone/>
              <a:defRPr sz="1000" b="1" i="0">
                <a:latin typeface="Roboto" panose="02000000000000000000" pitchFamily="2" charset="0"/>
                <a:ea typeface="Roboto" panose="02000000000000000000" pitchFamily="2" charset="0"/>
              </a:defRPr>
            </a:lvl4pPr>
            <a:lvl5pPr marL="577850" indent="0">
              <a:buNone/>
              <a:defRPr sz="1000" b="1" i="0">
                <a:latin typeface="Roboto" panose="02000000000000000000" pitchFamily="2" charset="0"/>
                <a:ea typeface="Roboto" panose="02000000000000000000" pitchFamily="2" charset="0"/>
              </a:defRPr>
            </a:lvl5pPr>
          </a:lstStyle>
          <a:p>
            <a:pPr lvl="0"/>
            <a:r>
              <a:rPr lang="en-US" dirty="0"/>
              <a:t>CLICK TO EDIT MASTER TEXT STYLES</a:t>
            </a:r>
          </a:p>
        </p:txBody>
      </p:sp>
      <p:pic>
        <p:nvPicPr>
          <p:cNvPr id="13" name="Graphic 12">
            <a:extLst>
              <a:ext uri="{FF2B5EF4-FFF2-40B4-BE49-F238E27FC236}">
                <a16:creationId xmlns:a16="http://schemas.microsoft.com/office/drawing/2014/main" id="{E2F6387F-983E-564D-B029-F496745E9E45}"/>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069456" y="6392200"/>
            <a:ext cx="198715" cy="253075"/>
          </a:xfrm>
          <a:prstGeom prst="rect">
            <a:avLst/>
          </a:prstGeom>
        </p:spPr>
      </p:pic>
      <p:sp>
        <p:nvSpPr>
          <p:cNvPr id="14" name="Footer Placeholder 6">
            <a:extLst>
              <a:ext uri="{FF2B5EF4-FFF2-40B4-BE49-F238E27FC236}">
                <a16:creationId xmlns:a16="http://schemas.microsoft.com/office/drawing/2014/main" id="{92966E56-ACA2-BB46-8DAF-C6BB0DD7F143}"/>
              </a:ext>
            </a:extLst>
          </p:cNvPr>
          <p:cNvSpPr>
            <a:spLocks noGrp="1"/>
          </p:cNvSpPr>
          <p:nvPr>
            <p:ph type="ftr" sz="quarter" idx="12"/>
          </p:nvPr>
        </p:nvSpPr>
        <p:spPr>
          <a:xfrm>
            <a:off x="1383401" y="6426616"/>
            <a:ext cx="4114800" cy="138499"/>
          </a:xfrm>
          <a:prstGeom prst="rect">
            <a:avLst/>
          </a:prstGeom>
        </p:spPr>
        <p:txBody>
          <a:bodyPr vert="horz" lIns="0" tIns="0" rIns="0" bIns="0" rtlCol="0" anchor="t" anchorCtr="0">
            <a:spAutoFit/>
          </a:bodyPr>
          <a:lstStyle>
            <a:lvl1pPr algn="l">
              <a:defRPr sz="900">
                <a:solidFill>
                  <a:schemeClr val="tx1"/>
                </a:solidFill>
                <a:latin typeface="Roboto" panose="02000000000000000000" pitchFamily="2" charset="0"/>
                <a:ea typeface="Roboto" panose="02000000000000000000" pitchFamily="2" charset="0"/>
              </a:defRPr>
            </a:lvl1pPr>
          </a:lstStyle>
          <a:p>
            <a:r>
              <a:rPr lang="en-US" b="1">
                <a:latin typeface="Arial" panose="020B0604020202020204" pitchFamily="34" charset="0"/>
              </a:rPr>
              <a:t>NuVista Energy Ltd.</a:t>
            </a:r>
            <a:endParaRPr lang="en-US" dirty="0">
              <a:latin typeface="Arial" panose="020B0604020202020204" pitchFamily="34" charset="0"/>
            </a:endParaRPr>
          </a:p>
        </p:txBody>
      </p:sp>
      <p:sp>
        <p:nvSpPr>
          <p:cNvPr id="15" name="Slide Number Placeholder 5">
            <a:extLst>
              <a:ext uri="{FF2B5EF4-FFF2-40B4-BE49-F238E27FC236}">
                <a16:creationId xmlns:a16="http://schemas.microsoft.com/office/drawing/2014/main" id="{BBFC7B1D-6B90-7E43-B776-E2117AD85BA3}"/>
              </a:ext>
            </a:extLst>
          </p:cNvPr>
          <p:cNvSpPr>
            <a:spLocks noGrp="1"/>
          </p:cNvSpPr>
          <p:nvPr>
            <p:ph type="sldNum" sz="quarter" idx="13"/>
          </p:nvPr>
        </p:nvSpPr>
        <p:spPr>
          <a:xfrm>
            <a:off x="838199" y="6313304"/>
            <a:ext cx="304801" cy="365125"/>
          </a:xfrm>
          <a:prstGeom prst="rect">
            <a:avLst/>
          </a:prstGeom>
        </p:spPr>
        <p:txBody>
          <a:bodyPr vert="horz" lIns="0" tIns="0" rIns="0" bIns="0" rtlCol="0" anchor="ctr"/>
          <a:lstStyle>
            <a:lvl1pPr algn="l">
              <a:defRPr sz="900" b="0" i="0">
                <a:solidFill>
                  <a:schemeClr val="tx1"/>
                </a:solidFill>
                <a:latin typeface="Arial" panose="020B0604020202020204" pitchFamily="34" charset="0"/>
                <a:ea typeface="Roboto" panose="02000000000000000000" pitchFamily="2" charset="0"/>
              </a:defRPr>
            </a:lvl1pPr>
          </a:lstStyle>
          <a:p>
            <a:fld id="{D246DD65-7063-5C41-96CC-23CB1F95FA91}" type="slidenum">
              <a:rPr lang="en-US" smtClean="0"/>
              <a:pPr/>
              <a:t>‹#›</a:t>
            </a:fld>
            <a:endParaRPr lang="en-US" dirty="0"/>
          </a:p>
        </p:txBody>
      </p:sp>
    </p:spTree>
    <p:extLst>
      <p:ext uri="{BB962C8B-B14F-4D97-AF65-F5344CB8AC3E}">
        <p14:creationId xmlns:p14="http://schemas.microsoft.com/office/powerpoint/2010/main" val="25542013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 Column">
    <p:bg>
      <p:bgPr>
        <a:solidFill>
          <a:srgbClr val="FDFDFD"/>
        </a:solidFill>
        <a:effectLst/>
      </p:bgPr>
    </p:bg>
    <p:spTree>
      <p:nvGrpSpPr>
        <p:cNvPr id="1" name=""/>
        <p:cNvGrpSpPr/>
        <p:nvPr/>
      </p:nvGrpSpPr>
      <p:grpSpPr>
        <a:xfrm>
          <a:off x="0" y="0"/>
          <a:ext cx="0" cy="0"/>
          <a:chOff x="0" y="0"/>
          <a:chExt cx="0" cy="0"/>
        </a:xfrm>
      </p:grpSpPr>
      <p:pic>
        <p:nvPicPr>
          <p:cNvPr id="22" name="Graphic 21">
            <a:extLst>
              <a:ext uri="{FF2B5EF4-FFF2-40B4-BE49-F238E27FC236}">
                <a16:creationId xmlns:a16="http://schemas.microsoft.com/office/drawing/2014/main" id="{77C73AE0-D7E4-A242-969B-B953C881A47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98042" y="2100648"/>
            <a:ext cx="3072478" cy="3912973"/>
          </a:xfrm>
          <a:prstGeom prst="rect">
            <a:avLst/>
          </a:prstGeom>
        </p:spPr>
      </p:pic>
      <p:sp>
        <p:nvSpPr>
          <p:cNvPr id="3" name="Text Placeholder 2">
            <a:extLst>
              <a:ext uri="{FF2B5EF4-FFF2-40B4-BE49-F238E27FC236}">
                <a16:creationId xmlns:a16="http://schemas.microsoft.com/office/drawing/2014/main" id="{40514D1F-5CA2-FD4A-8111-5C428B8EA2AB}"/>
              </a:ext>
            </a:extLst>
          </p:cNvPr>
          <p:cNvSpPr>
            <a:spLocks noGrp="1"/>
          </p:cNvSpPr>
          <p:nvPr>
            <p:ph type="body" idx="1"/>
          </p:nvPr>
        </p:nvSpPr>
        <p:spPr>
          <a:xfrm>
            <a:off x="839789" y="1681163"/>
            <a:ext cx="3329876" cy="823912"/>
          </a:xfrm>
        </p:spPr>
        <p:txBody>
          <a:bodyPr anchor="b"/>
          <a:lstStyle>
            <a:lvl1pPr marL="0" indent="0">
              <a:buNone/>
              <a:defRPr sz="2000" b="0" i="0">
                <a:solidFill>
                  <a:schemeClr val="tx1"/>
                </a:solidFill>
                <a:latin typeface="Arial" panose="020B0604020202020204" pitchFamily="34" charset="0"/>
                <a:ea typeface="Roboto Medium" panose="02000000000000000000"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5D0A67AE-768D-FF47-ADE4-FE6888DC7AE3}"/>
              </a:ext>
            </a:extLst>
          </p:cNvPr>
          <p:cNvSpPr>
            <a:spLocks noGrp="1"/>
          </p:cNvSpPr>
          <p:nvPr>
            <p:ph sz="half" idx="2"/>
          </p:nvPr>
        </p:nvSpPr>
        <p:spPr>
          <a:xfrm>
            <a:off x="839789" y="2583401"/>
            <a:ext cx="3329875" cy="3606261"/>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D2365714-2DEC-DB45-B4F8-C84DA01AD44B}"/>
              </a:ext>
            </a:extLst>
          </p:cNvPr>
          <p:cNvSpPr>
            <a:spLocks noGrp="1"/>
          </p:cNvSpPr>
          <p:nvPr>
            <p:ph type="body" sz="quarter" idx="3"/>
          </p:nvPr>
        </p:nvSpPr>
        <p:spPr>
          <a:xfrm>
            <a:off x="4447032" y="1681163"/>
            <a:ext cx="3329875" cy="823912"/>
          </a:xfrm>
        </p:spPr>
        <p:txBody>
          <a:bodyPr anchor="b"/>
          <a:lstStyle>
            <a:lvl1pPr marL="0" indent="0">
              <a:buNone/>
              <a:defRPr sz="2000" b="0" i="0">
                <a:solidFill>
                  <a:schemeClr val="tx1"/>
                </a:solidFill>
                <a:latin typeface="Arial" panose="020B0604020202020204" pitchFamily="34" charset="0"/>
                <a:ea typeface="Roboto Medium" panose="02000000000000000000"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1849B1B4-FD50-6A4A-94C0-75828986E310}"/>
              </a:ext>
            </a:extLst>
          </p:cNvPr>
          <p:cNvSpPr>
            <a:spLocks noGrp="1"/>
          </p:cNvSpPr>
          <p:nvPr>
            <p:ph sz="quarter" idx="4"/>
          </p:nvPr>
        </p:nvSpPr>
        <p:spPr>
          <a:xfrm>
            <a:off x="4447033" y="2583401"/>
            <a:ext cx="3329874" cy="3606261"/>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Text Placeholder 4">
            <a:extLst>
              <a:ext uri="{FF2B5EF4-FFF2-40B4-BE49-F238E27FC236}">
                <a16:creationId xmlns:a16="http://schemas.microsoft.com/office/drawing/2014/main" id="{4680BD89-3A68-944D-BC2C-E8B0449AD1A2}"/>
              </a:ext>
            </a:extLst>
          </p:cNvPr>
          <p:cNvSpPr>
            <a:spLocks noGrp="1"/>
          </p:cNvSpPr>
          <p:nvPr>
            <p:ph type="body" sz="quarter" idx="11"/>
          </p:nvPr>
        </p:nvSpPr>
        <p:spPr>
          <a:xfrm>
            <a:off x="8022336" y="1681163"/>
            <a:ext cx="3329875" cy="823912"/>
          </a:xfrm>
        </p:spPr>
        <p:txBody>
          <a:bodyPr anchor="b"/>
          <a:lstStyle>
            <a:lvl1pPr marL="0" indent="0">
              <a:buNone/>
              <a:defRPr sz="2000" b="0" i="0">
                <a:solidFill>
                  <a:schemeClr val="tx1"/>
                </a:solidFill>
                <a:latin typeface="Arial" panose="020B0604020202020204" pitchFamily="34" charset="0"/>
                <a:ea typeface="Roboto Medium" panose="02000000000000000000"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8" name="Content Placeholder 5">
            <a:extLst>
              <a:ext uri="{FF2B5EF4-FFF2-40B4-BE49-F238E27FC236}">
                <a16:creationId xmlns:a16="http://schemas.microsoft.com/office/drawing/2014/main" id="{E8254C6D-E886-9E4E-98B7-90808E14B0E1}"/>
              </a:ext>
            </a:extLst>
          </p:cNvPr>
          <p:cNvSpPr>
            <a:spLocks noGrp="1"/>
          </p:cNvSpPr>
          <p:nvPr>
            <p:ph sz="quarter" idx="12"/>
          </p:nvPr>
        </p:nvSpPr>
        <p:spPr>
          <a:xfrm>
            <a:off x="8022337" y="2583401"/>
            <a:ext cx="3329874" cy="3606261"/>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Title Placeholder 1">
            <a:extLst>
              <a:ext uri="{FF2B5EF4-FFF2-40B4-BE49-F238E27FC236}">
                <a16:creationId xmlns:a16="http://schemas.microsoft.com/office/drawing/2014/main" id="{26F4DC66-1335-0F4F-9745-4AA9264533BF}"/>
              </a:ext>
            </a:extLst>
          </p:cNvPr>
          <p:cNvSpPr>
            <a:spLocks noGrp="1"/>
          </p:cNvSpPr>
          <p:nvPr>
            <p:ph type="title"/>
          </p:nvPr>
        </p:nvSpPr>
        <p:spPr>
          <a:xfrm>
            <a:off x="838200" y="658842"/>
            <a:ext cx="10515600" cy="1033508"/>
          </a:xfrm>
          <a:prstGeom prst="rect">
            <a:avLst/>
          </a:prstGeom>
        </p:spPr>
        <p:txBody>
          <a:bodyPr vert="horz" lIns="0" tIns="0" rIns="0" bIns="0" rtlCol="0" anchor="t" anchorCtr="0">
            <a:noAutofit/>
          </a:bodyPr>
          <a:lstStyle>
            <a:lvl1pPr>
              <a:lnSpc>
                <a:spcPct val="90000"/>
              </a:lnSpc>
              <a:defRPr b="0" i="0" spc="40" baseline="0">
                <a:solidFill>
                  <a:schemeClr val="tx1"/>
                </a:solidFill>
                <a:latin typeface="Arial" panose="020B0604020202020204" pitchFamily="34" charset="0"/>
                <a:ea typeface="Roboto Light" panose="02000000000000000000" pitchFamily="2" charset="0"/>
              </a:defRPr>
            </a:lvl1pPr>
          </a:lstStyle>
          <a:p>
            <a:endParaRPr lang="en-US" dirty="0"/>
          </a:p>
        </p:txBody>
      </p:sp>
      <p:sp>
        <p:nvSpPr>
          <p:cNvPr id="14" name="Text Placeholder 3">
            <a:extLst>
              <a:ext uri="{FF2B5EF4-FFF2-40B4-BE49-F238E27FC236}">
                <a16:creationId xmlns:a16="http://schemas.microsoft.com/office/drawing/2014/main" id="{0DAFF62F-8798-4E45-A0D4-33C7E942E03F}"/>
              </a:ext>
            </a:extLst>
          </p:cNvPr>
          <p:cNvSpPr>
            <a:spLocks noGrp="1"/>
          </p:cNvSpPr>
          <p:nvPr>
            <p:ph type="body" sz="quarter" idx="14" hasCustomPrompt="1"/>
          </p:nvPr>
        </p:nvSpPr>
        <p:spPr>
          <a:xfrm>
            <a:off x="838197" y="466818"/>
            <a:ext cx="4212859" cy="173736"/>
          </a:xfrm>
        </p:spPr>
        <p:txBody>
          <a:bodyPr/>
          <a:lstStyle>
            <a:lvl1pPr marL="0" indent="0">
              <a:buFont typeface="Arial" panose="020B0604020202020204" pitchFamily="34" charset="0"/>
              <a:buNone/>
              <a:defRPr sz="1000" b="1" i="0">
                <a:solidFill>
                  <a:schemeClr val="tx1"/>
                </a:solidFill>
                <a:latin typeface="Arial" panose="020B0604020202020204" pitchFamily="34" charset="0"/>
                <a:ea typeface="Roboto" panose="02000000000000000000" pitchFamily="2" charset="0"/>
              </a:defRPr>
            </a:lvl1pPr>
            <a:lvl2pPr marL="9525" indent="0">
              <a:buNone/>
              <a:defRPr sz="1000" b="1" i="0">
                <a:latin typeface="Roboto" panose="02000000000000000000" pitchFamily="2" charset="0"/>
                <a:ea typeface="Roboto" panose="02000000000000000000" pitchFamily="2" charset="0"/>
              </a:defRPr>
            </a:lvl2pPr>
            <a:lvl3pPr marL="222250" indent="0">
              <a:buNone/>
              <a:defRPr sz="1000" b="1" i="0">
                <a:latin typeface="Roboto" panose="02000000000000000000" pitchFamily="2" charset="0"/>
                <a:ea typeface="Roboto" panose="02000000000000000000" pitchFamily="2" charset="0"/>
              </a:defRPr>
            </a:lvl3pPr>
            <a:lvl4pPr marL="406400" indent="0">
              <a:buNone/>
              <a:defRPr sz="1000" b="1" i="0">
                <a:latin typeface="Roboto" panose="02000000000000000000" pitchFamily="2" charset="0"/>
                <a:ea typeface="Roboto" panose="02000000000000000000" pitchFamily="2" charset="0"/>
              </a:defRPr>
            </a:lvl4pPr>
            <a:lvl5pPr marL="577850" indent="0">
              <a:buNone/>
              <a:defRPr sz="1000" b="1" i="0">
                <a:latin typeface="Roboto" panose="02000000000000000000" pitchFamily="2" charset="0"/>
                <a:ea typeface="Roboto" panose="02000000000000000000" pitchFamily="2" charset="0"/>
              </a:defRPr>
            </a:lvl5pPr>
          </a:lstStyle>
          <a:p>
            <a:pPr lvl="0"/>
            <a:r>
              <a:rPr lang="en-US" dirty="0"/>
              <a:t>CLICK TO EDIT MASTER TEXT STYLES</a:t>
            </a:r>
          </a:p>
        </p:txBody>
      </p:sp>
      <p:pic>
        <p:nvPicPr>
          <p:cNvPr id="15" name="Graphic 14">
            <a:extLst>
              <a:ext uri="{FF2B5EF4-FFF2-40B4-BE49-F238E27FC236}">
                <a16:creationId xmlns:a16="http://schemas.microsoft.com/office/drawing/2014/main" id="{42DFC743-EAE4-164F-9F2A-49499828B830}"/>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069456" y="6392200"/>
            <a:ext cx="198715" cy="253075"/>
          </a:xfrm>
          <a:prstGeom prst="rect">
            <a:avLst/>
          </a:prstGeom>
        </p:spPr>
      </p:pic>
      <p:sp>
        <p:nvSpPr>
          <p:cNvPr id="16" name="Footer Placeholder 6">
            <a:extLst>
              <a:ext uri="{FF2B5EF4-FFF2-40B4-BE49-F238E27FC236}">
                <a16:creationId xmlns:a16="http://schemas.microsoft.com/office/drawing/2014/main" id="{C0386E48-0F19-AA48-A312-AAED6625B1B6}"/>
              </a:ext>
            </a:extLst>
          </p:cNvPr>
          <p:cNvSpPr>
            <a:spLocks noGrp="1"/>
          </p:cNvSpPr>
          <p:nvPr>
            <p:ph type="ftr" sz="quarter" idx="15"/>
          </p:nvPr>
        </p:nvSpPr>
        <p:spPr>
          <a:xfrm>
            <a:off x="1383401" y="6426616"/>
            <a:ext cx="4114800" cy="138499"/>
          </a:xfrm>
          <a:prstGeom prst="rect">
            <a:avLst/>
          </a:prstGeom>
        </p:spPr>
        <p:txBody>
          <a:bodyPr vert="horz" lIns="0" tIns="0" rIns="0" bIns="0" rtlCol="0" anchor="t" anchorCtr="0">
            <a:spAutoFit/>
          </a:bodyPr>
          <a:lstStyle>
            <a:lvl1pPr algn="l">
              <a:defRPr sz="900">
                <a:solidFill>
                  <a:schemeClr val="tx1"/>
                </a:solidFill>
                <a:latin typeface="Roboto" panose="02000000000000000000" pitchFamily="2" charset="0"/>
                <a:ea typeface="Roboto" panose="02000000000000000000" pitchFamily="2" charset="0"/>
              </a:defRPr>
            </a:lvl1pPr>
          </a:lstStyle>
          <a:p>
            <a:r>
              <a:rPr lang="en-US" b="1">
                <a:latin typeface="Arial" panose="020B0604020202020204" pitchFamily="34" charset="0"/>
              </a:rPr>
              <a:t>NuVista Energy Ltd.</a:t>
            </a:r>
            <a:endParaRPr lang="en-US" dirty="0">
              <a:latin typeface="Arial" panose="020B0604020202020204" pitchFamily="34" charset="0"/>
            </a:endParaRPr>
          </a:p>
        </p:txBody>
      </p:sp>
      <p:sp>
        <p:nvSpPr>
          <p:cNvPr id="19" name="Slide Number Placeholder 5">
            <a:extLst>
              <a:ext uri="{FF2B5EF4-FFF2-40B4-BE49-F238E27FC236}">
                <a16:creationId xmlns:a16="http://schemas.microsoft.com/office/drawing/2014/main" id="{40877424-E4CB-E440-9AD4-8A0F2982A8F7}"/>
              </a:ext>
            </a:extLst>
          </p:cNvPr>
          <p:cNvSpPr>
            <a:spLocks noGrp="1"/>
          </p:cNvSpPr>
          <p:nvPr>
            <p:ph type="sldNum" sz="quarter" idx="16"/>
          </p:nvPr>
        </p:nvSpPr>
        <p:spPr>
          <a:xfrm>
            <a:off x="838199" y="6313304"/>
            <a:ext cx="304801" cy="365125"/>
          </a:xfrm>
          <a:prstGeom prst="rect">
            <a:avLst/>
          </a:prstGeom>
        </p:spPr>
        <p:txBody>
          <a:bodyPr vert="horz" lIns="0" tIns="0" rIns="0" bIns="0" rtlCol="0" anchor="ctr"/>
          <a:lstStyle>
            <a:lvl1pPr algn="l">
              <a:defRPr sz="900" b="0" i="0">
                <a:solidFill>
                  <a:schemeClr val="tx1"/>
                </a:solidFill>
                <a:latin typeface="Arial" panose="020B0604020202020204" pitchFamily="34" charset="0"/>
                <a:ea typeface="Roboto" panose="02000000000000000000" pitchFamily="2" charset="0"/>
              </a:defRPr>
            </a:lvl1pPr>
          </a:lstStyle>
          <a:p>
            <a:fld id="{D246DD65-7063-5C41-96CC-23CB1F95FA91}" type="slidenum">
              <a:rPr lang="en-US" smtClean="0"/>
              <a:pPr/>
              <a:t>‹#›</a:t>
            </a:fld>
            <a:endParaRPr lang="en-US" dirty="0"/>
          </a:p>
        </p:txBody>
      </p:sp>
    </p:spTree>
    <p:extLst>
      <p:ext uri="{BB962C8B-B14F-4D97-AF65-F5344CB8AC3E}">
        <p14:creationId xmlns:p14="http://schemas.microsoft.com/office/powerpoint/2010/main" val="19740601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 column">
    <p:bg>
      <p:bgPr>
        <a:solidFill>
          <a:srgbClr val="FDFDFD"/>
        </a:solidFill>
        <a:effectLst/>
      </p:bgPr>
    </p:bg>
    <p:spTree>
      <p:nvGrpSpPr>
        <p:cNvPr id="1" name=""/>
        <p:cNvGrpSpPr/>
        <p:nvPr/>
      </p:nvGrpSpPr>
      <p:grpSpPr>
        <a:xfrm>
          <a:off x="0" y="0"/>
          <a:ext cx="0" cy="0"/>
          <a:chOff x="0" y="0"/>
          <a:chExt cx="0" cy="0"/>
        </a:xfrm>
      </p:grpSpPr>
      <p:pic>
        <p:nvPicPr>
          <p:cNvPr id="24" name="Graphic 23">
            <a:extLst>
              <a:ext uri="{FF2B5EF4-FFF2-40B4-BE49-F238E27FC236}">
                <a16:creationId xmlns:a16="http://schemas.microsoft.com/office/drawing/2014/main" id="{D56AE876-11E1-1F4B-9F56-4572091AB202}"/>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98040" y="2067696"/>
            <a:ext cx="3072478" cy="3912973"/>
          </a:xfrm>
          <a:prstGeom prst="rect">
            <a:avLst/>
          </a:prstGeom>
        </p:spPr>
      </p:pic>
      <p:sp>
        <p:nvSpPr>
          <p:cNvPr id="3" name="Text Placeholder 2">
            <a:extLst>
              <a:ext uri="{FF2B5EF4-FFF2-40B4-BE49-F238E27FC236}">
                <a16:creationId xmlns:a16="http://schemas.microsoft.com/office/drawing/2014/main" id="{40514D1F-5CA2-FD4A-8111-5C428B8EA2AB}"/>
              </a:ext>
            </a:extLst>
          </p:cNvPr>
          <p:cNvSpPr>
            <a:spLocks noGrp="1"/>
          </p:cNvSpPr>
          <p:nvPr>
            <p:ph type="body" idx="1"/>
          </p:nvPr>
        </p:nvSpPr>
        <p:spPr>
          <a:xfrm>
            <a:off x="839789" y="1681163"/>
            <a:ext cx="2433764" cy="823912"/>
          </a:xfrm>
        </p:spPr>
        <p:txBody>
          <a:bodyPr anchor="b"/>
          <a:lstStyle>
            <a:lvl1pPr marL="0" indent="0">
              <a:buNone/>
              <a:defRPr sz="1800" b="0" i="0">
                <a:solidFill>
                  <a:schemeClr val="tx1"/>
                </a:solidFill>
                <a:latin typeface="Arial" panose="020B0604020202020204" pitchFamily="34" charset="0"/>
                <a:ea typeface="Roboto Medium" panose="02000000000000000000"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5D0A67AE-768D-FF47-ADE4-FE6888DC7AE3}"/>
              </a:ext>
            </a:extLst>
          </p:cNvPr>
          <p:cNvSpPr>
            <a:spLocks noGrp="1"/>
          </p:cNvSpPr>
          <p:nvPr>
            <p:ph sz="half" idx="2"/>
          </p:nvPr>
        </p:nvSpPr>
        <p:spPr>
          <a:xfrm>
            <a:off x="839789" y="2627789"/>
            <a:ext cx="2433763" cy="3561873"/>
          </a:xfrm>
        </p:spPr>
        <p:txBody>
          <a:bodyPr/>
          <a:lstStyle>
            <a:lvl1pPr>
              <a:defRPr sz="1200">
                <a:solidFill>
                  <a:schemeClr val="tx1"/>
                </a:solidFill>
              </a:defRPr>
            </a:lvl1pPr>
            <a:lvl2pPr>
              <a:defRPr sz="1200">
                <a:solidFill>
                  <a:schemeClr val="tx1"/>
                </a:solidFill>
              </a:defRPr>
            </a:lvl2pPr>
            <a:lvl3pPr>
              <a:defRPr sz="1200">
                <a:solidFill>
                  <a:schemeClr val="tx1"/>
                </a:solidFill>
              </a:defRPr>
            </a:lvl3pPr>
            <a:lvl4pPr>
              <a:defRPr sz="1200">
                <a:solidFill>
                  <a:schemeClr val="tx1"/>
                </a:solidFill>
              </a:defRPr>
            </a:lvl4pPr>
            <a:lvl5pPr>
              <a:defRPr sz="12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D2365714-2DEC-DB45-B4F8-C84DA01AD44B}"/>
              </a:ext>
            </a:extLst>
          </p:cNvPr>
          <p:cNvSpPr>
            <a:spLocks noGrp="1"/>
          </p:cNvSpPr>
          <p:nvPr>
            <p:ph type="body" sz="quarter" idx="3"/>
          </p:nvPr>
        </p:nvSpPr>
        <p:spPr>
          <a:xfrm>
            <a:off x="3522028" y="1681163"/>
            <a:ext cx="2433763" cy="823912"/>
          </a:xfrm>
        </p:spPr>
        <p:txBody>
          <a:bodyPr anchor="b"/>
          <a:lstStyle>
            <a:lvl1pPr marL="0" indent="0">
              <a:buNone/>
              <a:defRPr sz="1800" b="0" i="0">
                <a:solidFill>
                  <a:schemeClr val="tx1"/>
                </a:solidFill>
                <a:latin typeface="Arial" panose="020B0604020202020204" pitchFamily="34" charset="0"/>
                <a:ea typeface="Roboto Medium" panose="02000000000000000000"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1849B1B4-FD50-6A4A-94C0-75828986E310}"/>
              </a:ext>
            </a:extLst>
          </p:cNvPr>
          <p:cNvSpPr>
            <a:spLocks noGrp="1"/>
          </p:cNvSpPr>
          <p:nvPr>
            <p:ph sz="quarter" idx="4"/>
          </p:nvPr>
        </p:nvSpPr>
        <p:spPr>
          <a:xfrm>
            <a:off x="3522029" y="2627789"/>
            <a:ext cx="2433762" cy="3561873"/>
          </a:xfrm>
        </p:spPr>
        <p:txBody>
          <a:bodyPr/>
          <a:lstStyle>
            <a:lvl1pPr>
              <a:defRPr sz="1200">
                <a:solidFill>
                  <a:schemeClr val="tx1"/>
                </a:solidFill>
              </a:defRPr>
            </a:lvl1pPr>
            <a:lvl2pPr>
              <a:defRPr sz="1200">
                <a:solidFill>
                  <a:schemeClr val="tx1"/>
                </a:solidFill>
              </a:defRPr>
            </a:lvl2pPr>
            <a:lvl3pPr>
              <a:defRPr sz="1200">
                <a:solidFill>
                  <a:schemeClr val="tx1"/>
                </a:solidFill>
              </a:defRPr>
            </a:lvl3pPr>
            <a:lvl4pPr>
              <a:defRPr sz="1200">
                <a:solidFill>
                  <a:schemeClr val="tx1"/>
                </a:solidFill>
              </a:defRPr>
            </a:lvl4pPr>
            <a:lvl5pPr>
              <a:defRPr sz="12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Text Placeholder 4">
            <a:extLst>
              <a:ext uri="{FF2B5EF4-FFF2-40B4-BE49-F238E27FC236}">
                <a16:creationId xmlns:a16="http://schemas.microsoft.com/office/drawing/2014/main" id="{4680BD89-3A68-944D-BC2C-E8B0449AD1A2}"/>
              </a:ext>
            </a:extLst>
          </p:cNvPr>
          <p:cNvSpPr>
            <a:spLocks noGrp="1"/>
          </p:cNvSpPr>
          <p:nvPr>
            <p:ph type="body" sz="quarter" idx="11"/>
          </p:nvPr>
        </p:nvSpPr>
        <p:spPr>
          <a:xfrm>
            <a:off x="6236211" y="1681163"/>
            <a:ext cx="2433763" cy="823912"/>
          </a:xfrm>
        </p:spPr>
        <p:txBody>
          <a:bodyPr anchor="b"/>
          <a:lstStyle>
            <a:lvl1pPr marL="0" indent="0">
              <a:buNone/>
              <a:defRPr sz="1800" b="0" i="0">
                <a:solidFill>
                  <a:schemeClr val="tx1"/>
                </a:solidFill>
                <a:latin typeface="Arial" panose="020B0604020202020204" pitchFamily="34" charset="0"/>
                <a:ea typeface="Roboto Medium" panose="02000000000000000000"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8" name="Content Placeholder 5">
            <a:extLst>
              <a:ext uri="{FF2B5EF4-FFF2-40B4-BE49-F238E27FC236}">
                <a16:creationId xmlns:a16="http://schemas.microsoft.com/office/drawing/2014/main" id="{E8254C6D-E886-9E4E-98B7-90808E14B0E1}"/>
              </a:ext>
            </a:extLst>
          </p:cNvPr>
          <p:cNvSpPr>
            <a:spLocks noGrp="1"/>
          </p:cNvSpPr>
          <p:nvPr>
            <p:ph sz="quarter" idx="12"/>
          </p:nvPr>
        </p:nvSpPr>
        <p:spPr>
          <a:xfrm>
            <a:off x="6236212" y="2627789"/>
            <a:ext cx="2433762" cy="3561873"/>
          </a:xfrm>
        </p:spPr>
        <p:txBody>
          <a:bodyPr/>
          <a:lstStyle>
            <a:lvl1pPr>
              <a:defRPr sz="1200">
                <a:solidFill>
                  <a:schemeClr val="tx1"/>
                </a:solidFill>
              </a:defRPr>
            </a:lvl1pPr>
            <a:lvl2pPr>
              <a:defRPr sz="1200">
                <a:solidFill>
                  <a:schemeClr val="tx1"/>
                </a:solidFill>
              </a:defRPr>
            </a:lvl2pPr>
            <a:lvl3pPr>
              <a:defRPr sz="1200">
                <a:solidFill>
                  <a:schemeClr val="tx1"/>
                </a:solidFill>
              </a:defRPr>
            </a:lvl3pPr>
            <a:lvl4pPr>
              <a:defRPr sz="1200">
                <a:solidFill>
                  <a:schemeClr val="tx1"/>
                </a:solidFill>
              </a:defRPr>
            </a:lvl4pPr>
            <a:lvl5pPr>
              <a:defRPr sz="12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Text Placeholder 4">
            <a:extLst>
              <a:ext uri="{FF2B5EF4-FFF2-40B4-BE49-F238E27FC236}">
                <a16:creationId xmlns:a16="http://schemas.microsoft.com/office/drawing/2014/main" id="{A4C158C2-261F-F64E-9A5D-D4155B9C1FE1}"/>
              </a:ext>
            </a:extLst>
          </p:cNvPr>
          <p:cNvSpPr>
            <a:spLocks noGrp="1"/>
          </p:cNvSpPr>
          <p:nvPr>
            <p:ph type="body" sz="quarter" idx="13"/>
          </p:nvPr>
        </p:nvSpPr>
        <p:spPr>
          <a:xfrm>
            <a:off x="8915403" y="1681163"/>
            <a:ext cx="2433763" cy="823912"/>
          </a:xfrm>
        </p:spPr>
        <p:txBody>
          <a:bodyPr anchor="b"/>
          <a:lstStyle>
            <a:lvl1pPr marL="0" indent="0">
              <a:buNone/>
              <a:defRPr sz="1800" b="0" i="0">
                <a:solidFill>
                  <a:schemeClr val="tx1"/>
                </a:solidFill>
                <a:latin typeface="Arial" panose="020B0604020202020204" pitchFamily="34" charset="0"/>
                <a:ea typeface="Roboto Medium" panose="02000000000000000000"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6" name="Content Placeholder 5">
            <a:extLst>
              <a:ext uri="{FF2B5EF4-FFF2-40B4-BE49-F238E27FC236}">
                <a16:creationId xmlns:a16="http://schemas.microsoft.com/office/drawing/2014/main" id="{157FE8CE-6074-1D41-82FE-76F196F43666}"/>
              </a:ext>
            </a:extLst>
          </p:cNvPr>
          <p:cNvSpPr>
            <a:spLocks noGrp="1"/>
          </p:cNvSpPr>
          <p:nvPr>
            <p:ph sz="quarter" idx="14"/>
          </p:nvPr>
        </p:nvSpPr>
        <p:spPr>
          <a:xfrm>
            <a:off x="8915404" y="2627789"/>
            <a:ext cx="2433762" cy="3561873"/>
          </a:xfrm>
        </p:spPr>
        <p:txBody>
          <a:bodyPr/>
          <a:lstStyle>
            <a:lvl1pPr>
              <a:defRPr sz="1200">
                <a:solidFill>
                  <a:schemeClr val="tx1"/>
                </a:solidFill>
              </a:defRPr>
            </a:lvl1pPr>
            <a:lvl2pPr>
              <a:defRPr sz="1200">
                <a:solidFill>
                  <a:schemeClr val="tx1"/>
                </a:solidFill>
              </a:defRPr>
            </a:lvl2pPr>
            <a:lvl3pPr>
              <a:defRPr sz="1200">
                <a:solidFill>
                  <a:schemeClr val="tx1"/>
                </a:solidFill>
              </a:defRPr>
            </a:lvl3pPr>
            <a:lvl4pPr>
              <a:defRPr sz="1200">
                <a:solidFill>
                  <a:schemeClr val="tx1"/>
                </a:solidFill>
              </a:defRPr>
            </a:lvl4pPr>
            <a:lvl5pPr>
              <a:defRPr sz="12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Title Placeholder 1">
            <a:extLst>
              <a:ext uri="{FF2B5EF4-FFF2-40B4-BE49-F238E27FC236}">
                <a16:creationId xmlns:a16="http://schemas.microsoft.com/office/drawing/2014/main" id="{796C8826-3828-104C-9751-E7B336D3B838}"/>
              </a:ext>
            </a:extLst>
          </p:cNvPr>
          <p:cNvSpPr>
            <a:spLocks noGrp="1"/>
          </p:cNvSpPr>
          <p:nvPr>
            <p:ph type="title"/>
          </p:nvPr>
        </p:nvSpPr>
        <p:spPr>
          <a:xfrm>
            <a:off x="838200" y="658842"/>
            <a:ext cx="10515600" cy="1033508"/>
          </a:xfrm>
          <a:prstGeom prst="rect">
            <a:avLst/>
          </a:prstGeom>
        </p:spPr>
        <p:txBody>
          <a:bodyPr vert="horz" lIns="0" tIns="0" rIns="0" bIns="0" rtlCol="0" anchor="t" anchorCtr="0">
            <a:noAutofit/>
          </a:bodyPr>
          <a:lstStyle>
            <a:lvl1pPr>
              <a:lnSpc>
                <a:spcPct val="90000"/>
              </a:lnSpc>
              <a:defRPr b="0" i="0" spc="40" baseline="0">
                <a:solidFill>
                  <a:schemeClr val="tx1"/>
                </a:solidFill>
                <a:latin typeface="Arial" panose="020B0604020202020204" pitchFamily="34" charset="0"/>
                <a:ea typeface="Roboto Light" panose="02000000000000000000" pitchFamily="2" charset="0"/>
              </a:defRPr>
            </a:lvl1pPr>
          </a:lstStyle>
          <a:p>
            <a:endParaRPr lang="en-US" dirty="0"/>
          </a:p>
        </p:txBody>
      </p:sp>
      <p:sp>
        <p:nvSpPr>
          <p:cNvPr id="19" name="Text Placeholder 3">
            <a:extLst>
              <a:ext uri="{FF2B5EF4-FFF2-40B4-BE49-F238E27FC236}">
                <a16:creationId xmlns:a16="http://schemas.microsoft.com/office/drawing/2014/main" id="{2535F69B-6616-784E-937A-CCDC18B5CA1E}"/>
              </a:ext>
            </a:extLst>
          </p:cNvPr>
          <p:cNvSpPr>
            <a:spLocks noGrp="1"/>
          </p:cNvSpPr>
          <p:nvPr>
            <p:ph type="body" sz="quarter" idx="16" hasCustomPrompt="1"/>
          </p:nvPr>
        </p:nvSpPr>
        <p:spPr>
          <a:xfrm>
            <a:off x="838197" y="466818"/>
            <a:ext cx="4212859" cy="173736"/>
          </a:xfrm>
        </p:spPr>
        <p:txBody>
          <a:bodyPr/>
          <a:lstStyle>
            <a:lvl1pPr marL="0" indent="0">
              <a:buFont typeface="Arial" panose="020B0604020202020204" pitchFamily="34" charset="0"/>
              <a:buNone/>
              <a:defRPr sz="1000" b="1" i="0">
                <a:solidFill>
                  <a:schemeClr val="tx1"/>
                </a:solidFill>
                <a:latin typeface="Arial" panose="020B0604020202020204" pitchFamily="34" charset="0"/>
                <a:ea typeface="Roboto" panose="02000000000000000000" pitchFamily="2" charset="0"/>
              </a:defRPr>
            </a:lvl1pPr>
            <a:lvl2pPr marL="9525" indent="0">
              <a:buNone/>
              <a:defRPr sz="1000" b="1" i="0">
                <a:latin typeface="Roboto" panose="02000000000000000000" pitchFamily="2" charset="0"/>
                <a:ea typeface="Roboto" panose="02000000000000000000" pitchFamily="2" charset="0"/>
              </a:defRPr>
            </a:lvl2pPr>
            <a:lvl3pPr marL="222250" indent="0">
              <a:buNone/>
              <a:defRPr sz="1000" b="1" i="0">
                <a:latin typeface="Roboto" panose="02000000000000000000" pitchFamily="2" charset="0"/>
                <a:ea typeface="Roboto" panose="02000000000000000000" pitchFamily="2" charset="0"/>
              </a:defRPr>
            </a:lvl3pPr>
            <a:lvl4pPr marL="406400" indent="0">
              <a:buNone/>
              <a:defRPr sz="1000" b="1" i="0">
                <a:latin typeface="Roboto" panose="02000000000000000000" pitchFamily="2" charset="0"/>
                <a:ea typeface="Roboto" panose="02000000000000000000" pitchFamily="2" charset="0"/>
              </a:defRPr>
            </a:lvl4pPr>
            <a:lvl5pPr marL="577850" indent="0">
              <a:buNone/>
              <a:defRPr sz="1000" b="1" i="0">
                <a:latin typeface="Roboto" panose="02000000000000000000" pitchFamily="2" charset="0"/>
                <a:ea typeface="Roboto" panose="02000000000000000000" pitchFamily="2" charset="0"/>
              </a:defRPr>
            </a:lvl5pPr>
          </a:lstStyle>
          <a:p>
            <a:pPr lvl="0"/>
            <a:r>
              <a:rPr lang="en-US" dirty="0"/>
              <a:t>CLICK TO EDIT MASTER TEXT STYLES</a:t>
            </a:r>
          </a:p>
        </p:txBody>
      </p:sp>
      <p:pic>
        <p:nvPicPr>
          <p:cNvPr id="21" name="Graphic 20">
            <a:extLst>
              <a:ext uri="{FF2B5EF4-FFF2-40B4-BE49-F238E27FC236}">
                <a16:creationId xmlns:a16="http://schemas.microsoft.com/office/drawing/2014/main" id="{D88B4F55-61B2-0D4D-8B51-AC6C272E5EDF}"/>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069456" y="6392200"/>
            <a:ext cx="198715" cy="253075"/>
          </a:xfrm>
          <a:prstGeom prst="rect">
            <a:avLst/>
          </a:prstGeom>
        </p:spPr>
      </p:pic>
      <p:sp>
        <p:nvSpPr>
          <p:cNvPr id="23" name="Footer Placeholder 6">
            <a:extLst>
              <a:ext uri="{FF2B5EF4-FFF2-40B4-BE49-F238E27FC236}">
                <a16:creationId xmlns:a16="http://schemas.microsoft.com/office/drawing/2014/main" id="{05B8EE63-54FA-A448-B74E-4F5506964BC8}"/>
              </a:ext>
            </a:extLst>
          </p:cNvPr>
          <p:cNvSpPr>
            <a:spLocks noGrp="1"/>
          </p:cNvSpPr>
          <p:nvPr>
            <p:ph type="ftr" sz="quarter" idx="17"/>
          </p:nvPr>
        </p:nvSpPr>
        <p:spPr>
          <a:xfrm>
            <a:off x="1383401" y="6426616"/>
            <a:ext cx="4114800" cy="138499"/>
          </a:xfrm>
          <a:prstGeom prst="rect">
            <a:avLst/>
          </a:prstGeom>
        </p:spPr>
        <p:txBody>
          <a:bodyPr vert="horz" lIns="0" tIns="0" rIns="0" bIns="0" rtlCol="0" anchor="t" anchorCtr="0">
            <a:spAutoFit/>
          </a:bodyPr>
          <a:lstStyle>
            <a:lvl1pPr algn="l">
              <a:defRPr sz="900">
                <a:solidFill>
                  <a:schemeClr val="tx1"/>
                </a:solidFill>
                <a:latin typeface="Roboto" panose="02000000000000000000" pitchFamily="2" charset="0"/>
                <a:ea typeface="Roboto" panose="02000000000000000000" pitchFamily="2" charset="0"/>
              </a:defRPr>
            </a:lvl1pPr>
          </a:lstStyle>
          <a:p>
            <a:r>
              <a:rPr lang="en-US" b="1">
                <a:latin typeface="Arial" panose="020B0604020202020204" pitchFamily="34" charset="0"/>
              </a:rPr>
              <a:t>NuVista Energy Ltd.</a:t>
            </a:r>
            <a:endParaRPr lang="en-US" dirty="0">
              <a:latin typeface="Arial" panose="020B0604020202020204" pitchFamily="34" charset="0"/>
            </a:endParaRPr>
          </a:p>
        </p:txBody>
      </p:sp>
      <p:sp>
        <p:nvSpPr>
          <p:cNvPr id="26" name="Slide Number Placeholder 5">
            <a:extLst>
              <a:ext uri="{FF2B5EF4-FFF2-40B4-BE49-F238E27FC236}">
                <a16:creationId xmlns:a16="http://schemas.microsoft.com/office/drawing/2014/main" id="{6E70716A-C710-654A-8C18-B4AA6BDDB7C6}"/>
              </a:ext>
            </a:extLst>
          </p:cNvPr>
          <p:cNvSpPr>
            <a:spLocks noGrp="1"/>
          </p:cNvSpPr>
          <p:nvPr>
            <p:ph type="sldNum" sz="quarter" idx="18"/>
          </p:nvPr>
        </p:nvSpPr>
        <p:spPr>
          <a:xfrm>
            <a:off x="838199" y="6313304"/>
            <a:ext cx="304801" cy="365125"/>
          </a:xfrm>
          <a:prstGeom prst="rect">
            <a:avLst/>
          </a:prstGeom>
        </p:spPr>
        <p:txBody>
          <a:bodyPr vert="horz" lIns="0" tIns="0" rIns="0" bIns="0" rtlCol="0" anchor="ctr"/>
          <a:lstStyle>
            <a:lvl1pPr algn="l">
              <a:defRPr sz="900" b="0" i="0">
                <a:solidFill>
                  <a:schemeClr val="tx1"/>
                </a:solidFill>
                <a:latin typeface="Arial" panose="020B0604020202020204" pitchFamily="34" charset="0"/>
                <a:ea typeface="Roboto" panose="02000000000000000000" pitchFamily="2" charset="0"/>
              </a:defRPr>
            </a:lvl1pPr>
          </a:lstStyle>
          <a:p>
            <a:fld id="{D246DD65-7063-5C41-96CC-23CB1F95FA91}" type="slidenum">
              <a:rPr lang="en-US" smtClean="0"/>
              <a:pPr/>
              <a:t>‹#›</a:t>
            </a:fld>
            <a:endParaRPr lang="en-US" dirty="0"/>
          </a:p>
        </p:txBody>
      </p:sp>
    </p:spTree>
    <p:extLst>
      <p:ext uri="{BB962C8B-B14F-4D97-AF65-F5344CB8AC3E}">
        <p14:creationId xmlns:p14="http://schemas.microsoft.com/office/powerpoint/2010/main" val="4344611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with Caption">
    <p:bg>
      <p:bgPr>
        <a:solidFill>
          <a:srgbClr val="FDFDFD"/>
        </a:solidFill>
        <a:effectLst/>
      </p:bgPr>
    </p:bg>
    <p:spTree>
      <p:nvGrpSpPr>
        <p:cNvPr id="1" name=""/>
        <p:cNvGrpSpPr/>
        <p:nvPr/>
      </p:nvGrpSpPr>
      <p:grpSpPr>
        <a:xfrm>
          <a:off x="0" y="0"/>
          <a:ext cx="0" cy="0"/>
          <a:chOff x="0" y="0"/>
          <a:chExt cx="0" cy="0"/>
        </a:xfrm>
      </p:grpSpPr>
      <p:pic>
        <p:nvPicPr>
          <p:cNvPr id="19" name="Graphic 18">
            <a:extLst>
              <a:ext uri="{FF2B5EF4-FFF2-40B4-BE49-F238E27FC236}">
                <a16:creationId xmlns:a16="http://schemas.microsoft.com/office/drawing/2014/main" id="{00F43117-01F5-9644-A91E-DCB8B7F4EBA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99627" y="2091618"/>
            <a:ext cx="3072478" cy="3912973"/>
          </a:xfrm>
          <a:prstGeom prst="rect">
            <a:avLst/>
          </a:prstGeom>
        </p:spPr>
      </p:pic>
      <p:sp>
        <p:nvSpPr>
          <p:cNvPr id="3" name="Content Placeholder 2">
            <a:extLst>
              <a:ext uri="{FF2B5EF4-FFF2-40B4-BE49-F238E27FC236}">
                <a16:creationId xmlns:a16="http://schemas.microsoft.com/office/drawing/2014/main" id="{6B06BABB-B76D-124D-80B7-17F3971654AE}"/>
              </a:ext>
            </a:extLst>
          </p:cNvPr>
          <p:cNvSpPr>
            <a:spLocks noGrp="1"/>
          </p:cNvSpPr>
          <p:nvPr>
            <p:ph idx="1"/>
          </p:nvPr>
        </p:nvSpPr>
        <p:spPr>
          <a:xfrm>
            <a:off x="4443984" y="1380744"/>
            <a:ext cx="6911404" cy="4480306"/>
          </a:xfrm>
        </p:spPr>
        <p:txBody>
          <a:bodyPr/>
          <a:lstStyle>
            <a:lvl1pPr>
              <a:defRPr sz="16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C304D83C-A92D-E244-9372-84393844577C}"/>
              </a:ext>
            </a:extLst>
          </p:cNvPr>
          <p:cNvSpPr>
            <a:spLocks noGrp="1"/>
          </p:cNvSpPr>
          <p:nvPr>
            <p:ph type="body" sz="half" idx="2"/>
          </p:nvPr>
        </p:nvSpPr>
        <p:spPr>
          <a:xfrm>
            <a:off x="839789" y="2531974"/>
            <a:ext cx="3329876" cy="3337013"/>
          </a:xfrm>
        </p:spPr>
        <p:txBody>
          <a:bodyPr/>
          <a:lstStyle>
            <a:lvl1pPr marL="0" indent="0">
              <a:buNone/>
              <a:defRPr sz="16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16" name="Text Placeholder 15">
            <a:extLst>
              <a:ext uri="{FF2B5EF4-FFF2-40B4-BE49-F238E27FC236}">
                <a16:creationId xmlns:a16="http://schemas.microsoft.com/office/drawing/2014/main" id="{0630A9B8-D978-7742-917E-2F0ADE492CF1}"/>
              </a:ext>
            </a:extLst>
          </p:cNvPr>
          <p:cNvSpPr>
            <a:spLocks noGrp="1"/>
          </p:cNvSpPr>
          <p:nvPr>
            <p:ph type="body" sz="quarter" idx="10"/>
          </p:nvPr>
        </p:nvSpPr>
        <p:spPr>
          <a:xfrm>
            <a:off x="836612" y="1380743"/>
            <a:ext cx="3329876" cy="1050281"/>
          </a:xfrm>
        </p:spPr>
        <p:txBody>
          <a:bodyPr anchor="b" anchorCtr="0"/>
          <a:lstStyle>
            <a:lvl1pPr>
              <a:lnSpc>
                <a:spcPct val="100000"/>
              </a:lnSpc>
              <a:spcBef>
                <a:spcPts val="0"/>
              </a:spcBef>
              <a:defRPr sz="1800" b="0" i="0">
                <a:solidFill>
                  <a:schemeClr val="tx1"/>
                </a:solidFill>
                <a:latin typeface="Arial" panose="020B0604020202020204" pitchFamily="34" charset="0"/>
                <a:ea typeface="Roboto Medium" panose="02000000000000000000" pitchFamily="2" charset="0"/>
              </a:defRPr>
            </a:lvl1pPr>
            <a:lvl2pPr marL="9525" indent="0">
              <a:buNone/>
              <a:defRPr/>
            </a:lvl2pPr>
          </a:lstStyle>
          <a:p>
            <a:pPr lvl="0"/>
            <a:r>
              <a:rPr lang="en-US" dirty="0"/>
              <a:t>Click to edit Master text styles</a:t>
            </a:r>
          </a:p>
        </p:txBody>
      </p:sp>
      <p:sp>
        <p:nvSpPr>
          <p:cNvPr id="9" name="Title Placeholder 1">
            <a:extLst>
              <a:ext uri="{FF2B5EF4-FFF2-40B4-BE49-F238E27FC236}">
                <a16:creationId xmlns:a16="http://schemas.microsoft.com/office/drawing/2014/main" id="{E8AF8D62-F2FB-CF46-82BF-D768F72185E6}"/>
              </a:ext>
            </a:extLst>
          </p:cNvPr>
          <p:cNvSpPr>
            <a:spLocks noGrp="1"/>
          </p:cNvSpPr>
          <p:nvPr>
            <p:ph type="title"/>
          </p:nvPr>
        </p:nvSpPr>
        <p:spPr>
          <a:xfrm>
            <a:off x="838200" y="658842"/>
            <a:ext cx="10515600" cy="426029"/>
          </a:xfrm>
          <a:prstGeom prst="rect">
            <a:avLst/>
          </a:prstGeom>
        </p:spPr>
        <p:txBody>
          <a:bodyPr vert="horz" lIns="0" tIns="0" rIns="0" bIns="0" rtlCol="0" anchor="t" anchorCtr="0">
            <a:noAutofit/>
          </a:bodyPr>
          <a:lstStyle>
            <a:lvl1pPr>
              <a:lnSpc>
                <a:spcPct val="90000"/>
              </a:lnSpc>
              <a:defRPr b="0" i="0" spc="40" baseline="0">
                <a:solidFill>
                  <a:schemeClr val="tx1"/>
                </a:solidFill>
                <a:latin typeface="Arial" panose="020B0604020202020204" pitchFamily="34" charset="0"/>
                <a:ea typeface="Roboto Light" panose="02000000000000000000" pitchFamily="2" charset="0"/>
              </a:defRPr>
            </a:lvl1pPr>
          </a:lstStyle>
          <a:p>
            <a:endParaRPr lang="en-US" dirty="0"/>
          </a:p>
        </p:txBody>
      </p:sp>
      <p:sp>
        <p:nvSpPr>
          <p:cNvPr id="11" name="Text Placeholder 3">
            <a:extLst>
              <a:ext uri="{FF2B5EF4-FFF2-40B4-BE49-F238E27FC236}">
                <a16:creationId xmlns:a16="http://schemas.microsoft.com/office/drawing/2014/main" id="{267B22AB-3DCF-F646-8C59-E0E97B18EBED}"/>
              </a:ext>
            </a:extLst>
          </p:cNvPr>
          <p:cNvSpPr>
            <a:spLocks noGrp="1"/>
          </p:cNvSpPr>
          <p:nvPr>
            <p:ph type="body" sz="quarter" idx="11" hasCustomPrompt="1"/>
          </p:nvPr>
        </p:nvSpPr>
        <p:spPr>
          <a:xfrm>
            <a:off x="838197" y="466818"/>
            <a:ext cx="4212859" cy="173736"/>
          </a:xfrm>
        </p:spPr>
        <p:txBody>
          <a:bodyPr/>
          <a:lstStyle>
            <a:lvl1pPr marL="0" indent="0">
              <a:buFont typeface="Arial" panose="020B0604020202020204" pitchFamily="34" charset="0"/>
              <a:buNone/>
              <a:defRPr sz="1000" b="1" i="0">
                <a:solidFill>
                  <a:schemeClr val="tx1"/>
                </a:solidFill>
                <a:latin typeface="Arial" panose="020B0604020202020204" pitchFamily="34" charset="0"/>
                <a:ea typeface="Roboto" panose="02000000000000000000" pitchFamily="2" charset="0"/>
              </a:defRPr>
            </a:lvl1pPr>
            <a:lvl2pPr marL="9525" indent="0">
              <a:buNone/>
              <a:defRPr sz="1000" b="1" i="0">
                <a:latin typeface="Roboto" panose="02000000000000000000" pitchFamily="2" charset="0"/>
                <a:ea typeface="Roboto" panose="02000000000000000000" pitchFamily="2" charset="0"/>
              </a:defRPr>
            </a:lvl2pPr>
            <a:lvl3pPr marL="222250" indent="0">
              <a:buNone/>
              <a:defRPr sz="1000" b="1" i="0">
                <a:latin typeface="Roboto" panose="02000000000000000000" pitchFamily="2" charset="0"/>
                <a:ea typeface="Roboto" panose="02000000000000000000" pitchFamily="2" charset="0"/>
              </a:defRPr>
            </a:lvl3pPr>
            <a:lvl4pPr marL="406400" indent="0">
              <a:buNone/>
              <a:defRPr sz="1000" b="1" i="0">
                <a:latin typeface="Roboto" panose="02000000000000000000" pitchFamily="2" charset="0"/>
                <a:ea typeface="Roboto" panose="02000000000000000000" pitchFamily="2" charset="0"/>
              </a:defRPr>
            </a:lvl4pPr>
            <a:lvl5pPr marL="577850" indent="0">
              <a:buNone/>
              <a:defRPr sz="1000" b="1" i="0">
                <a:latin typeface="Roboto" panose="02000000000000000000" pitchFamily="2" charset="0"/>
                <a:ea typeface="Roboto" panose="02000000000000000000" pitchFamily="2" charset="0"/>
              </a:defRPr>
            </a:lvl5pPr>
          </a:lstStyle>
          <a:p>
            <a:pPr lvl="0"/>
            <a:r>
              <a:rPr lang="en-US" dirty="0"/>
              <a:t>CLICK TO EDIT MASTER TEXT STYLES</a:t>
            </a:r>
          </a:p>
        </p:txBody>
      </p:sp>
      <p:pic>
        <p:nvPicPr>
          <p:cNvPr id="12" name="Graphic 11">
            <a:extLst>
              <a:ext uri="{FF2B5EF4-FFF2-40B4-BE49-F238E27FC236}">
                <a16:creationId xmlns:a16="http://schemas.microsoft.com/office/drawing/2014/main" id="{96820C1E-8E8E-864F-AC09-49BED386338F}"/>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069456" y="6392200"/>
            <a:ext cx="198715" cy="253075"/>
          </a:xfrm>
          <a:prstGeom prst="rect">
            <a:avLst/>
          </a:prstGeom>
        </p:spPr>
      </p:pic>
      <p:sp>
        <p:nvSpPr>
          <p:cNvPr id="13" name="Footer Placeholder 6">
            <a:extLst>
              <a:ext uri="{FF2B5EF4-FFF2-40B4-BE49-F238E27FC236}">
                <a16:creationId xmlns:a16="http://schemas.microsoft.com/office/drawing/2014/main" id="{CC0F4EBF-FEF3-7744-99E3-CBE2C9F39E4F}"/>
              </a:ext>
            </a:extLst>
          </p:cNvPr>
          <p:cNvSpPr>
            <a:spLocks noGrp="1"/>
          </p:cNvSpPr>
          <p:nvPr>
            <p:ph type="ftr" sz="quarter" idx="3"/>
          </p:nvPr>
        </p:nvSpPr>
        <p:spPr>
          <a:xfrm>
            <a:off x="1383401" y="6426616"/>
            <a:ext cx="4114800" cy="138499"/>
          </a:xfrm>
          <a:prstGeom prst="rect">
            <a:avLst/>
          </a:prstGeom>
        </p:spPr>
        <p:txBody>
          <a:bodyPr vert="horz" lIns="0" tIns="0" rIns="0" bIns="0" rtlCol="0" anchor="t" anchorCtr="0">
            <a:spAutoFit/>
          </a:bodyPr>
          <a:lstStyle>
            <a:lvl1pPr algn="l">
              <a:defRPr sz="900">
                <a:solidFill>
                  <a:schemeClr val="tx1"/>
                </a:solidFill>
                <a:latin typeface="Roboto" panose="02000000000000000000" pitchFamily="2" charset="0"/>
                <a:ea typeface="Roboto" panose="02000000000000000000" pitchFamily="2" charset="0"/>
              </a:defRPr>
            </a:lvl1pPr>
          </a:lstStyle>
          <a:p>
            <a:r>
              <a:rPr lang="en-US" b="1">
                <a:latin typeface="Arial" panose="020B0604020202020204" pitchFamily="34" charset="0"/>
              </a:rPr>
              <a:t>NuVista Energy Ltd.</a:t>
            </a:r>
            <a:endParaRPr lang="en-US" dirty="0">
              <a:latin typeface="Arial" panose="020B0604020202020204" pitchFamily="34" charset="0"/>
            </a:endParaRPr>
          </a:p>
        </p:txBody>
      </p:sp>
      <p:sp>
        <p:nvSpPr>
          <p:cNvPr id="14" name="Slide Number Placeholder 5">
            <a:extLst>
              <a:ext uri="{FF2B5EF4-FFF2-40B4-BE49-F238E27FC236}">
                <a16:creationId xmlns:a16="http://schemas.microsoft.com/office/drawing/2014/main" id="{FFF2C938-9853-C842-B923-C293FC5D976C}"/>
              </a:ext>
            </a:extLst>
          </p:cNvPr>
          <p:cNvSpPr>
            <a:spLocks noGrp="1"/>
          </p:cNvSpPr>
          <p:nvPr>
            <p:ph type="sldNum" sz="quarter" idx="4"/>
          </p:nvPr>
        </p:nvSpPr>
        <p:spPr>
          <a:xfrm>
            <a:off x="838199" y="6313304"/>
            <a:ext cx="304801" cy="365125"/>
          </a:xfrm>
          <a:prstGeom prst="rect">
            <a:avLst/>
          </a:prstGeom>
        </p:spPr>
        <p:txBody>
          <a:bodyPr vert="horz" lIns="0" tIns="0" rIns="0" bIns="0" rtlCol="0" anchor="ctr"/>
          <a:lstStyle>
            <a:lvl1pPr algn="l">
              <a:defRPr sz="900" b="0" i="0">
                <a:solidFill>
                  <a:schemeClr val="tx1"/>
                </a:solidFill>
                <a:latin typeface="Arial" panose="020B0604020202020204" pitchFamily="34" charset="0"/>
                <a:ea typeface="Roboto" panose="02000000000000000000" pitchFamily="2" charset="0"/>
              </a:defRPr>
            </a:lvl1pPr>
          </a:lstStyle>
          <a:p>
            <a:fld id="{D246DD65-7063-5C41-96CC-23CB1F95FA91}" type="slidenum">
              <a:rPr lang="en-US" smtClean="0"/>
              <a:pPr/>
              <a:t>‹#›</a:t>
            </a:fld>
            <a:endParaRPr lang="en-US" dirty="0"/>
          </a:p>
        </p:txBody>
      </p:sp>
    </p:spTree>
    <p:extLst>
      <p:ext uri="{BB962C8B-B14F-4D97-AF65-F5344CB8AC3E}">
        <p14:creationId xmlns:p14="http://schemas.microsoft.com/office/powerpoint/2010/main" val="30454323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Picture with Caption">
    <p:bg>
      <p:bgPr>
        <a:solidFill>
          <a:srgbClr val="FDFDFD"/>
        </a:solidFill>
        <a:effectLst/>
      </p:bgPr>
    </p:bg>
    <p:spTree>
      <p:nvGrpSpPr>
        <p:cNvPr id="1" name=""/>
        <p:cNvGrpSpPr/>
        <p:nvPr/>
      </p:nvGrpSpPr>
      <p:grpSpPr>
        <a:xfrm>
          <a:off x="0" y="0"/>
          <a:ext cx="0" cy="0"/>
          <a:chOff x="0" y="0"/>
          <a:chExt cx="0" cy="0"/>
        </a:xfrm>
      </p:grpSpPr>
      <p:pic>
        <p:nvPicPr>
          <p:cNvPr id="18" name="Graphic 17">
            <a:extLst>
              <a:ext uri="{FF2B5EF4-FFF2-40B4-BE49-F238E27FC236}">
                <a16:creationId xmlns:a16="http://schemas.microsoft.com/office/drawing/2014/main" id="{CBE97528-63E0-B947-8D70-BEDE869968D7}"/>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99627" y="2090488"/>
            <a:ext cx="3072478" cy="3912973"/>
          </a:xfrm>
          <a:prstGeom prst="rect">
            <a:avLst/>
          </a:prstGeom>
        </p:spPr>
      </p:pic>
      <p:sp>
        <p:nvSpPr>
          <p:cNvPr id="3" name="Picture Placeholder 2">
            <a:extLst>
              <a:ext uri="{FF2B5EF4-FFF2-40B4-BE49-F238E27FC236}">
                <a16:creationId xmlns:a16="http://schemas.microsoft.com/office/drawing/2014/main" id="{C320C621-5537-554E-8430-60B2C07AC0E2}"/>
              </a:ext>
            </a:extLst>
          </p:cNvPr>
          <p:cNvSpPr>
            <a:spLocks noGrp="1"/>
          </p:cNvSpPr>
          <p:nvPr>
            <p:ph type="pic" idx="1"/>
          </p:nvPr>
        </p:nvSpPr>
        <p:spPr>
          <a:xfrm>
            <a:off x="6239258" y="1702700"/>
            <a:ext cx="5116130" cy="4158350"/>
          </a:xfrm>
        </p:spPr>
        <p:txBody>
          <a:bodyPr/>
          <a:lstStyle>
            <a:lvl1pPr marL="0" indent="0">
              <a:buNone/>
              <a:defRPr sz="2400" b="0" i="0">
                <a:solidFill>
                  <a:schemeClr val="tx1"/>
                </a:solidFill>
                <a:latin typeface="Arial" panose="020B0604020202020204" pitchFamily="34" charset="0"/>
                <a:ea typeface="Roboto Medium" panose="02000000000000000000" pitchFamily="2"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a:extLst>
              <a:ext uri="{FF2B5EF4-FFF2-40B4-BE49-F238E27FC236}">
                <a16:creationId xmlns:a16="http://schemas.microsoft.com/office/drawing/2014/main" id="{9C7F1BDB-3D52-C947-9A70-95CBB52C9105}"/>
              </a:ext>
            </a:extLst>
          </p:cNvPr>
          <p:cNvSpPr>
            <a:spLocks noGrp="1"/>
          </p:cNvSpPr>
          <p:nvPr>
            <p:ph type="body" sz="half" idx="2"/>
          </p:nvPr>
        </p:nvSpPr>
        <p:spPr>
          <a:xfrm>
            <a:off x="839788" y="1710638"/>
            <a:ext cx="5112956" cy="4158350"/>
          </a:xfrm>
        </p:spPr>
        <p:txBody>
          <a:bodyPr/>
          <a:lstStyle>
            <a:lvl1pPr marL="0" indent="0">
              <a:buNone/>
              <a:defRPr sz="16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8" name="Title Placeholder 1">
            <a:extLst>
              <a:ext uri="{FF2B5EF4-FFF2-40B4-BE49-F238E27FC236}">
                <a16:creationId xmlns:a16="http://schemas.microsoft.com/office/drawing/2014/main" id="{6A80D494-C4A5-8D42-9429-57A6352A751C}"/>
              </a:ext>
            </a:extLst>
          </p:cNvPr>
          <p:cNvSpPr>
            <a:spLocks noGrp="1"/>
          </p:cNvSpPr>
          <p:nvPr>
            <p:ph type="title"/>
          </p:nvPr>
        </p:nvSpPr>
        <p:spPr>
          <a:xfrm>
            <a:off x="838200" y="658842"/>
            <a:ext cx="10515600" cy="1033508"/>
          </a:xfrm>
          <a:prstGeom prst="rect">
            <a:avLst/>
          </a:prstGeom>
        </p:spPr>
        <p:txBody>
          <a:bodyPr vert="horz" lIns="0" tIns="0" rIns="0" bIns="0" rtlCol="0" anchor="t" anchorCtr="0">
            <a:noAutofit/>
          </a:bodyPr>
          <a:lstStyle>
            <a:lvl1pPr>
              <a:lnSpc>
                <a:spcPct val="90000"/>
              </a:lnSpc>
              <a:defRPr b="0" i="0" spc="40" baseline="0">
                <a:solidFill>
                  <a:schemeClr val="tx1"/>
                </a:solidFill>
                <a:latin typeface="Arial" panose="020B0604020202020204" pitchFamily="34" charset="0"/>
                <a:ea typeface="Roboto Light" panose="02000000000000000000" pitchFamily="2" charset="0"/>
              </a:defRPr>
            </a:lvl1pPr>
          </a:lstStyle>
          <a:p>
            <a:endParaRPr lang="en-US" dirty="0"/>
          </a:p>
        </p:txBody>
      </p:sp>
      <p:sp>
        <p:nvSpPr>
          <p:cNvPr id="10" name="Text Placeholder 3">
            <a:extLst>
              <a:ext uri="{FF2B5EF4-FFF2-40B4-BE49-F238E27FC236}">
                <a16:creationId xmlns:a16="http://schemas.microsoft.com/office/drawing/2014/main" id="{4A805077-2DFF-C048-A74F-FEFC5F19E7FF}"/>
              </a:ext>
            </a:extLst>
          </p:cNvPr>
          <p:cNvSpPr>
            <a:spLocks noGrp="1"/>
          </p:cNvSpPr>
          <p:nvPr>
            <p:ph type="body" sz="quarter" idx="11" hasCustomPrompt="1"/>
          </p:nvPr>
        </p:nvSpPr>
        <p:spPr>
          <a:xfrm>
            <a:off x="838197" y="466818"/>
            <a:ext cx="4212859" cy="173736"/>
          </a:xfrm>
        </p:spPr>
        <p:txBody>
          <a:bodyPr/>
          <a:lstStyle>
            <a:lvl1pPr marL="0" indent="0">
              <a:buFont typeface="Arial" panose="020B0604020202020204" pitchFamily="34" charset="0"/>
              <a:buNone/>
              <a:defRPr sz="1000" b="1" i="0">
                <a:solidFill>
                  <a:schemeClr val="tx1"/>
                </a:solidFill>
                <a:latin typeface="Arial" panose="020B0604020202020204" pitchFamily="34" charset="0"/>
                <a:ea typeface="Roboto" panose="02000000000000000000" pitchFamily="2" charset="0"/>
              </a:defRPr>
            </a:lvl1pPr>
            <a:lvl2pPr marL="9525" indent="0">
              <a:buNone/>
              <a:defRPr sz="1000" b="1" i="0">
                <a:latin typeface="Roboto" panose="02000000000000000000" pitchFamily="2" charset="0"/>
                <a:ea typeface="Roboto" panose="02000000000000000000" pitchFamily="2" charset="0"/>
              </a:defRPr>
            </a:lvl2pPr>
            <a:lvl3pPr marL="222250" indent="0">
              <a:buNone/>
              <a:defRPr sz="1000" b="1" i="0">
                <a:latin typeface="Roboto" panose="02000000000000000000" pitchFamily="2" charset="0"/>
                <a:ea typeface="Roboto" panose="02000000000000000000" pitchFamily="2" charset="0"/>
              </a:defRPr>
            </a:lvl3pPr>
            <a:lvl4pPr marL="406400" indent="0">
              <a:buNone/>
              <a:defRPr sz="1000" b="1" i="0">
                <a:latin typeface="Roboto" panose="02000000000000000000" pitchFamily="2" charset="0"/>
                <a:ea typeface="Roboto" panose="02000000000000000000" pitchFamily="2" charset="0"/>
              </a:defRPr>
            </a:lvl4pPr>
            <a:lvl5pPr marL="577850" indent="0">
              <a:buNone/>
              <a:defRPr sz="1000" b="1" i="0">
                <a:latin typeface="Roboto" panose="02000000000000000000" pitchFamily="2" charset="0"/>
                <a:ea typeface="Roboto" panose="02000000000000000000" pitchFamily="2" charset="0"/>
              </a:defRPr>
            </a:lvl5pPr>
          </a:lstStyle>
          <a:p>
            <a:pPr lvl="0"/>
            <a:r>
              <a:rPr lang="en-US" dirty="0"/>
              <a:t>CLICK TO EDIT MASTER TEXT STYLES</a:t>
            </a:r>
          </a:p>
        </p:txBody>
      </p:sp>
      <p:pic>
        <p:nvPicPr>
          <p:cNvPr id="11" name="Graphic 10">
            <a:extLst>
              <a:ext uri="{FF2B5EF4-FFF2-40B4-BE49-F238E27FC236}">
                <a16:creationId xmlns:a16="http://schemas.microsoft.com/office/drawing/2014/main" id="{DB1F4726-EF65-7645-BCFF-353C11479F3D}"/>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069456" y="6392200"/>
            <a:ext cx="198715" cy="253075"/>
          </a:xfrm>
          <a:prstGeom prst="rect">
            <a:avLst/>
          </a:prstGeom>
        </p:spPr>
      </p:pic>
      <p:sp>
        <p:nvSpPr>
          <p:cNvPr id="12" name="Footer Placeholder 6">
            <a:extLst>
              <a:ext uri="{FF2B5EF4-FFF2-40B4-BE49-F238E27FC236}">
                <a16:creationId xmlns:a16="http://schemas.microsoft.com/office/drawing/2014/main" id="{D0745A4F-A219-614C-98DD-9FEBFE44C83E}"/>
              </a:ext>
            </a:extLst>
          </p:cNvPr>
          <p:cNvSpPr>
            <a:spLocks noGrp="1"/>
          </p:cNvSpPr>
          <p:nvPr>
            <p:ph type="ftr" sz="quarter" idx="3"/>
          </p:nvPr>
        </p:nvSpPr>
        <p:spPr>
          <a:xfrm>
            <a:off x="1383401" y="6426616"/>
            <a:ext cx="4114800" cy="138499"/>
          </a:xfrm>
          <a:prstGeom prst="rect">
            <a:avLst/>
          </a:prstGeom>
        </p:spPr>
        <p:txBody>
          <a:bodyPr vert="horz" lIns="0" tIns="0" rIns="0" bIns="0" rtlCol="0" anchor="t" anchorCtr="0">
            <a:spAutoFit/>
          </a:bodyPr>
          <a:lstStyle>
            <a:lvl1pPr algn="l">
              <a:defRPr sz="900">
                <a:solidFill>
                  <a:schemeClr val="tx1"/>
                </a:solidFill>
                <a:latin typeface="Roboto" panose="02000000000000000000" pitchFamily="2" charset="0"/>
                <a:ea typeface="Roboto" panose="02000000000000000000" pitchFamily="2" charset="0"/>
              </a:defRPr>
            </a:lvl1pPr>
          </a:lstStyle>
          <a:p>
            <a:r>
              <a:rPr lang="en-US" b="1">
                <a:latin typeface="Arial" panose="020B0604020202020204" pitchFamily="34" charset="0"/>
              </a:rPr>
              <a:t>NuVista Energy Ltd.</a:t>
            </a:r>
            <a:endParaRPr lang="en-US" dirty="0">
              <a:latin typeface="Arial" panose="020B0604020202020204" pitchFamily="34" charset="0"/>
            </a:endParaRPr>
          </a:p>
        </p:txBody>
      </p:sp>
      <p:sp>
        <p:nvSpPr>
          <p:cNvPr id="13" name="Slide Number Placeholder 5">
            <a:extLst>
              <a:ext uri="{FF2B5EF4-FFF2-40B4-BE49-F238E27FC236}">
                <a16:creationId xmlns:a16="http://schemas.microsoft.com/office/drawing/2014/main" id="{11DE9D77-F61D-8943-B484-6666430D7025}"/>
              </a:ext>
            </a:extLst>
          </p:cNvPr>
          <p:cNvSpPr>
            <a:spLocks noGrp="1"/>
          </p:cNvSpPr>
          <p:nvPr>
            <p:ph type="sldNum" sz="quarter" idx="4"/>
          </p:nvPr>
        </p:nvSpPr>
        <p:spPr>
          <a:xfrm>
            <a:off x="838199" y="6313304"/>
            <a:ext cx="304801" cy="365125"/>
          </a:xfrm>
          <a:prstGeom prst="rect">
            <a:avLst/>
          </a:prstGeom>
        </p:spPr>
        <p:txBody>
          <a:bodyPr vert="horz" lIns="0" tIns="0" rIns="0" bIns="0" rtlCol="0" anchor="ctr"/>
          <a:lstStyle>
            <a:lvl1pPr algn="l">
              <a:defRPr sz="900" b="0" i="0">
                <a:solidFill>
                  <a:schemeClr val="tx1"/>
                </a:solidFill>
                <a:latin typeface="Arial" panose="020B0604020202020204" pitchFamily="34" charset="0"/>
                <a:ea typeface="Roboto" panose="02000000000000000000" pitchFamily="2" charset="0"/>
              </a:defRPr>
            </a:lvl1pPr>
          </a:lstStyle>
          <a:p>
            <a:fld id="{D246DD65-7063-5C41-96CC-23CB1F95FA91}" type="slidenum">
              <a:rPr lang="en-US" smtClean="0"/>
              <a:pPr/>
              <a:t>‹#›</a:t>
            </a:fld>
            <a:endParaRPr lang="en-US" dirty="0"/>
          </a:p>
        </p:txBody>
      </p:sp>
    </p:spTree>
    <p:extLst>
      <p:ext uri="{BB962C8B-B14F-4D97-AF65-F5344CB8AC3E}">
        <p14:creationId xmlns:p14="http://schemas.microsoft.com/office/powerpoint/2010/main" val="34543894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Picture with Caption">
    <p:bg>
      <p:bgPr>
        <a:solidFill>
          <a:srgbClr val="FDFDFD"/>
        </a:solidFill>
        <a:effectLst/>
      </p:bgPr>
    </p:bg>
    <p:spTree>
      <p:nvGrpSpPr>
        <p:cNvPr id="1" name=""/>
        <p:cNvGrpSpPr/>
        <p:nvPr/>
      </p:nvGrpSpPr>
      <p:grpSpPr>
        <a:xfrm>
          <a:off x="0" y="0"/>
          <a:ext cx="0" cy="0"/>
          <a:chOff x="0" y="0"/>
          <a:chExt cx="0" cy="0"/>
        </a:xfrm>
      </p:grpSpPr>
      <p:pic>
        <p:nvPicPr>
          <p:cNvPr id="18" name="Graphic 17">
            <a:extLst>
              <a:ext uri="{FF2B5EF4-FFF2-40B4-BE49-F238E27FC236}">
                <a16:creationId xmlns:a16="http://schemas.microsoft.com/office/drawing/2014/main" id="{CCF33CEF-DB70-244F-80BA-B71548C44C82}"/>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99627" y="2109162"/>
            <a:ext cx="3072478" cy="3912973"/>
          </a:xfrm>
          <a:prstGeom prst="rect">
            <a:avLst/>
          </a:prstGeom>
        </p:spPr>
      </p:pic>
      <p:sp>
        <p:nvSpPr>
          <p:cNvPr id="3" name="Picture Placeholder 2">
            <a:extLst>
              <a:ext uri="{FF2B5EF4-FFF2-40B4-BE49-F238E27FC236}">
                <a16:creationId xmlns:a16="http://schemas.microsoft.com/office/drawing/2014/main" id="{C320C621-5537-554E-8430-60B2C07AC0E2}"/>
              </a:ext>
            </a:extLst>
          </p:cNvPr>
          <p:cNvSpPr>
            <a:spLocks noGrp="1"/>
          </p:cNvSpPr>
          <p:nvPr>
            <p:ph type="pic" idx="1"/>
          </p:nvPr>
        </p:nvSpPr>
        <p:spPr>
          <a:xfrm>
            <a:off x="3581400" y="1710637"/>
            <a:ext cx="7773988" cy="4311497"/>
          </a:xfrm>
        </p:spPr>
        <p:txBody>
          <a:bodyPr/>
          <a:lstStyle>
            <a:lvl1pPr marL="0" indent="0">
              <a:buNone/>
              <a:defRPr sz="3200">
                <a:solidFill>
                  <a:schemeClr val="tx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a:extLst>
              <a:ext uri="{FF2B5EF4-FFF2-40B4-BE49-F238E27FC236}">
                <a16:creationId xmlns:a16="http://schemas.microsoft.com/office/drawing/2014/main" id="{9C7F1BDB-3D52-C947-9A70-95CBB52C9105}"/>
              </a:ext>
            </a:extLst>
          </p:cNvPr>
          <p:cNvSpPr>
            <a:spLocks noGrp="1"/>
          </p:cNvSpPr>
          <p:nvPr>
            <p:ph type="body" sz="half" idx="2"/>
          </p:nvPr>
        </p:nvSpPr>
        <p:spPr>
          <a:xfrm>
            <a:off x="839788" y="1718575"/>
            <a:ext cx="2424620" cy="4311497"/>
          </a:xfrm>
        </p:spPr>
        <p:txBody>
          <a:bodyPr/>
          <a:lstStyle>
            <a:lvl1pPr marL="0" indent="0">
              <a:buNone/>
              <a:defRPr sz="16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8" name="Title Placeholder 1">
            <a:extLst>
              <a:ext uri="{FF2B5EF4-FFF2-40B4-BE49-F238E27FC236}">
                <a16:creationId xmlns:a16="http://schemas.microsoft.com/office/drawing/2014/main" id="{461A6208-D7F3-AA47-9283-E80A86335C19}"/>
              </a:ext>
            </a:extLst>
          </p:cNvPr>
          <p:cNvSpPr>
            <a:spLocks noGrp="1"/>
          </p:cNvSpPr>
          <p:nvPr>
            <p:ph type="title"/>
          </p:nvPr>
        </p:nvSpPr>
        <p:spPr>
          <a:xfrm>
            <a:off x="838200" y="658842"/>
            <a:ext cx="10515600" cy="1033508"/>
          </a:xfrm>
          <a:prstGeom prst="rect">
            <a:avLst/>
          </a:prstGeom>
        </p:spPr>
        <p:txBody>
          <a:bodyPr vert="horz" lIns="0" tIns="0" rIns="0" bIns="0" rtlCol="0" anchor="t" anchorCtr="0">
            <a:noAutofit/>
          </a:bodyPr>
          <a:lstStyle>
            <a:lvl1pPr>
              <a:lnSpc>
                <a:spcPct val="90000"/>
              </a:lnSpc>
              <a:defRPr b="0" i="0" spc="40" baseline="0">
                <a:solidFill>
                  <a:schemeClr val="tx1"/>
                </a:solidFill>
                <a:latin typeface="Arial" panose="020B0604020202020204" pitchFamily="34" charset="0"/>
                <a:ea typeface="Roboto Light" panose="02000000000000000000" pitchFamily="2" charset="0"/>
              </a:defRPr>
            </a:lvl1pPr>
          </a:lstStyle>
          <a:p>
            <a:endParaRPr lang="en-US" dirty="0"/>
          </a:p>
        </p:txBody>
      </p:sp>
      <p:sp>
        <p:nvSpPr>
          <p:cNvPr id="10" name="Text Placeholder 3">
            <a:extLst>
              <a:ext uri="{FF2B5EF4-FFF2-40B4-BE49-F238E27FC236}">
                <a16:creationId xmlns:a16="http://schemas.microsoft.com/office/drawing/2014/main" id="{A6EA457C-1F3A-2345-B3A2-D139B309BAC8}"/>
              </a:ext>
            </a:extLst>
          </p:cNvPr>
          <p:cNvSpPr>
            <a:spLocks noGrp="1"/>
          </p:cNvSpPr>
          <p:nvPr>
            <p:ph type="body" sz="quarter" idx="11" hasCustomPrompt="1"/>
          </p:nvPr>
        </p:nvSpPr>
        <p:spPr>
          <a:xfrm>
            <a:off x="838197" y="466818"/>
            <a:ext cx="4212859" cy="173736"/>
          </a:xfrm>
        </p:spPr>
        <p:txBody>
          <a:bodyPr/>
          <a:lstStyle>
            <a:lvl1pPr marL="0" indent="0">
              <a:buFont typeface="Arial" panose="020B0604020202020204" pitchFamily="34" charset="0"/>
              <a:buNone/>
              <a:defRPr sz="1000" b="1" i="0">
                <a:solidFill>
                  <a:schemeClr val="tx1"/>
                </a:solidFill>
                <a:latin typeface="Arial" panose="020B0604020202020204" pitchFamily="34" charset="0"/>
                <a:ea typeface="Roboto" panose="02000000000000000000" pitchFamily="2" charset="0"/>
              </a:defRPr>
            </a:lvl1pPr>
            <a:lvl2pPr marL="9525" indent="0">
              <a:buNone/>
              <a:defRPr sz="1000" b="1" i="0">
                <a:latin typeface="Roboto" panose="02000000000000000000" pitchFamily="2" charset="0"/>
                <a:ea typeface="Roboto" panose="02000000000000000000" pitchFamily="2" charset="0"/>
              </a:defRPr>
            </a:lvl2pPr>
            <a:lvl3pPr marL="222250" indent="0">
              <a:buNone/>
              <a:defRPr sz="1000" b="1" i="0">
                <a:latin typeface="Roboto" panose="02000000000000000000" pitchFamily="2" charset="0"/>
                <a:ea typeface="Roboto" panose="02000000000000000000" pitchFamily="2" charset="0"/>
              </a:defRPr>
            </a:lvl3pPr>
            <a:lvl4pPr marL="406400" indent="0">
              <a:buNone/>
              <a:defRPr sz="1000" b="1" i="0">
                <a:latin typeface="Roboto" panose="02000000000000000000" pitchFamily="2" charset="0"/>
                <a:ea typeface="Roboto" panose="02000000000000000000" pitchFamily="2" charset="0"/>
              </a:defRPr>
            </a:lvl4pPr>
            <a:lvl5pPr marL="577850" indent="0">
              <a:buNone/>
              <a:defRPr sz="1000" b="1" i="0">
                <a:latin typeface="Roboto" panose="02000000000000000000" pitchFamily="2" charset="0"/>
                <a:ea typeface="Roboto" panose="02000000000000000000" pitchFamily="2" charset="0"/>
              </a:defRPr>
            </a:lvl5pPr>
          </a:lstStyle>
          <a:p>
            <a:pPr lvl="0"/>
            <a:r>
              <a:rPr lang="en-US" dirty="0"/>
              <a:t>CLICK TO EDIT MASTER TEXT STYLES</a:t>
            </a:r>
          </a:p>
        </p:txBody>
      </p:sp>
      <p:pic>
        <p:nvPicPr>
          <p:cNvPr id="11" name="Graphic 10">
            <a:extLst>
              <a:ext uri="{FF2B5EF4-FFF2-40B4-BE49-F238E27FC236}">
                <a16:creationId xmlns:a16="http://schemas.microsoft.com/office/drawing/2014/main" id="{DF6F0085-7B88-B641-B1CC-CC66D5D423BB}"/>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069456" y="6392200"/>
            <a:ext cx="198715" cy="253075"/>
          </a:xfrm>
          <a:prstGeom prst="rect">
            <a:avLst/>
          </a:prstGeom>
        </p:spPr>
      </p:pic>
      <p:sp>
        <p:nvSpPr>
          <p:cNvPr id="12" name="Footer Placeholder 6">
            <a:extLst>
              <a:ext uri="{FF2B5EF4-FFF2-40B4-BE49-F238E27FC236}">
                <a16:creationId xmlns:a16="http://schemas.microsoft.com/office/drawing/2014/main" id="{CB8FB673-6C0C-B34D-AD97-C684BEF17188}"/>
              </a:ext>
            </a:extLst>
          </p:cNvPr>
          <p:cNvSpPr>
            <a:spLocks noGrp="1"/>
          </p:cNvSpPr>
          <p:nvPr>
            <p:ph type="ftr" sz="quarter" idx="3"/>
          </p:nvPr>
        </p:nvSpPr>
        <p:spPr>
          <a:xfrm>
            <a:off x="1383401" y="6426616"/>
            <a:ext cx="4114800" cy="138499"/>
          </a:xfrm>
          <a:prstGeom prst="rect">
            <a:avLst/>
          </a:prstGeom>
        </p:spPr>
        <p:txBody>
          <a:bodyPr vert="horz" lIns="0" tIns="0" rIns="0" bIns="0" rtlCol="0" anchor="t" anchorCtr="0">
            <a:spAutoFit/>
          </a:bodyPr>
          <a:lstStyle>
            <a:lvl1pPr algn="l">
              <a:defRPr sz="900">
                <a:solidFill>
                  <a:schemeClr val="tx1"/>
                </a:solidFill>
                <a:latin typeface="Roboto" panose="02000000000000000000" pitchFamily="2" charset="0"/>
                <a:ea typeface="Roboto" panose="02000000000000000000" pitchFamily="2" charset="0"/>
              </a:defRPr>
            </a:lvl1pPr>
          </a:lstStyle>
          <a:p>
            <a:r>
              <a:rPr lang="en-US" b="1">
                <a:latin typeface="Arial" panose="020B0604020202020204" pitchFamily="34" charset="0"/>
              </a:rPr>
              <a:t>NuVista Energy Ltd.</a:t>
            </a:r>
            <a:endParaRPr lang="en-US" dirty="0">
              <a:latin typeface="Arial" panose="020B0604020202020204" pitchFamily="34" charset="0"/>
            </a:endParaRPr>
          </a:p>
        </p:txBody>
      </p:sp>
      <p:sp>
        <p:nvSpPr>
          <p:cNvPr id="13" name="Slide Number Placeholder 5">
            <a:extLst>
              <a:ext uri="{FF2B5EF4-FFF2-40B4-BE49-F238E27FC236}">
                <a16:creationId xmlns:a16="http://schemas.microsoft.com/office/drawing/2014/main" id="{407FF9FC-7358-9A45-854D-432723389500}"/>
              </a:ext>
            </a:extLst>
          </p:cNvPr>
          <p:cNvSpPr>
            <a:spLocks noGrp="1"/>
          </p:cNvSpPr>
          <p:nvPr>
            <p:ph type="sldNum" sz="quarter" idx="4"/>
          </p:nvPr>
        </p:nvSpPr>
        <p:spPr>
          <a:xfrm>
            <a:off x="838199" y="6313304"/>
            <a:ext cx="304801" cy="365125"/>
          </a:xfrm>
          <a:prstGeom prst="rect">
            <a:avLst/>
          </a:prstGeom>
        </p:spPr>
        <p:txBody>
          <a:bodyPr vert="horz" lIns="0" tIns="0" rIns="0" bIns="0" rtlCol="0" anchor="ctr"/>
          <a:lstStyle>
            <a:lvl1pPr algn="l">
              <a:defRPr sz="900" b="0" i="0">
                <a:solidFill>
                  <a:schemeClr val="tx1"/>
                </a:solidFill>
                <a:latin typeface="Arial" panose="020B0604020202020204" pitchFamily="34" charset="0"/>
                <a:ea typeface="Roboto" panose="02000000000000000000" pitchFamily="2" charset="0"/>
              </a:defRPr>
            </a:lvl1pPr>
          </a:lstStyle>
          <a:p>
            <a:fld id="{D246DD65-7063-5C41-96CC-23CB1F95FA91}" type="slidenum">
              <a:rPr lang="en-US" smtClean="0"/>
              <a:pPr/>
              <a:t>‹#›</a:t>
            </a:fld>
            <a:endParaRPr lang="en-US" dirty="0"/>
          </a:p>
        </p:txBody>
      </p:sp>
    </p:spTree>
    <p:extLst>
      <p:ext uri="{BB962C8B-B14F-4D97-AF65-F5344CB8AC3E}">
        <p14:creationId xmlns:p14="http://schemas.microsoft.com/office/powerpoint/2010/main" val="30865597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Vertical Text">
    <p:bg>
      <p:bgPr>
        <a:solidFill>
          <a:srgbClr val="FDFDFD"/>
        </a:solidFill>
        <a:effectLst/>
      </p:bgPr>
    </p:bg>
    <p:spTree>
      <p:nvGrpSpPr>
        <p:cNvPr id="1" name=""/>
        <p:cNvGrpSpPr/>
        <p:nvPr/>
      </p:nvGrpSpPr>
      <p:grpSpPr>
        <a:xfrm>
          <a:off x="0" y="0"/>
          <a:ext cx="0" cy="0"/>
          <a:chOff x="0" y="0"/>
          <a:chExt cx="0" cy="0"/>
        </a:xfrm>
      </p:grpSpPr>
      <p:pic>
        <p:nvPicPr>
          <p:cNvPr id="18" name="Graphic 17">
            <a:extLst>
              <a:ext uri="{FF2B5EF4-FFF2-40B4-BE49-F238E27FC236}">
                <a16:creationId xmlns:a16="http://schemas.microsoft.com/office/drawing/2014/main" id="{8BA81E6B-2267-7240-BD8D-2F041945CD1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5400000">
            <a:off x="7315484" y="-1458332"/>
            <a:ext cx="3072478" cy="3912973"/>
          </a:xfrm>
          <a:prstGeom prst="rect">
            <a:avLst/>
          </a:prstGeom>
        </p:spPr>
      </p:pic>
      <p:sp>
        <p:nvSpPr>
          <p:cNvPr id="10" name="Slide Number Placeholder 5">
            <a:extLst>
              <a:ext uri="{FF2B5EF4-FFF2-40B4-BE49-F238E27FC236}">
                <a16:creationId xmlns:a16="http://schemas.microsoft.com/office/drawing/2014/main" id="{B3737E8E-56AD-B14E-B718-902488B11F92}"/>
              </a:ext>
            </a:extLst>
          </p:cNvPr>
          <p:cNvSpPr>
            <a:spLocks noGrp="1"/>
          </p:cNvSpPr>
          <p:nvPr>
            <p:ph type="sldNum" sz="quarter" idx="4"/>
          </p:nvPr>
        </p:nvSpPr>
        <p:spPr>
          <a:xfrm rot="5400000">
            <a:off x="230383" y="477996"/>
            <a:ext cx="324803" cy="365125"/>
          </a:xfrm>
          <a:prstGeom prst="rect">
            <a:avLst/>
          </a:prstGeom>
        </p:spPr>
        <p:txBody>
          <a:bodyPr vert="horz" lIns="0" tIns="0" rIns="0" bIns="0" rtlCol="0" anchor="ctr"/>
          <a:lstStyle>
            <a:lvl1pPr algn="l">
              <a:defRPr sz="900" b="0" i="0">
                <a:solidFill>
                  <a:schemeClr val="tx1"/>
                </a:solidFill>
                <a:latin typeface="Arial" panose="020B0604020202020204" pitchFamily="34" charset="0"/>
                <a:ea typeface="Roboto" panose="02000000000000000000" pitchFamily="2" charset="0"/>
              </a:defRPr>
            </a:lvl1pPr>
          </a:lstStyle>
          <a:p>
            <a:fld id="{D246DD65-7063-5C41-96CC-23CB1F95FA91}" type="slidenum">
              <a:rPr lang="en-US" smtClean="0"/>
              <a:pPr/>
              <a:t>‹#›</a:t>
            </a:fld>
            <a:endParaRPr lang="en-US" dirty="0"/>
          </a:p>
        </p:txBody>
      </p:sp>
      <p:sp>
        <p:nvSpPr>
          <p:cNvPr id="3" name="Vertical Text Placeholder 2">
            <a:extLst>
              <a:ext uri="{FF2B5EF4-FFF2-40B4-BE49-F238E27FC236}">
                <a16:creationId xmlns:a16="http://schemas.microsoft.com/office/drawing/2014/main" id="{14999DB6-1BEB-7640-A175-94DFE9DE44CC}"/>
              </a:ext>
            </a:extLst>
          </p:cNvPr>
          <p:cNvSpPr>
            <a:spLocks noGrp="1"/>
          </p:cNvSpPr>
          <p:nvPr>
            <p:ph type="body" orient="vert" idx="1"/>
          </p:nvPr>
        </p:nvSpPr>
        <p:spPr>
          <a:xfrm>
            <a:off x="838200" y="498156"/>
            <a:ext cx="9970008" cy="5884356"/>
          </a:xfrm>
        </p:spPr>
        <p:txBody>
          <a:bodyPr vert="eaVert"/>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Vertical Title 1">
            <a:extLst>
              <a:ext uri="{FF2B5EF4-FFF2-40B4-BE49-F238E27FC236}">
                <a16:creationId xmlns:a16="http://schemas.microsoft.com/office/drawing/2014/main" id="{1B43DC09-6FF9-2F4A-ADBD-BBFED927C244}"/>
              </a:ext>
            </a:extLst>
          </p:cNvPr>
          <p:cNvSpPr>
            <a:spLocks noGrp="1"/>
          </p:cNvSpPr>
          <p:nvPr>
            <p:ph type="title" orient="vert"/>
          </p:nvPr>
        </p:nvSpPr>
        <p:spPr>
          <a:xfrm>
            <a:off x="11103328" y="498158"/>
            <a:ext cx="601324" cy="4411594"/>
          </a:xfrm>
        </p:spPr>
        <p:txBody>
          <a:bodyPr vert="eaVert" anchor="t" anchorCtr="0"/>
          <a:lstStyle>
            <a:lvl1pPr>
              <a:lnSpc>
                <a:spcPct val="90000"/>
              </a:lnSpc>
              <a:defRPr sz="2800" b="0" i="0">
                <a:solidFill>
                  <a:schemeClr val="tx1"/>
                </a:solidFill>
                <a:latin typeface="Arial" panose="020B0604020202020204" pitchFamily="34" charset="0"/>
                <a:ea typeface="Roboto Light" panose="02000000000000000000" pitchFamily="2" charset="0"/>
              </a:defRPr>
            </a:lvl1pPr>
          </a:lstStyle>
          <a:p>
            <a:r>
              <a:rPr lang="en-US" dirty="0"/>
              <a:t>Click to edit Master</a:t>
            </a:r>
          </a:p>
        </p:txBody>
      </p:sp>
      <p:pic>
        <p:nvPicPr>
          <p:cNvPr id="16" name="Graphic 15">
            <a:extLst>
              <a:ext uri="{FF2B5EF4-FFF2-40B4-BE49-F238E27FC236}">
                <a16:creationId xmlns:a16="http://schemas.microsoft.com/office/drawing/2014/main" id="{08E47882-5D0B-C447-B5DC-B66FE0E54FCA}"/>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rot="5400000">
            <a:off x="253491" y="692734"/>
            <a:ext cx="198715" cy="253075"/>
          </a:xfrm>
          <a:prstGeom prst="rect">
            <a:avLst/>
          </a:prstGeom>
        </p:spPr>
      </p:pic>
      <p:sp>
        <p:nvSpPr>
          <p:cNvPr id="11" name="Text Placeholder 3">
            <a:extLst>
              <a:ext uri="{FF2B5EF4-FFF2-40B4-BE49-F238E27FC236}">
                <a16:creationId xmlns:a16="http://schemas.microsoft.com/office/drawing/2014/main" id="{ADE54E77-F0EC-5F4D-8092-77A8D8566C8C}"/>
              </a:ext>
            </a:extLst>
          </p:cNvPr>
          <p:cNvSpPr>
            <a:spLocks noGrp="1"/>
          </p:cNvSpPr>
          <p:nvPr>
            <p:ph type="body" sz="quarter" idx="11" hasCustomPrompt="1"/>
          </p:nvPr>
        </p:nvSpPr>
        <p:spPr>
          <a:xfrm rot="5400000">
            <a:off x="9694236" y="2517718"/>
            <a:ext cx="4212859" cy="173736"/>
          </a:xfrm>
        </p:spPr>
        <p:txBody>
          <a:bodyPr/>
          <a:lstStyle>
            <a:lvl1pPr marL="0" indent="0">
              <a:buFont typeface="Arial" panose="020B0604020202020204" pitchFamily="34" charset="0"/>
              <a:buNone/>
              <a:defRPr sz="1000" b="1" i="0">
                <a:solidFill>
                  <a:schemeClr val="tx1"/>
                </a:solidFill>
                <a:latin typeface="Arial" panose="020B0604020202020204" pitchFamily="34" charset="0"/>
                <a:ea typeface="Roboto" panose="02000000000000000000" pitchFamily="2" charset="0"/>
              </a:defRPr>
            </a:lvl1pPr>
            <a:lvl2pPr marL="9525" indent="0">
              <a:buNone/>
              <a:defRPr sz="1000" b="1" i="0">
                <a:latin typeface="Roboto" panose="02000000000000000000" pitchFamily="2" charset="0"/>
                <a:ea typeface="Roboto" panose="02000000000000000000" pitchFamily="2" charset="0"/>
              </a:defRPr>
            </a:lvl2pPr>
            <a:lvl3pPr marL="222250" indent="0">
              <a:buNone/>
              <a:defRPr sz="1000" b="1" i="0">
                <a:latin typeface="Roboto" panose="02000000000000000000" pitchFamily="2" charset="0"/>
                <a:ea typeface="Roboto" panose="02000000000000000000" pitchFamily="2" charset="0"/>
              </a:defRPr>
            </a:lvl3pPr>
            <a:lvl4pPr marL="406400" indent="0">
              <a:buNone/>
              <a:defRPr sz="1000" b="1" i="0">
                <a:latin typeface="Roboto" panose="02000000000000000000" pitchFamily="2" charset="0"/>
                <a:ea typeface="Roboto" panose="02000000000000000000" pitchFamily="2" charset="0"/>
              </a:defRPr>
            </a:lvl4pPr>
            <a:lvl5pPr marL="577850" indent="0">
              <a:buNone/>
              <a:defRPr sz="1000" b="1" i="0">
                <a:latin typeface="Roboto" panose="02000000000000000000" pitchFamily="2" charset="0"/>
                <a:ea typeface="Roboto" panose="02000000000000000000" pitchFamily="2" charset="0"/>
              </a:defRPr>
            </a:lvl5pPr>
          </a:lstStyle>
          <a:p>
            <a:pPr lvl="0"/>
            <a:r>
              <a:rPr lang="en-US" dirty="0"/>
              <a:t>CLICK TO EDIT MASTER TEXT STYLES</a:t>
            </a:r>
          </a:p>
        </p:txBody>
      </p:sp>
      <p:sp>
        <p:nvSpPr>
          <p:cNvPr id="13" name="Footer Placeholder 6">
            <a:extLst>
              <a:ext uri="{FF2B5EF4-FFF2-40B4-BE49-F238E27FC236}">
                <a16:creationId xmlns:a16="http://schemas.microsoft.com/office/drawing/2014/main" id="{8DB796B6-2923-7F4A-BC63-73C15DCEAFEB}"/>
              </a:ext>
            </a:extLst>
          </p:cNvPr>
          <p:cNvSpPr>
            <a:spLocks noGrp="1"/>
          </p:cNvSpPr>
          <p:nvPr>
            <p:ph type="ftr" sz="quarter" idx="3"/>
          </p:nvPr>
        </p:nvSpPr>
        <p:spPr>
          <a:xfrm rot="5400000">
            <a:off x="-1681138" y="2998146"/>
            <a:ext cx="4114800" cy="138499"/>
          </a:xfrm>
          <a:prstGeom prst="rect">
            <a:avLst/>
          </a:prstGeom>
        </p:spPr>
        <p:txBody>
          <a:bodyPr vert="horz" lIns="0" tIns="0" rIns="0" bIns="0" rtlCol="0" anchor="t" anchorCtr="0">
            <a:spAutoFit/>
          </a:bodyPr>
          <a:lstStyle>
            <a:lvl1pPr algn="l">
              <a:defRPr sz="900">
                <a:solidFill>
                  <a:schemeClr val="tx1"/>
                </a:solidFill>
                <a:latin typeface="Roboto" panose="02000000000000000000" pitchFamily="2" charset="0"/>
                <a:ea typeface="Roboto" panose="02000000000000000000" pitchFamily="2" charset="0"/>
              </a:defRPr>
            </a:lvl1pPr>
          </a:lstStyle>
          <a:p>
            <a:r>
              <a:rPr lang="en-US" b="1">
                <a:latin typeface="Arial" panose="020B0604020202020204" pitchFamily="34" charset="0"/>
              </a:rPr>
              <a:t>NuVista Energy Ltd.</a:t>
            </a:r>
            <a:endParaRPr lang="en-US" dirty="0">
              <a:latin typeface="Arial" panose="020B0604020202020204" pitchFamily="34" charset="0"/>
            </a:endParaRPr>
          </a:p>
        </p:txBody>
      </p:sp>
    </p:spTree>
    <p:extLst>
      <p:ext uri="{BB962C8B-B14F-4D97-AF65-F5344CB8AC3E}">
        <p14:creationId xmlns:p14="http://schemas.microsoft.com/office/powerpoint/2010/main" val="191495595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9CD828-B38D-4EC1-AA4E-CD5B7412B221}"/>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311293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A9B179C-6459-684A-A044-79034DD62F4B}"/>
              </a:ext>
            </a:extLst>
          </p:cNvPr>
          <p:cNvSpPr>
            <a:spLocks noGrp="1"/>
          </p:cNvSpPr>
          <p:nvPr>
            <p:ph type="title"/>
          </p:nvPr>
        </p:nvSpPr>
        <p:spPr>
          <a:xfrm>
            <a:off x="838200" y="190846"/>
            <a:ext cx="10515600" cy="833831"/>
          </a:xfrm>
          <a:prstGeom prst="rect">
            <a:avLst/>
          </a:prstGeom>
        </p:spPr>
        <p:txBody>
          <a:bodyPr vert="horz" lIns="0" tIns="0" rIns="0" bIns="0" rtlCol="0" anchor="ctr" anchorCtr="0">
            <a:noAutofit/>
          </a:bodyPr>
          <a:lstStyle/>
          <a:p>
            <a:r>
              <a:rPr lang="en-US" dirty="0"/>
              <a:t>Click to edit Master title style</a:t>
            </a:r>
          </a:p>
        </p:txBody>
      </p:sp>
      <p:sp>
        <p:nvSpPr>
          <p:cNvPr id="3" name="Text Placeholder 2">
            <a:extLst>
              <a:ext uri="{FF2B5EF4-FFF2-40B4-BE49-F238E27FC236}">
                <a16:creationId xmlns:a16="http://schemas.microsoft.com/office/drawing/2014/main" id="{5C9AD13B-9F9E-CF4D-B001-BDCFA8B95B6E}"/>
              </a:ext>
            </a:extLst>
          </p:cNvPr>
          <p:cNvSpPr>
            <a:spLocks noGrp="1"/>
          </p:cNvSpPr>
          <p:nvPr>
            <p:ph type="body" idx="1"/>
          </p:nvPr>
        </p:nvSpPr>
        <p:spPr>
          <a:xfrm>
            <a:off x="838200" y="1342949"/>
            <a:ext cx="10515600" cy="4685121"/>
          </a:xfrm>
          <a:prstGeom prst="rect">
            <a:avLst/>
          </a:prstGeom>
        </p:spPr>
        <p:txBody>
          <a:bodyPr vert="horz" lIns="0" tIns="0" rIns="0" bIns="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04529430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hdr="0" dt="0"/>
  <p:txStyles>
    <p:titleStyle>
      <a:lvl1pPr algn="l" defTabSz="914400" rtl="0" eaLnBrk="1" latinLnBrk="0" hangingPunct="1">
        <a:lnSpc>
          <a:spcPct val="110000"/>
        </a:lnSpc>
        <a:spcBef>
          <a:spcPct val="0"/>
        </a:spcBef>
        <a:buNone/>
        <a:defRPr sz="3200" b="0" i="0" kern="1200">
          <a:solidFill>
            <a:schemeClr val="tx1"/>
          </a:solidFill>
          <a:latin typeface="Arial" panose="020B0604020202020204" pitchFamily="34" charset="0"/>
          <a:ea typeface="Roboto" panose="02000000000000000000" pitchFamily="2" charset="0"/>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1600" b="0" i="0" kern="1200">
          <a:solidFill>
            <a:schemeClr val="tx1"/>
          </a:solidFill>
          <a:latin typeface="Arial" panose="020B0604020202020204" pitchFamily="34" charset="0"/>
          <a:ea typeface="Roboto" panose="02000000000000000000" pitchFamily="2" charset="0"/>
          <a:cs typeface="+mn-cs"/>
        </a:defRPr>
      </a:lvl1pPr>
      <a:lvl2pPr marL="182563" indent="-173038" algn="l" defTabSz="914400" rtl="0" eaLnBrk="1" latinLnBrk="0" hangingPunct="1">
        <a:lnSpc>
          <a:spcPct val="90000"/>
        </a:lnSpc>
        <a:spcBef>
          <a:spcPts val="500"/>
        </a:spcBef>
        <a:buClr>
          <a:schemeClr val="accent1"/>
        </a:buClr>
        <a:buFont typeface="Arial" panose="020B0604020202020204" pitchFamily="34" charset="0"/>
        <a:buChar char="•"/>
        <a:tabLst/>
        <a:defRPr sz="1600" b="0" i="0" kern="1200">
          <a:solidFill>
            <a:schemeClr val="tx1"/>
          </a:solidFill>
          <a:latin typeface="Arial" panose="020B0604020202020204" pitchFamily="34" charset="0"/>
          <a:ea typeface="Roboto" panose="02000000000000000000" pitchFamily="2" charset="0"/>
          <a:cs typeface="+mn-cs"/>
        </a:defRPr>
      </a:lvl2pPr>
      <a:lvl3pPr marL="365125" indent="-142875" algn="l" defTabSz="914400" rtl="0" eaLnBrk="1" latinLnBrk="0" hangingPunct="1">
        <a:lnSpc>
          <a:spcPct val="90000"/>
        </a:lnSpc>
        <a:spcBef>
          <a:spcPts val="500"/>
        </a:spcBef>
        <a:buClr>
          <a:schemeClr val="accent1"/>
        </a:buClr>
        <a:buFont typeface="Arial" panose="020B0604020202020204" pitchFamily="34" charset="0"/>
        <a:buChar char="•"/>
        <a:tabLst/>
        <a:defRPr sz="1600" b="0" i="0" kern="1200">
          <a:solidFill>
            <a:schemeClr val="tx1"/>
          </a:solidFill>
          <a:latin typeface="Arial" panose="020B0604020202020204" pitchFamily="34" charset="0"/>
          <a:ea typeface="Roboto" panose="02000000000000000000" pitchFamily="2" charset="0"/>
          <a:cs typeface="+mn-cs"/>
        </a:defRPr>
      </a:lvl3pPr>
      <a:lvl4pPr marL="538163" indent="-131763" algn="l" defTabSz="914400" rtl="0" eaLnBrk="1" latinLnBrk="0" hangingPunct="1">
        <a:lnSpc>
          <a:spcPct val="90000"/>
        </a:lnSpc>
        <a:spcBef>
          <a:spcPts val="500"/>
        </a:spcBef>
        <a:buClr>
          <a:schemeClr val="accent1"/>
        </a:buClr>
        <a:buFont typeface="Arial" panose="020B0604020202020204" pitchFamily="34" charset="0"/>
        <a:buChar char="•"/>
        <a:tabLst/>
        <a:defRPr sz="1600" b="0" i="0" kern="1200">
          <a:solidFill>
            <a:schemeClr val="tx1"/>
          </a:solidFill>
          <a:latin typeface="Arial" panose="020B0604020202020204" pitchFamily="34" charset="0"/>
          <a:ea typeface="Roboto" panose="02000000000000000000" pitchFamily="2" charset="0"/>
          <a:cs typeface="+mn-cs"/>
        </a:defRPr>
      </a:lvl4pPr>
      <a:lvl5pPr marL="720725" indent="-142875" algn="l" defTabSz="914400" rtl="0" eaLnBrk="1" latinLnBrk="0" hangingPunct="1">
        <a:lnSpc>
          <a:spcPct val="90000"/>
        </a:lnSpc>
        <a:spcBef>
          <a:spcPts val="500"/>
        </a:spcBef>
        <a:buClr>
          <a:schemeClr val="accent1"/>
        </a:buClr>
        <a:buFont typeface="Arial" panose="020B0604020202020204" pitchFamily="34" charset="0"/>
        <a:buChar char="•"/>
        <a:tabLst/>
        <a:defRPr sz="1600" b="0" i="0" kern="1200">
          <a:solidFill>
            <a:schemeClr val="tx1"/>
          </a:solidFill>
          <a:latin typeface="Arial" panose="020B0604020202020204" pitchFamily="34" charset="0"/>
          <a:ea typeface="Roboto" panose="02000000000000000000"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3.xml"/><Relationship Id="rId5" Type="http://schemas.openxmlformats.org/officeDocument/2006/relationships/image" Target="../media/image12.png"/><Relationship Id="rId4" Type="http://schemas.openxmlformats.org/officeDocument/2006/relationships/image" Target="../media/image11.png"/></Relationships>
</file>

<file path=ppt/slides/_rels/slide4.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image" Target="../media/image13.png"/><Relationship Id="rId1" Type="http://schemas.openxmlformats.org/officeDocument/2006/relationships/slideLayout" Target="../slideLayouts/slideLayout3.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5.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6.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image" Target="../media/image34.png"/><Relationship Id="rId7" Type="http://schemas.openxmlformats.org/officeDocument/2006/relationships/image" Target="../media/image38.png"/><Relationship Id="rId12" Type="http://schemas.openxmlformats.org/officeDocument/2006/relationships/image" Target="../media/image43.png"/><Relationship Id="rId2" Type="http://schemas.openxmlformats.org/officeDocument/2006/relationships/image" Target="../media/image33.png"/><Relationship Id="rId1" Type="http://schemas.openxmlformats.org/officeDocument/2006/relationships/slideLayout" Target="../slideLayouts/slideLayout3.xml"/><Relationship Id="rId6" Type="http://schemas.openxmlformats.org/officeDocument/2006/relationships/image" Target="../media/image37.png"/><Relationship Id="rId11" Type="http://schemas.openxmlformats.org/officeDocument/2006/relationships/image" Target="../media/image42.png"/><Relationship Id="rId5" Type="http://schemas.openxmlformats.org/officeDocument/2006/relationships/image" Target="../media/image36.png"/><Relationship Id="rId10" Type="http://schemas.openxmlformats.org/officeDocument/2006/relationships/image" Target="../media/image41.png"/><Relationship Id="rId4" Type="http://schemas.openxmlformats.org/officeDocument/2006/relationships/image" Target="../media/image35.png"/><Relationship Id="rId9" Type="http://schemas.openxmlformats.org/officeDocument/2006/relationships/image" Target="../media/image40.png"/></Relationships>
</file>

<file path=ppt/slides/_rels/slide9.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45.png"/></Relationships>
</file>

<file path=ppt/slides/_rels/slide10.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image" Target="../media/image49.png"/><Relationship Id="rId5" Type="http://schemas.openxmlformats.org/officeDocument/2006/relationships/image" Target="../media/image48.png"/><Relationship Id="rId4" Type="http://schemas.openxmlformats.org/officeDocument/2006/relationships/image" Target="../media/image4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66CE87-9BCD-0243-B22C-4EA155A25717}"/>
              </a:ext>
            </a:extLst>
          </p:cNvPr>
          <p:cNvSpPr>
            <a:spLocks noGrp="1"/>
          </p:cNvSpPr>
          <p:nvPr>
            <p:ph type="ctrTitle"/>
          </p:nvPr>
        </p:nvSpPr>
        <p:spPr>
          <a:xfrm>
            <a:off x="400050" y="2523536"/>
            <a:ext cx="7232650" cy="2105723"/>
          </a:xfrm>
        </p:spPr>
        <p:txBody>
          <a:bodyPr anchor="t"/>
          <a:lstStyle/>
          <a:p>
            <a:r>
              <a:rPr lang="en-US" sz="4800" dirty="0">
                <a:ln>
                  <a:solidFill>
                    <a:schemeClr val="bg2">
                      <a:lumMod val="10000"/>
                    </a:schemeClr>
                  </a:solidFill>
                </a:ln>
              </a:rPr>
              <a:t>Field Development Plan </a:t>
            </a:r>
            <a:br>
              <a:rPr lang="en-US" sz="4800" dirty="0">
                <a:ln>
                  <a:solidFill>
                    <a:schemeClr val="bg2">
                      <a:lumMod val="10000"/>
                    </a:schemeClr>
                  </a:solidFill>
                </a:ln>
              </a:rPr>
            </a:br>
            <a:r>
              <a:rPr lang="en-US" sz="4800" dirty="0">
                <a:ln>
                  <a:solidFill>
                    <a:schemeClr val="bg2">
                      <a:lumMod val="10000"/>
                    </a:schemeClr>
                  </a:solidFill>
                </a:ln>
              </a:rPr>
              <a:t>&amp; Frac Metric Automation</a:t>
            </a:r>
          </a:p>
        </p:txBody>
      </p:sp>
      <p:sp>
        <p:nvSpPr>
          <p:cNvPr id="7" name="Subtitle 6">
            <a:extLst>
              <a:ext uri="{FF2B5EF4-FFF2-40B4-BE49-F238E27FC236}">
                <a16:creationId xmlns:a16="http://schemas.microsoft.com/office/drawing/2014/main" id="{792B5759-45DB-614C-B4FA-512A040C1E61}"/>
              </a:ext>
            </a:extLst>
          </p:cNvPr>
          <p:cNvSpPr>
            <a:spLocks noGrp="1"/>
          </p:cNvSpPr>
          <p:nvPr>
            <p:ph type="subTitle" idx="1"/>
          </p:nvPr>
        </p:nvSpPr>
        <p:spPr>
          <a:xfrm>
            <a:off x="838200" y="5922320"/>
            <a:ext cx="9829800" cy="238783"/>
          </a:xfrm>
        </p:spPr>
        <p:txBody>
          <a:bodyPr anchor="b" anchorCtr="0">
            <a:spAutoFit/>
          </a:bodyPr>
          <a:lstStyle/>
          <a:p>
            <a:pPr>
              <a:lnSpc>
                <a:spcPct val="120000"/>
              </a:lnSpc>
              <a:spcBef>
                <a:spcPts val="0"/>
              </a:spcBef>
            </a:pPr>
            <a:r>
              <a:rPr lang="en-US" sz="1400" b="1" dirty="0">
                <a:ea typeface="Roboto Light" panose="02000000000000000000" pitchFamily="2" charset="0"/>
              </a:rPr>
              <a:t>August 2025</a:t>
            </a:r>
            <a:endParaRPr lang="en-US" sz="1400" b="1" dirty="0">
              <a:latin typeface="Arial" panose="020B0604020202020204" pitchFamily="34" charset="0"/>
              <a:ea typeface="Roboto Light" panose="02000000000000000000" pitchFamily="2" charset="0"/>
            </a:endParaRPr>
          </a:p>
        </p:txBody>
      </p:sp>
    </p:spTree>
    <p:extLst>
      <p:ext uri="{BB962C8B-B14F-4D97-AF65-F5344CB8AC3E}">
        <p14:creationId xmlns:p14="http://schemas.microsoft.com/office/powerpoint/2010/main" val="38927479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81A152E-F9D0-AD2E-8DAA-170F911D9933}"/>
              </a:ext>
            </a:extLst>
          </p:cNvPr>
          <p:cNvSpPr>
            <a:spLocks noGrp="1"/>
          </p:cNvSpPr>
          <p:nvPr>
            <p:ph type="title"/>
          </p:nvPr>
        </p:nvSpPr>
        <p:spPr/>
        <p:txBody>
          <a:bodyPr/>
          <a:lstStyle/>
          <a:p>
            <a:r>
              <a:rPr lang="en-US" dirty="0"/>
              <a:t>Presentation Overview</a:t>
            </a:r>
          </a:p>
        </p:txBody>
      </p:sp>
      <p:sp>
        <p:nvSpPr>
          <p:cNvPr id="4" name="Text Placeholder 3">
            <a:extLst>
              <a:ext uri="{FF2B5EF4-FFF2-40B4-BE49-F238E27FC236}">
                <a16:creationId xmlns:a16="http://schemas.microsoft.com/office/drawing/2014/main" id="{629B745B-6E02-573C-88B2-556C2B54B46B}"/>
              </a:ext>
            </a:extLst>
          </p:cNvPr>
          <p:cNvSpPr>
            <a:spLocks noGrp="1"/>
          </p:cNvSpPr>
          <p:nvPr>
            <p:ph type="body" sz="quarter" idx="10"/>
          </p:nvPr>
        </p:nvSpPr>
        <p:spPr/>
        <p:txBody>
          <a:bodyPr/>
          <a:lstStyle/>
          <a:p>
            <a:pPr marL="285750" indent="-285750">
              <a:buFont typeface="Arial" panose="020B0604020202020204" pitchFamily="34" charset="0"/>
              <a:buChar char="•"/>
            </a:pPr>
            <a:r>
              <a:rPr lang="en-US" dirty="0">
                <a:solidFill>
                  <a:schemeClr val="accent1">
                    <a:lumMod val="50000"/>
                  </a:schemeClr>
                </a:solidFill>
              </a:rPr>
              <a:t>Field Development Planning (FDP) Workflow</a:t>
            </a:r>
          </a:p>
          <a:p>
            <a:pPr marL="285750" indent="-285750">
              <a:buFont typeface="Arial" panose="020B0604020202020204" pitchFamily="34" charset="0"/>
              <a:buChar char="•"/>
            </a:pPr>
            <a:r>
              <a:rPr lang="en-US" dirty="0">
                <a:solidFill>
                  <a:schemeClr val="accent1">
                    <a:lumMod val="50000"/>
                  </a:schemeClr>
                </a:solidFill>
              </a:rPr>
              <a:t>FDP Algorithm </a:t>
            </a:r>
          </a:p>
          <a:p>
            <a:pPr marL="468313" lvl="1" indent="-285750"/>
            <a:r>
              <a:rPr lang="en-US" dirty="0">
                <a:solidFill>
                  <a:schemeClr val="accent1">
                    <a:lumMod val="50000"/>
                  </a:schemeClr>
                </a:solidFill>
              </a:rPr>
              <a:t>Completable and Drilling Length Auto-Calculation</a:t>
            </a:r>
          </a:p>
          <a:p>
            <a:pPr marL="468313" lvl="1" indent="-285750"/>
            <a:r>
              <a:rPr lang="en-US" dirty="0">
                <a:solidFill>
                  <a:schemeClr val="accent1">
                    <a:lumMod val="50000"/>
                  </a:schemeClr>
                </a:solidFill>
              </a:rPr>
              <a:t>UWI and Pad Auto-Naming</a:t>
            </a:r>
          </a:p>
          <a:p>
            <a:pPr marL="285750" indent="-285750">
              <a:buFont typeface="Arial" panose="020B0604020202020204" pitchFamily="34" charset="0"/>
              <a:buChar char="•"/>
            </a:pPr>
            <a:r>
              <a:rPr lang="en-US" dirty="0">
                <a:solidFill>
                  <a:schemeClr val="accent1">
                    <a:lumMod val="50000"/>
                  </a:schemeClr>
                </a:solidFill>
              </a:rPr>
              <a:t>Dynamic FDP Dashboard</a:t>
            </a:r>
          </a:p>
          <a:p>
            <a:pPr marL="468313" lvl="1" indent="-285750"/>
            <a:r>
              <a:rPr lang="en-US" dirty="0">
                <a:solidFill>
                  <a:schemeClr val="accent1">
                    <a:lumMod val="50000"/>
                  </a:schemeClr>
                </a:solidFill>
              </a:rPr>
              <a:t>Automated Bulk Well Design</a:t>
            </a:r>
          </a:p>
          <a:p>
            <a:pPr marL="468313" lvl="1" indent="-285750"/>
            <a:r>
              <a:rPr lang="en-US" dirty="0">
                <a:solidFill>
                  <a:schemeClr val="accent1">
                    <a:lumMod val="50000"/>
                  </a:schemeClr>
                </a:solidFill>
              </a:rPr>
              <a:t>Example Applications</a:t>
            </a:r>
          </a:p>
          <a:p>
            <a:pPr marL="285750" indent="-285750">
              <a:buFont typeface="Arial" panose="020B0604020202020204" pitchFamily="34" charset="0"/>
              <a:buChar char="•"/>
            </a:pPr>
            <a:r>
              <a:rPr lang="en-US" dirty="0">
                <a:solidFill>
                  <a:schemeClr val="accent5">
                    <a:lumMod val="75000"/>
                  </a:schemeClr>
                </a:solidFill>
              </a:rPr>
              <a:t>Realtime Frac Dashboard</a:t>
            </a:r>
          </a:p>
          <a:p>
            <a:pPr marL="468313" lvl="1" indent="-285750"/>
            <a:r>
              <a:rPr lang="en-US" dirty="0">
                <a:solidFill>
                  <a:schemeClr val="accent5">
                    <a:lumMod val="75000"/>
                  </a:schemeClr>
                </a:solidFill>
              </a:rPr>
              <a:t>Post-stage Automated Pressure Analysis</a:t>
            </a:r>
          </a:p>
          <a:p>
            <a:pPr marL="468313" lvl="1" indent="-285750"/>
            <a:r>
              <a:rPr lang="en-US" dirty="0">
                <a:solidFill>
                  <a:schemeClr val="accent5">
                    <a:lumMod val="75000"/>
                  </a:schemeClr>
                </a:solidFill>
              </a:rPr>
              <a:t>Frac Hit Analysis</a:t>
            </a:r>
          </a:p>
          <a:p>
            <a:pPr marL="285750" indent="-285750">
              <a:buFont typeface="Arial" panose="020B0604020202020204" pitchFamily="34" charset="0"/>
              <a:buChar char="•"/>
            </a:pPr>
            <a:r>
              <a:rPr lang="en-US" dirty="0">
                <a:solidFill>
                  <a:schemeClr val="tx1">
                    <a:lumMod val="50000"/>
                  </a:schemeClr>
                </a:solidFill>
              </a:rPr>
              <a:t>Conclusion</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lvl="1" indent="0">
              <a:buNone/>
            </a:pPr>
            <a:endParaRPr lang="en-US" dirty="0"/>
          </a:p>
        </p:txBody>
      </p:sp>
      <p:sp>
        <p:nvSpPr>
          <p:cNvPr id="5" name="Text Placeholder 4">
            <a:extLst>
              <a:ext uri="{FF2B5EF4-FFF2-40B4-BE49-F238E27FC236}">
                <a16:creationId xmlns:a16="http://schemas.microsoft.com/office/drawing/2014/main" id="{CE2C1604-A80F-F572-03DB-92409E869F9D}"/>
              </a:ext>
            </a:extLst>
          </p:cNvPr>
          <p:cNvSpPr>
            <a:spLocks noGrp="1"/>
          </p:cNvSpPr>
          <p:nvPr>
            <p:ph type="body" sz="quarter" idx="11"/>
          </p:nvPr>
        </p:nvSpPr>
        <p:spPr/>
        <p:txBody>
          <a:bodyPr/>
          <a:lstStyle/>
          <a:p>
            <a:r>
              <a:rPr lang="en-US" dirty="0"/>
              <a:t>Agenda</a:t>
            </a:r>
          </a:p>
        </p:txBody>
      </p:sp>
      <p:sp>
        <p:nvSpPr>
          <p:cNvPr id="6" name="Footer Placeholder 5">
            <a:extLst>
              <a:ext uri="{FF2B5EF4-FFF2-40B4-BE49-F238E27FC236}">
                <a16:creationId xmlns:a16="http://schemas.microsoft.com/office/drawing/2014/main" id="{13EEED31-3DB7-FD6E-1474-9D3D21205F09}"/>
              </a:ext>
            </a:extLst>
          </p:cNvPr>
          <p:cNvSpPr>
            <a:spLocks noGrp="1"/>
          </p:cNvSpPr>
          <p:nvPr>
            <p:ph type="ftr" sz="quarter" idx="3"/>
          </p:nvPr>
        </p:nvSpPr>
        <p:spPr/>
        <p:txBody>
          <a:bodyPr/>
          <a:lstStyle/>
          <a:p>
            <a:r>
              <a:rPr lang="en-US" b="1">
                <a:latin typeface="Arial" panose="020B0604020202020204" pitchFamily="34" charset="0"/>
              </a:rPr>
              <a:t>NuVista Energy Ltd.</a:t>
            </a:r>
            <a:endParaRPr lang="en-US" dirty="0">
              <a:latin typeface="Arial" panose="020B0604020202020204" pitchFamily="34" charset="0"/>
            </a:endParaRPr>
          </a:p>
        </p:txBody>
      </p:sp>
      <p:sp>
        <p:nvSpPr>
          <p:cNvPr id="7" name="Slide Number Placeholder 6">
            <a:extLst>
              <a:ext uri="{FF2B5EF4-FFF2-40B4-BE49-F238E27FC236}">
                <a16:creationId xmlns:a16="http://schemas.microsoft.com/office/drawing/2014/main" id="{0F0A9268-BC54-9109-B7AE-AAC30179F10E}"/>
              </a:ext>
            </a:extLst>
          </p:cNvPr>
          <p:cNvSpPr>
            <a:spLocks noGrp="1"/>
          </p:cNvSpPr>
          <p:nvPr>
            <p:ph type="sldNum" sz="quarter" idx="4"/>
          </p:nvPr>
        </p:nvSpPr>
        <p:spPr/>
        <p:txBody>
          <a:bodyPr/>
          <a:lstStyle/>
          <a:p>
            <a:fld id="{D246DD65-7063-5C41-96CC-23CB1F95FA91}" type="slidenum">
              <a:rPr lang="en-US" smtClean="0"/>
              <a:pPr/>
              <a:t>2</a:t>
            </a:fld>
            <a:endParaRPr lang="en-US" dirty="0"/>
          </a:p>
        </p:txBody>
      </p:sp>
    </p:spTree>
    <p:extLst>
      <p:ext uri="{BB962C8B-B14F-4D97-AF65-F5344CB8AC3E}">
        <p14:creationId xmlns:p14="http://schemas.microsoft.com/office/powerpoint/2010/main" val="14641570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C85FE4-0584-21F8-DB7C-B3DD6C2807BA}"/>
            </a:ext>
          </a:extLst>
        </p:cNvPr>
        <p:cNvGrpSpPr/>
        <p:nvPr/>
      </p:nvGrpSpPr>
      <p:grpSpPr>
        <a:xfrm>
          <a:off x="0" y="0"/>
          <a:ext cx="0" cy="0"/>
          <a:chOff x="0" y="0"/>
          <a:chExt cx="0" cy="0"/>
        </a:xfrm>
      </p:grpSpPr>
      <p:pic>
        <p:nvPicPr>
          <p:cNvPr id="107" name="Picture 106">
            <a:extLst>
              <a:ext uri="{FF2B5EF4-FFF2-40B4-BE49-F238E27FC236}">
                <a16:creationId xmlns:a16="http://schemas.microsoft.com/office/drawing/2014/main" id="{CB16EFAA-436F-6946-96FD-55B2EE929D3C}"/>
              </a:ext>
            </a:extLst>
          </p:cNvPr>
          <p:cNvPicPr>
            <a:picLocks noChangeAspect="1"/>
          </p:cNvPicPr>
          <p:nvPr/>
        </p:nvPicPr>
        <p:blipFill>
          <a:blip r:embed="rId3"/>
          <a:stretch>
            <a:fillRect/>
          </a:stretch>
        </p:blipFill>
        <p:spPr>
          <a:xfrm>
            <a:off x="3252729" y="2222491"/>
            <a:ext cx="2714481" cy="1602326"/>
          </a:xfrm>
          <a:prstGeom prst="rect">
            <a:avLst/>
          </a:prstGeom>
          <a:solidFill>
            <a:srgbClr val="FDFDFD"/>
          </a:solidFill>
          <a:ln>
            <a:solidFill>
              <a:schemeClr val="dk1"/>
            </a:solidFill>
          </a:ln>
        </p:spPr>
      </p:pic>
      <p:pic>
        <p:nvPicPr>
          <p:cNvPr id="91" name="Picture 90">
            <a:extLst>
              <a:ext uri="{FF2B5EF4-FFF2-40B4-BE49-F238E27FC236}">
                <a16:creationId xmlns:a16="http://schemas.microsoft.com/office/drawing/2014/main" id="{E2E4454B-8507-9C03-4AF4-8247F5CD695F}"/>
              </a:ext>
            </a:extLst>
          </p:cNvPr>
          <p:cNvPicPr>
            <a:picLocks noChangeAspect="1"/>
          </p:cNvPicPr>
          <p:nvPr/>
        </p:nvPicPr>
        <p:blipFill>
          <a:blip r:embed="rId4"/>
          <a:stretch>
            <a:fillRect/>
          </a:stretch>
        </p:blipFill>
        <p:spPr>
          <a:xfrm>
            <a:off x="515550" y="1837223"/>
            <a:ext cx="1684487" cy="4794308"/>
          </a:xfrm>
          <a:prstGeom prst="rect">
            <a:avLst/>
          </a:prstGeom>
          <a:ln>
            <a:solidFill>
              <a:schemeClr val="dk1"/>
            </a:solidFill>
          </a:ln>
        </p:spPr>
      </p:pic>
      <p:sp>
        <p:nvSpPr>
          <p:cNvPr id="3" name="Title 2">
            <a:extLst>
              <a:ext uri="{FF2B5EF4-FFF2-40B4-BE49-F238E27FC236}">
                <a16:creationId xmlns:a16="http://schemas.microsoft.com/office/drawing/2014/main" id="{5A662055-0CED-0907-7519-B56261962D33}"/>
              </a:ext>
            </a:extLst>
          </p:cNvPr>
          <p:cNvSpPr>
            <a:spLocks noGrp="1"/>
          </p:cNvSpPr>
          <p:nvPr>
            <p:ph type="title"/>
          </p:nvPr>
        </p:nvSpPr>
        <p:spPr>
          <a:xfrm>
            <a:off x="264999" y="339609"/>
            <a:ext cx="10515600" cy="1033508"/>
          </a:xfrm>
        </p:spPr>
        <p:txBody>
          <a:bodyPr/>
          <a:lstStyle/>
          <a:p>
            <a:r>
              <a:rPr lang="en-US" dirty="0"/>
              <a:t>FDP Workflow </a:t>
            </a:r>
          </a:p>
        </p:txBody>
      </p:sp>
      <p:sp>
        <p:nvSpPr>
          <p:cNvPr id="4" name="Text Placeholder 3">
            <a:extLst>
              <a:ext uri="{FF2B5EF4-FFF2-40B4-BE49-F238E27FC236}">
                <a16:creationId xmlns:a16="http://schemas.microsoft.com/office/drawing/2014/main" id="{C2762348-A849-F59B-7C23-C3FF64BB3793}"/>
              </a:ext>
            </a:extLst>
          </p:cNvPr>
          <p:cNvSpPr>
            <a:spLocks noGrp="1"/>
          </p:cNvSpPr>
          <p:nvPr>
            <p:ph type="body" sz="quarter" idx="10"/>
          </p:nvPr>
        </p:nvSpPr>
        <p:spPr>
          <a:xfrm>
            <a:off x="264998" y="774883"/>
            <a:ext cx="10726087" cy="225413"/>
          </a:xfrm>
        </p:spPr>
        <p:txBody>
          <a:bodyPr/>
          <a:lstStyle/>
          <a:p>
            <a:r>
              <a:rPr lang="en-US" dirty="0"/>
              <a:t>Converting Raw Field Development Plan Shapefile’s into fully designed Future Wells. </a:t>
            </a:r>
          </a:p>
        </p:txBody>
      </p:sp>
      <p:sp>
        <p:nvSpPr>
          <p:cNvPr id="5" name="Text Placeholder 4">
            <a:extLst>
              <a:ext uri="{FF2B5EF4-FFF2-40B4-BE49-F238E27FC236}">
                <a16:creationId xmlns:a16="http://schemas.microsoft.com/office/drawing/2014/main" id="{F3CCC815-EE90-7FD2-EBC4-FF2AADD5CF09}"/>
              </a:ext>
            </a:extLst>
          </p:cNvPr>
          <p:cNvSpPr>
            <a:spLocks noGrp="1"/>
          </p:cNvSpPr>
          <p:nvPr>
            <p:ph type="body" sz="quarter" idx="11"/>
          </p:nvPr>
        </p:nvSpPr>
        <p:spPr>
          <a:xfrm>
            <a:off x="264996" y="147585"/>
            <a:ext cx="4212859" cy="173736"/>
          </a:xfrm>
        </p:spPr>
        <p:txBody>
          <a:bodyPr/>
          <a:lstStyle/>
          <a:p>
            <a:r>
              <a:rPr lang="en-US" dirty="0"/>
              <a:t>Field Development Plan Automation</a:t>
            </a:r>
          </a:p>
        </p:txBody>
      </p:sp>
      <p:sp>
        <p:nvSpPr>
          <p:cNvPr id="10" name="Rectangle: Rounded Corners 9">
            <a:extLst>
              <a:ext uri="{FF2B5EF4-FFF2-40B4-BE49-F238E27FC236}">
                <a16:creationId xmlns:a16="http://schemas.microsoft.com/office/drawing/2014/main" id="{63C5AEAD-C2BC-31B9-EB25-020ED8DE7076}"/>
              </a:ext>
            </a:extLst>
          </p:cNvPr>
          <p:cNvSpPr/>
          <p:nvPr/>
        </p:nvSpPr>
        <p:spPr>
          <a:xfrm>
            <a:off x="122322" y="1704804"/>
            <a:ext cx="2339134" cy="549405"/>
          </a:xfrm>
          <a:prstGeom prst="roundRect">
            <a:avLst/>
          </a:prstGeom>
          <a:ln>
            <a:solidFill>
              <a:schemeClr val="bg2">
                <a:lumMod val="10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1200" dirty="0">
                <a:latin typeface="Arial" panose="020B0604020202020204" pitchFamily="34" charset="0"/>
                <a:cs typeface="Arial" panose="020B0604020202020204" pitchFamily="34" charset="0"/>
              </a:rPr>
              <a:t>FDP Shapefile</a:t>
            </a:r>
          </a:p>
          <a:p>
            <a:pPr algn="ctr"/>
            <a:r>
              <a:rPr lang="en-US" sz="1200" b="1" dirty="0">
                <a:solidFill>
                  <a:schemeClr val="bg1"/>
                </a:solidFill>
                <a:latin typeface="Arial" panose="020B0604020202020204" pitchFamily="34" charset="0"/>
                <a:cs typeface="Arial" panose="020B0604020202020204" pitchFamily="34" charset="0"/>
              </a:rPr>
              <a:t>250+ Planned Wells</a:t>
            </a:r>
          </a:p>
        </p:txBody>
      </p:sp>
      <p:sp>
        <p:nvSpPr>
          <p:cNvPr id="11" name="Rectangle: Rounded Corners 10">
            <a:extLst>
              <a:ext uri="{FF2B5EF4-FFF2-40B4-BE49-F238E27FC236}">
                <a16:creationId xmlns:a16="http://schemas.microsoft.com/office/drawing/2014/main" id="{014DE963-3F08-2F35-4526-4F1944D3E3FB}"/>
              </a:ext>
            </a:extLst>
          </p:cNvPr>
          <p:cNvSpPr/>
          <p:nvPr/>
        </p:nvSpPr>
        <p:spPr>
          <a:xfrm>
            <a:off x="8276809" y="1087799"/>
            <a:ext cx="1560186" cy="509873"/>
          </a:xfrm>
          <a:prstGeom prst="roundRect">
            <a:avLst/>
          </a:prstGeom>
          <a:ln>
            <a:solidFill>
              <a:schemeClr val="bg2">
                <a:lumMod val="10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1200" dirty="0">
                <a:latin typeface="Arial" panose="020B0604020202020204" pitchFamily="34" charset="0"/>
                <a:cs typeface="Arial" panose="020B0604020202020204" pitchFamily="34" charset="0"/>
              </a:rPr>
              <a:t>Input:</a:t>
            </a:r>
          </a:p>
          <a:p>
            <a:pPr algn="ctr"/>
            <a:r>
              <a:rPr lang="en-US" sz="1200" dirty="0">
                <a:latin typeface="Arial" panose="020B0604020202020204" pitchFamily="34" charset="0"/>
                <a:cs typeface="Arial" panose="020B0604020202020204" pitchFamily="34" charset="0"/>
              </a:rPr>
              <a:t>FDP Shapefile</a:t>
            </a:r>
          </a:p>
        </p:txBody>
      </p:sp>
      <p:sp>
        <p:nvSpPr>
          <p:cNvPr id="13" name="Rectangle: Rounded Corners 12">
            <a:extLst>
              <a:ext uri="{FF2B5EF4-FFF2-40B4-BE49-F238E27FC236}">
                <a16:creationId xmlns:a16="http://schemas.microsoft.com/office/drawing/2014/main" id="{84ABF90B-8158-67DF-59DE-E6275580DAB6}"/>
              </a:ext>
            </a:extLst>
          </p:cNvPr>
          <p:cNvSpPr/>
          <p:nvPr/>
        </p:nvSpPr>
        <p:spPr>
          <a:xfrm>
            <a:off x="6936442" y="2013824"/>
            <a:ext cx="1556119" cy="509873"/>
          </a:xfrm>
          <a:prstGeom prst="roundRect">
            <a:avLst/>
          </a:prstGeom>
          <a:ln>
            <a:solidFill>
              <a:schemeClr val="bg2">
                <a:lumMod val="10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1200" dirty="0">
                <a:latin typeface="Arial" panose="020B0604020202020204" pitchFamily="34" charset="0"/>
                <a:cs typeface="Arial" panose="020B0604020202020204" pitchFamily="34" charset="0"/>
              </a:rPr>
              <a:t>Manually Assign each well it’s UWI &amp; Pad Location</a:t>
            </a:r>
          </a:p>
        </p:txBody>
      </p:sp>
      <p:sp>
        <p:nvSpPr>
          <p:cNvPr id="14" name="Rectangle: Rounded Corners 13">
            <a:extLst>
              <a:ext uri="{FF2B5EF4-FFF2-40B4-BE49-F238E27FC236}">
                <a16:creationId xmlns:a16="http://schemas.microsoft.com/office/drawing/2014/main" id="{EC30382F-E527-A1E6-F8E3-B234C76D004C}"/>
              </a:ext>
            </a:extLst>
          </p:cNvPr>
          <p:cNvSpPr/>
          <p:nvPr/>
        </p:nvSpPr>
        <p:spPr>
          <a:xfrm>
            <a:off x="6842647" y="2808973"/>
            <a:ext cx="1727306" cy="686775"/>
          </a:xfrm>
          <a:prstGeom prst="roundRect">
            <a:avLst/>
          </a:prstGeom>
          <a:ln>
            <a:solidFill>
              <a:schemeClr val="bg2">
                <a:lumMod val="10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1200" dirty="0">
                <a:latin typeface="Arial" panose="020B0604020202020204" pitchFamily="34" charset="0"/>
                <a:cs typeface="Arial" panose="020B0604020202020204" pitchFamily="34" charset="0"/>
              </a:rPr>
              <a:t>Measure well lengths (drilling and completable)</a:t>
            </a:r>
          </a:p>
        </p:txBody>
      </p:sp>
      <p:sp>
        <p:nvSpPr>
          <p:cNvPr id="15" name="Rectangle: Rounded Corners 14">
            <a:extLst>
              <a:ext uri="{FF2B5EF4-FFF2-40B4-BE49-F238E27FC236}">
                <a16:creationId xmlns:a16="http://schemas.microsoft.com/office/drawing/2014/main" id="{B3FAF2CF-29D3-8E19-8487-FF6F6A8AF21F}"/>
              </a:ext>
            </a:extLst>
          </p:cNvPr>
          <p:cNvSpPr/>
          <p:nvPr/>
        </p:nvSpPr>
        <p:spPr>
          <a:xfrm>
            <a:off x="6936441" y="3781024"/>
            <a:ext cx="1556119" cy="509873"/>
          </a:xfrm>
          <a:prstGeom prst="roundRect">
            <a:avLst/>
          </a:prstGeom>
          <a:ln>
            <a:solidFill>
              <a:schemeClr val="bg2">
                <a:lumMod val="10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1200" dirty="0">
                <a:latin typeface="Arial" panose="020B0604020202020204" pitchFamily="34" charset="0"/>
                <a:cs typeface="Arial" panose="020B0604020202020204" pitchFamily="34" charset="0"/>
              </a:rPr>
              <a:t>Add Completion Parameters</a:t>
            </a:r>
          </a:p>
        </p:txBody>
      </p:sp>
      <p:cxnSp>
        <p:nvCxnSpPr>
          <p:cNvPr id="20" name="Straight Arrow Connector 19">
            <a:extLst>
              <a:ext uri="{FF2B5EF4-FFF2-40B4-BE49-F238E27FC236}">
                <a16:creationId xmlns:a16="http://schemas.microsoft.com/office/drawing/2014/main" id="{A7BE718C-7619-5172-8879-D8BF5F542065}"/>
              </a:ext>
            </a:extLst>
          </p:cNvPr>
          <p:cNvCxnSpPr>
            <a:cxnSpLocks/>
            <a:stCxn id="13" idx="2"/>
            <a:endCxn id="14" idx="0"/>
          </p:cNvCxnSpPr>
          <p:nvPr/>
        </p:nvCxnSpPr>
        <p:spPr>
          <a:xfrm flipH="1">
            <a:off x="7706300" y="2523697"/>
            <a:ext cx="8202" cy="28527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6" name="Rectangle: Rounded Corners 25">
            <a:extLst>
              <a:ext uri="{FF2B5EF4-FFF2-40B4-BE49-F238E27FC236}">
                <a16:creationId xmlns:a16="http://schemas.microsoft.com/office/drawing/2014/main" id="{5E91FE1F-3970-CC04-2428-3136A6CBA2E5}"/>
              </a:ext>
            </a:extLst>
          </p:cNvPr>
          <p:cNvSpPr/>
          <p:nvPr/>
        </p:nvSpPr>
        <p:spPr>
          <a:xfrm>
            <a:off x="6936440" y="4568572"/>
            <a:ext cx="1556119" cy="509873"/>
          </a:xfrm>
          <a:prstGeom prst="roundRect">
            <a:avLst/>
          </a:prstGeom>
          <a:ln>
            <a:solidFill>
              <a:schemeClr val="bg2">
                <a:lumMod val="10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1200" dirty="0">
                <a:latin typeface="Arial" panose="020B0604020202020204" pitchFamily="34" charset="0"/>
                <a:cs typeface="Arial" panose="020B0604020202020204" pitchFamily="34" charset="0"/>
              </a:rPr>
              <a:t>Add Type Curves + CGR/WGR </a:t>
            </a:r>
          </a:p>
        </p:txBody>
      </p:sp>
      <p:sp>
        <p:nvSpPr>
          <p:cNvPr id="27" name="Rectangle: Rounded Corners 26">
            <a:extLst>
              <a:ext uri="{FF2B5EF4-FFF2-40B4-BE49-F238E27FC236}">
                <a16:creationId xmlns:a16="http://schemas.microsoft.com/office/drawing/2014/main" id="{942347E8-29D7-226F-8323-3A477330517E}"/>
              </a:ext>
            </a:extLst>
          </p:cNvPr>
          <p:cNvSpPr/>
          <p:nvPr/>
        </p:nvSpPr>
        <p:spPr>
          <a:xfrm>
            <a:off x="6948998" y="5393172"/>
            <a:ext cx="1556119" cy="509873"/>
          </a:xfrm>
          <a:prstGeom prst="roundRect">
            <a:avLst/>
          </a:prstGeom>
          <a:ln>
            <a:solidFill>
              <a:schemeClr val="bg2">
                <a:lumMod val="10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1200" dirty="0">
                <a:latin typeface="Arial" panose="020B0604020202020204" pitchFamily="34" charset="0"/>
                <a:cs typeface="Arial" panose="020B0604020202020204" pitchFamily="34" charset="0"/>
              </a:rPr>
              <a:t>Add Capital Costs</a:t>
            </a:r>
          </a:p>
        </p:txBody>
      </p:sp>
      <p:cxnSp>
        <p:nvCxnSpPr>
          <p:cNvPr id="41" name="Straight Arrow Connector 40">
            <a:extLst>
              <a:ext uri="{FF2B5EF4-FFF2-40B4-BE49-F238E27FC236}">
                <a16:creationId xmlns:a16="http://schemas.microsoft.com/office/drawing/2014/main" id="{274F099E-9A7F-4E9A-08F8-97A01C456F0B}"/>
              </a:ext>
            </a:extLst>
          </p:cNvPr>
          <p:cNvCxnSpPr>
            <a:cxnSpLocks/>
            <a:stCxn id="14" idx="2"/>
            <a:endCxn id="15" idx="0"/>
          </p:cNvCxnSpPr>
          <p:nvPr/>
        </p:nvCxnSpPr>
        <p:spPr>
          <a:xfrm>
            <a:off x="7706300" y="3495748"/>
            <a:ext cx="8201" cy="28527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DA82B2D0-C298-1ED2-5DFE-8B3116C460EF}"/>
              </a:ext>
            </a:extLst>
          </p:cNvPr>
          <p:cNvCxnSpPr>
            <a:cxnSpLocks/>
            <a:stCxn id="15" idx="2"/>
            <a:endCxn id="26" idx="0"/>
          </p:cNvCxnSpPr>
          <p:nvPr/>
        </p:nvCxnSpPr>
        <p:spPr>
          <a:xfrm flipH="1">
            <a:off x="7714500" y="4290897"/>
            <a:ext cx="1" cy="27767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id="{133D21AC-2041-3CE8-E581-ECCFBDDCF845}"/>
              </a:ext>
            </a:extLst>
          </p:cNvPr>
          <p:cNvCxnSpPr>
            <a:cxnSpLocks/>
            <a:stCxn id="26" idx="2"/>
          </p:cNvCxnSpPr>
          <p:nvPr/>
        </p:nvCxnSpPr>
        <p:spPr>
          <a:xfrm flipH="1">
            <a:off x="7714498" y="5078445"/>
            <a:ext cx="2" cy="31472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3" name="Rectangle: Rounded Corners 52">
            <a:extLst>
              <a:ext uri="{FF2B5EF4-FFF2-40B4-BE49-F238E27FC236}">
                <a16:creationId xmlns:a16="http://schemas.microsoft.com/office/drawing/2014/main" id="{968D244D-732D-CDB6-C260-0FC839366A0E}"/>
              </a:ext>
            </a:extLst>
          </p:cNvPr>
          <p:cNvSpPr/>
          <p:nvPr/>
        </p:nvSpPr>
        <p:spPr>
          <a:xfrm>
            <a:off x="8021712" y="6238226"/>
            <a:ext cx="2290051" cy="397168"/>
          </a:xfrm>
          <a:prstGeom prst="roundRect">
            <a:avLst/>
          </a:prstGeom>
          <a:ln>
            <a:solidFill>
              <a:schemeClr val="bg2">
                <a:lumMod val="10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1200" dirty="0">
                <a:latin typeface="Arial" panose="020B0604020202020204" pitchFamily="34" charset="0"/>
                <a:cs typeface="Arial" panose="020B0604020202020204" pitchFamily="34" charset="0"/>
              </a:rPr>
              <a:t>Output: Mosaic Entities Ready for Economic Evaluation</a:t>
            </a:r>
          </a:p>
        </p:txBody>
      </p:sp>
      <p:cxnSp>
        <p:nvCxnSpPr>
          <p:cNvPr id="60" name="Connector: Elbow 59">
            <a:extLst>
              <a:ext uri="{FF2B5EF4-FFF2-40B4-BE49-F238E27FC236}">
                <a16:creationId xmlns:a16="http://schemas.microsoft.com/office/drawing/2014/main" id="{C0010143-723F-D4BB-3392-87D2A9AC0FF3}"/>
              </a:ext>
            </a:extLst>
          </p:cNvPr>
          <p:cNvCxnSpPr>
            <a:cxnSpLocks/>
            <a:stCxn id="11" idx="3"/>
            <a:endCxn id="66" idx="0"/>
          </p:cNvCxnSpPr>
          <p:nvPr/>
        </p:nvCxnSpPr>
        <p:spPr>
          <a:xfrm>
            <a:off x="9836995" y="1342736"/>
            <a:ext cx="949536" cy="1195715"/>
          </a:xfrm>
          <a:prstGeom prst="bentConnector2">
            <a:avLst/>
          </a:prstGeom>
        </p:spPr>
        <p:style>
          <a:lnRef idx="1">
            <a:schemeClr val="accent1"/>
          </a:lnRef>
          <a:fillRef idx="0">
            <a:schemeClr val="accent1"/>
          </a:fillRef>
          <a:effectRef idx="0">
            <a:schemeClr val="accent1"/>
          </a:effectRef>
          <a:fontRef idx="minor">
            <a:schemeClr val="tx1"/>
          </a:fontRef>
        </p:style>
      </p:cxnSp>
      <p:sp>
        <p:nvSpPr>
          <p:cNvPr id="66" name="Rectangle: Rounded Corners 65">
            <a:extLst>
              <a:ext uri="{FF2B5EF4-FFF2-40B4-BE49-F238E27FC236}">
                <a16:creationId xmlns:a16="http://schemas.microsoft.com/office/drawing/2014/main" id="{AB4CE8F4-30A4-62E0-CB52-1E77D77CA251}"/>
              </a:ext>
            </a:extLst>
          </p:cNvPr>
          <p:cNvSpPr/>
          <p:nvPr/>
        </p:nvSpPr>
        <p:spPr>
          <a:xfrm>
            <a:off x="10006438" y="2538451"/>
            <a:ext cx="1560186" cy="509873"/>
          </a:xfrm>
          <a:prstGeom prst="roundRect">
            <a:avLst/>
          </a:prstGeom>
          <a:ln>
            <a:solidFill>
              <a:srgbClr val="00B05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1200" dirty="0">
                <a:latin typeface="Arial" panose="020B0604020202020204" pitchFamily="34" charset="0"/>
                <a:cs typeface="Arial" panose="020B0604020202020204" pitchFamily="34" charset="0"/>
              </a:rPr>
              <a:t>FDP Automation Algorithm</a:t>
            </a:r>
          </a:p>
        </p:txBody>
      </p:sp>
      <p:sp>
        <p:nvSpPr>
          <p:cNvPr id="70" name="Rectangle: Rounded Corners 69">
            <a:extLst>
              <a:ext uri="{FF2B5EF4-FFF2-40B4-BE49-F238E27FC236}">
                <a16:creationId xmlns:a16="http://schemas.microsoft.com/office/drawing/2014/main" id="{9C38551E-E2AD-54F6-0D75-548798108AFD}"/>
              </a:ext>
            </a:extLst>
          </p:cNvPr>
          <p:cNvSpPr/>
          <p:nvPr/>
        </p:nvSpPr>
        <p:spPr>
          <a:xfrm>
            <a:off x="10006438" y="4526198"/>
            <a:ext cx="1560186" cy="509873"/>
          </a:xfrm>
          <a:prstGeom prst="roundRect">
            <a:avLst/>
          </a:prstGeom>
          <a:ln>
            <a:solidFill>
              <a:srgbClr val="00B05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1200" dirty="0">
                <a:latin typeface="Arial" panose="020B0604020202020204" pitchFamily="34" charset="0"/>
                <a:cs typeface="Arial" panose="020B0604020202020204" pitchFamily="34" charset="0"/>
              </a:rPr>
              <a:t>Dynamic Spotfire Dashboard</a:t>
            </a:r>
          </a:p>
        </p:txBody>
      </p:sp>
      <p:cxnSp>
        <p:nvCxnSpPr>
          <p:cNvPr id="73" name="Connector: Elbow 72">
            <a:extLst>
              <a:ext uri="{FF2B5EF4-FFF2-40B4-BE49-F238E27FC236}">
                <a16:creationId xmlns:a16="http://schemas.microsoft.com/office/drawing/2014/main" id="{67FB148E-4D4D-DFE9-E82F-6FDD0258ED6E}"/>
              </a:ext>
            </a:extLst>
          </p:cNvPr>
          <p:cNvCxnSpPr>
            <a:cxnSpLocks/>
          </p:cNvCxnSpPr>
          <p:nvPr/>
        </p:nvCxnSpPr>
        <p:spPr>
          <a:xfrm>
            <a:off x="9845218" y="1335477"/>
            <a:ext cx="949536" cy="1195715"/>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2" name="Straight Arrow Connector 81">
            <a:extLst>
              <a:ext uri="{FF2B5EF4-FFF2-40B4-BE49-F238E27FC236}">
                <a16:creationId xmlns:a16="http://schemas.microsoft.com/office/drawing/2014/main" id="{C3167479-E8EA-76ED-1700-7AB51896F24C}"/>
              </a:ext>
            </a:extLst>
          </p:cNvPr>
          <p:cNvCxnSpPr>
            <a:cxnSpLocks/>
            <a:stCxn id="66" idx="2"/>
            <a:endCxn id="70" idx="0"/>
          </p:cNvCxnSpPr>
          <p:nvPr/>
        </p:nvCxnSpPr>
        <p:spPr>
          <a:xfrm>
            <a:off x="10786531" y="3048324"/>
            <a:ext cx="0" cy="147787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5" name="Connector: Elbow 84">
            <a:extLst>
              <a:ext uri="{FF2B5EF4-FFF2-40B4-BE49-F238E27FC236}">
                <a16:creationId xmlns:a16="http://schemas.microsoft.com/office/drawing/2014/main" id="{636F10B8-C443-1A72-340E-9007BA032759}"/>
              </a:ext>
            </a:extLst>
          </p:cNvPr>
          <p:cNvCxnSpPr>
            <a:cxnSpLocks/>
            <a:stCxn id="70" idx="2"/>
            <a:endCxn id="53" idx="3"/>
          </p:cNvCxnSpPr>
          <p:nvPr/>
        </p:nvCxnSpPr>
        <p:spPr>
          <a:xfrm rot="5400000">
            <a:off x="9848778" y="5499056"/>
            <a:ext cx="1400739" cy="474768"/>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0" name="TextBox 99">
            <a:extLst>
              <a:ext uri="{FF2B5EF4-FFF2-40B4-BE49-F238E27FC236}">
                <a16:creationId xmlns:a16="http://schemas.microsoft.com/office/drawing/2014/main" id="{21202723-C92F-0A88-0EE3-3DC8C211602C}"/>
              </a:ext>
            </a:extLst>
          </p:cNvPr>
          <p:cNvSpPr txBox="1"/>
          <p:nvPr/>
        </p:nvSpPr>
        <p:spPr>
          <a:xfrm>
            <a:off x="2360003" y="5465843"/>
            <a:ext cx="3918361" cy="1169551"/>
          </a:xfrm>
          <a:prstGeom prst="rect">
            <a:avLst/>
          </a:prstGeom>
          <a:solidFill>
            <a:schemeClr val="bg2"/>
          </a:solidFill>
          <a:ln>
            <a:solidFill>
              <a:schemeClr val="tx1">
                <a:lumMod val="40000"/>
                <a:lumOff val="60000"/>
              </a:schemeClr>
            </a:solidFill>
          </a:ln>
        </p:spPr>
        <p:txBody>
          <a:bodyPr wrap="square" rtlCol="0">
            <a:spAutoFit/>
          </a:bodyPr>
          <a:lstStyle/>
          <a:p>
            <a:pPr algn="ctr">
              <a:spcAft>
                <a:spcPts val="1200"/>
              </a:spcAft>
            </a:pPr>
            <a:r>
              <a:rPr lang="en-US" sz="1400" b="1" dirty="0"/>
              <a:t>Conclusion: </a:t>
            </a:r>
            <a:r>
              <a:rPr lang="en-US" sz="1400" dirty="0"/>
              <a:t>New FDP Automation workflow increases planning accuracy, </a:t>
            </a:r>
            <a:r>
              <a:rPr lang="en-US" sz="1400" b="1" dirty="0"/>
              <a:t>reduces/removes redundant tasks</a:t>
            </a:r>
            <a:r>
              <a:rPr lang="en-US" sz="1400" dirty="0"/>
              <a:t> and creates off the shelf entities for Budget and Long-Range Planning analyses</a:t>
            </a:r>
          </a:p>
        </p:txBody>
      </p:sp>
      <p:sp>
        <p:nvSpPr>
          <p:cNvPr id="101" name="TextBox 100">
            <a:extLst>
              <a:ext uri="{FF2B5EF4-FFF2-40B4-BE49-F238E27FC236}">
                <a16:creationId xmlns:a16="http://schemas.microsoft.com/office/drawing/2014/main" id="{8E2539C4-9C36-EC34-693D-2DC3064F5781}"/>
              </a:ext>
            </a:extLst>
          </p:cNvPr>
          <p:cNvSpPr txBox="1"/>
          <p:nvPr/>
        </p:nvSpPr>
        <p:spPr>
          <a:xfrm>
            <a:off x="7227304" y="1251750"/>
            <a:ext cx="538826" cy="369332"/>
          </a:xfrm>
          <a:prstGeom prst="rect">
            <a:avLst/>
          </a:prstGeom>
          <a:noFill/>
        </p:spPr>
        <p:txBody>
          <a:bodyPr wrap="square" rtlCol="0">
            <a:spAutoFit/>
          </a:bodyPr>
          <a:lstStyle/>
          <a:p>
            <a:r>
              <a:rPr lang="en-US" dirty="0"/>
              <a:t>Old</a:t>
            </a:r>
          </a:p>
        </p:txBody>
      </p:sp>
      <p:sp>
        <p:nvSpPr>
          <p:cNvPr id="102" name="TextBox 101">
            <a:extLst>
              <a:ext uri="{FF2B5EF4-FFF2-40B4-BE49-F238E27FC236}">
                <a16:creationId xmlns:a16="http://schemas.microsoft.com/office/drawing/2014/main" id="{32846C47-0B47-DA1C-C62D-90CCCA794D6A}"/>
              </a:ext>
            </a:extLst>
          </p:cNvPr>
          <p:cNvSpPr txBox="1"/>
          <p:nvPr/>
        </p:nvSpPr>
        <p:spPr>
          <a:xfrm>
            <a:off x="10752334" y="1251750"/>
            <a:ext cx="673394" cy="369332"/>
          </a:xfrm>
          <a:prstGeom prst="rect">
            <a:avLst/>
          </a:prstGeom>
          <a:noFill/>
        </p:spPr>
        <p:txBody>
          <a:bodyPr wrap="square" rtlCol="0">
            <a:spAutoFit/>
          </a:bodyPr>
          <a:lstStyle/>
          <a:p>
            <a:r>
              <a:rPr lang="en-US" dirty="0">
                <a:solidFill>
                  <a:schemeClr val="accent2"/>
                </a:solidFill>
              </a:rPr>
              <a:t>New</a:t>
            </a:r>
          </a:p>
        </p:txBody>
      </p:sp>
      <p:sp>
        <p:nvSpPr>
          <p:cNvPr id="103" name="Rectangle: Rounded Corners 102">
            <a:extLst>
              <a:ext uri="{FF2B5EF4-FFF2-40B4-BE49-F238E27FC236}">
                <a16:creationId xmlns:a16="http://schemas.microsoft.com/office/drawing/2014/main" id="{15A272CA-C79C-A864-C83E-CE0A8D1A1F77}"/>
              </a:ext>
            </a:extLst>
          </p:cNvPr>
          <p:cNvSpPr/>
          <p:nvPr/>
        </p:nvSpPr>
        <p:spPr>
          <a:xfrm>
            <a:off x="3385704" y="1704803"/>
            <a:ext cx="2339134" cy="549405"/>
          </a:xfrm>
          <a:prstGeom prst="roundRect">
            <a:avLst/>
          </a:prstGeom>
          <a:ln>
            <a:solidFill>
              <a:schemeClr val="bg2">
                <a:lumMod val="10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1200" dirty="0">
                <a:latin typeface="Arial" panose="020B0604020202020204" pitchFamily="34" charset="0"/>
                <a:cs typeface="Arial" panose="020B0604020202020204" pitchFamily="34" charset="0"/>
              </a:rPr>
              <a:t>Future wells fully created and designed in Mosaic.</a:t>
            </a:r>
          </a:p>
        </p:txBody>
      </p:sp>
      <p:sp>
        <p:nvSpPr>
          <p:cNvPr id="104" name="TextBox 103">
            <a:extLst>
              <a:ext uri="{FF2B5EF4-FFF2-40B4-BE49-F238E27FC236}">
                <a16:creationId xmlns:a16="http://schemas.microsoft.com/office/drawing/2014/main" id="{2C8F70C8-E883-1A8E-32DB-AE983FD4EF59}"/>
              </a:ext>
            </a:extLst>
          </p:cNvPr>
          <p:cNvSpPr txBox="1"/>
          <p:nvPr/>
        </p:nvSpPr>
        <p:spPr>
          <a:xfrm>
            <a:off x="912367" y="1342736"/>
            <a:ext cx="756817" cy="369332"/>
          </a:xfrm>
          <a:prstGeom prst="rect">
            <a:avLst/>
          </a:prstGeom>
          <a:noFill/>
        </p:spPr>
        <p:txBody>
          <a:bodyPr wrap="square" rtlCol="0">
            <a:spAutoFit/>
          </a:bodyPr>
          <a:lstStyle/>
          <a:p>
            <a:r>
              <a:rPr lang="en-US" dirty="0"/>
              <a:t>Input</a:t>
            </a:r>
          </a:p>
        </p:txBody>
      </p:sp>
      <p:sp>
        <p:nvSpPr>
          <p:cNvPr id="105" name="TextBox 104">
            <a:extLst>
              <a:ext uri="{FF2B5EF4-FFF2-40B4-BE49-F238E27FC236}">
                <a16:creationId xmlns:a16="http://schemas.microsoft.com/office/drawing/2014/main" id="{66834848-2C1A-5CA1-97E9-2DB796916C53}"/>
              </a:ext>
            </a:extLst>
          </p:cNvPr>
          <p:cNvSpPr txBox="1"/>
          <p:nvPr/>
        </p:nvSpPr>
        <p:spPr>
          <a:xfrm>
            <a:off x="4101292" y="1370194"/>
            <a:ext cx="907958" cy="369332"/>
          </a:xfrm>
          <a:prstGeom prst="rect">
            <a:avLst/>
          </a:prstGeom>
          <a:noFill/>
        </p:spPr>
        <p:txBody>
          <a:bodyPr wrap="square" rtlCol="0">
            <a:spAutoFit/>
          </a:bodyPr>
          <a:lstStyle/>
          <a:p>
            <a:r>
              <a:rPr lang="en-US" dirty="0"/>
              <a:t>Output</a:t>
            </a:r>
          </a:p>
        </p:txBody>
      </p:sp>
      <p:cxnSp>
        <p:nvCxnSpPr>
          <p:cNvPr id="110" name="Straight Connector 109">
            <a:extLst>
              <a:ext uri="{FF2B5EF4-FFF2-40B4-BE49-F238E27FC236}">
                <a16:creationId xmlns:a16="http://schemas.microsoft.com/office/drawing/2014/main" id="{1B08E800-F5C7-F14F-56C4-D40DA59F233A}"/>
              </a:ext>
            </a:extLst>
          </p:cNvPr>
          <p:cNvCxnSpPr>
            <a:cxnSpLocks/>
          </p:cNvCxnSpPr>
          <p:nvPr/>
        </p:nvCxnSpPr>
        <p:spPr>
          <a:xfrm>
            <a:off x="6416040" y="1198880"/>
            <a:ext cx="0" cy="5429277"/>
          </a:xfrm>
          <a:prstGeom prst="line">
            <a:avLst/>
          </a:prstGeom>
        </p:spPr>
        <p:style>
          <a:lnRef idx="3">
            <a:schemeClr val="dk1"/>
          </a:lnRef>
          <a:fillRef idx="0">
            <a:schemeClr val="dk1"/>
          </a:fillRef>
          <a:effectRef idx="2">
            <a:schemeClr val="dk1"/>
          </a:effectRef>
          <a:fontRef idx="minor">
            <a:schemeClr val="tx1"/>
          </a:fontRef>
        </p:style>
      </p:cxnSp>
      <p:sp>
        <p:nvSpPr>
          <p:cNvPr id="118" name="Right Brace 117">
            <a:extLst>
              <a:ext uri="{FF2B5EF4-FFF2-40B4-BE49-F238E27FC236}">
                <a16:creationId xmlns:a16="http://schemas.microsoft.com/office/drawing/2014/main" id="{127877E6-2A32-33AF-9BD0-9DC48B3083D6}"/>
              </a:ext>
            </a:extLst>
          </p:cNvPr>
          <p:cNvSpPr/>
          <p:nvPr/>
        </p:nvSpPr>
        <p:spPr>
          <a:xfrm>
            <a:off x="8692348" y="2013824"/>
            <a:ext cx="1222039" cy="1626902"/>
          </a:xfrm>
          <a:prstGeom prst="rightBrace">
            <a:avLst>
              <a:gd name="adj1" fmla="val 8333"/>
              <a:gd name="adj2" fmla="val 46821"/>
            </a:avLst>
          </a:prstGeom>
        </p:spPr>
        <p:style>
          <a:lnRef idx="3">
            <a:schemeClr val="accent3"/>
          </a:lnRef>
          <a:fillRef idx="0">
            <a:schemeClr val="accent3"/>
          </a:fillRef>
          <a:effectRef idx="2">
            <a:schemeClr val="accent3"/>
          </a:effectRef>
          <a:fontRef idx="minor">
            <a:schemeClr val="tx1"/>
          </a:fontRef>
        </p:style>
        <p:txBody>
          <a:bodyPr rtlCol="0" anchor="ctr"/>
          <a:lstStyle/>
          <a:p>
            <a:pPr algn="ctr"/>
            <a:endParaRPr lang="en-US"/>
          </a:p>
        </p:txBody>
      </p:sp>
      <p:cxnSp>
        <p:nvCxnSpPr>
          <p:cNvPr id="120" name="Connector: Elbow 119">
            <a:extLst>
              <a:ext uri="{FF2B5EF4-FFF2-40B4-BE49-F238E27FC236}">
                <a16:creationId xmlns:a16="http://schemas.microsoft.com/office/drawing/2014/main" id="{5D131BA1-7728-B033-184A-849BC8AB0216}"/>
              </a:ext>
            </a:extLst>
          </p:cNvPr>
          <p:cNvCxnSpPr>
            <a:cxnSpLocks/>
            <a:stCxn id="11" idx="1"/>
            <a:endCxn id="13" idx="0"/>
          </p:cNvCxnSpPr>
          <p:nvPr/>
        </p:nvCxnSpPr>
        <p:spPr>
          <a:xfrm rot="10800000" flipV="1">
            <a:off x="7714503" y="1342736"/>
            <a:ext cx="562307" cy="671088"/>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5" name="Connector: Elbow 124">
            <a:extLst>
              <a:ext uri="{FF2B5EF4-FFF2-40B4-BE49-F238E27FC236}">
                <a16:creationId xmlns:a16="http://schemas.microsoft.com/office/drawing/2014/main" id="{C874FE27-495C-6F0E-C920-33CDBA810ABD}"/>
              </a:ext>
            </a:extLst>
          </p:cNvPr>
          <p:cNvCxnSpPr>
            <a:cxnSpLocks/>
            <a:stCxn id="27" idx="2"/>
            <a:endCxn id="53" idx="1"/>
          </p:cNvCxnSpPr>
          <p:nvPr/>
        </p:nvCxnSpPr>
        <p:spPr>
          <a:xfrm rot="16200000" flipH="1">
            <a:off x="7607503" y="6022600"/>
            <a:ext cx="533765" cy="294654"/>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8" name="Right Brace 127">
            <a:extLst>
              <a:ext uri="{FF2B5EF4-FFF2-40B4-BE49-F238E27FC236}">
                <a16:creationId xmlns:a16="http://schemas.microsoft.com/office/drawing/2014/main" id="{C540B611-7599-BFC8-BBC1-4505C7817A9B}"/>
              </a:ext>
            </a:extLst>
          </p:cNvPr>
          <p:cNvSpPr/>
          <p:nvPr/>
        </p:nvSpPr>
        <p:spPr>
          <a:xfrm>
            <a:off x="8692347" y="3747064"/>
            <a:ext cx="1222039" cy="2196535"/>
          </a:xfrm>
          <a:prstGeom prst="rightBrace">
            <a:avLst>
              <a:gd name="adj1" fmla="val 8333"/>
              <a:gd name="adj2" fmla="val 46821"/>
            </a:avLst>
          </a:prstGeom>
        </p:spPr>
        <p:style>
          <a:lnRef idx="3">
            <a:schemeClr val="accent3"/>
          </a:lnRef>
          <a:fillRef idx="0">
            <a:schemeClr val="accent3"/>
          </a:fillRef>
          <a:effectRef idx="2">
            <a:schemeClr val="accent3"/>
          </a:effectRef>
          <a:fontRef idx="minor">
            <a:schemeClr val="tx1"/>
          </a:fontRef>
        </p:style>
        <p:txBody>
          <a:bodyPr rtlCol="0" anchor="ctr"/>
          <a:lstStyle/>
          <a:p>
            <a:pPr algn="ctr"/>
            <a:endParaRPr lang="en-US"/>
          </a:p>
        </p:txBody>
      </p:sp>
      <p:pic>
        <p:nvPicPr>
          <p:cNvPr id="6" name="Picture 5">
            <a:extLst>
              <a:ext uri="{FF2B5EF4-FFF2-40B4-BE49-F238E27FC236}">
                <a16:creationId xmlns:a16="http://schemas.microsoft.com/office/drawing/2014/main" id="{26122D46-3984-D6AF-FCF4-E2FEDA09573C}"/>
              </a:ext>
            </a:extLst>
          </p:cNvPr>
          <p:cNvPicPr>
            <a:picLocks noChangeAspect="1"/>
          </p:cNvPicPr>
          <p:nvPr/>
        </p:nvPicPr>
        <p:blipFill>
          <a:blip r:embed="rId5"/>
          <a:stretch>
            <a:fillRect/>
          </a:stretch>
        </p:blipFill>
        <p:spPr>
          <a:xfrm>
            <a:off x="3252729" y="3824817"/>
            <a:ext cx="2714482" cy="1402762"/>
          </a:xfrm>
          <a:prstGeom prst="rect">
            <a:avLst/>
          </a:prstGeom>
          <a:ln>
            <a:solidFill>
              <a:schemeClr val="dk1"/>
            </a:solidFill>
          </a:ln>
        </p:spPr>
      </p:pic>
      <p:sp>
        <p:nvSpPr>
          <p:cNvPr id="7" name="Arrow: Striped Right 6">
            <a:extLst>
              <a:ext uri="{FF2B5EF4-FFF2-40B4-BE49-F238E27FC236}">
                <a16:creationId xmlns:a16="http://schemas.microsoft.com/office/drawing/2014/main" id="{F01AD8EC-F27E-2292-6876-C8DBE6ADDFB3}"/>
              </a:ext>
            </a:extLst>
          </p:cNvPr>
          <p:cNvSpPr/>
          <p:nvPr/>
        </p:nvSpPr>
        <p:spPr>
          <a:xfrm>
            <a:off x="2453742" y="3586474"/>
            <a:ext cx="620127" cy="493124"/>
          </a:xfrm>
          <a:prstGeom prst="striped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809102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7"/>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1"/>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5"/>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3"/>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60"/>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66"/>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70"/>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73"/>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82"/>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85"/>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01"/>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02"/>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18"/>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120"/>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125"/>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1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3" grpId="0" animBg="1"/>
      <p:bldP spid="14" grpId="0" animBg="1"/>
      <p:bldP spid="15" grpId="0" animBg="1"/>
      <p:bldP spid="26" grpId="0" animBg="1"/>
      <p:bldP spid="27" grpId="0" animBg="1"/>
      <p:bldP spid="53" grpId="0" animBg="1"/>
      <p:bldP spid="66" grpId="0" animBg="1"/>
      <p:bldP spid="70" grpId="0" animBg="1"/>
      <p:bldP spid="101" grpId="0"/>
      <p:bldP spid="102" grpId="0"/>
      <p:bldP spid="118" grpId="0" animBg="1"/>
      <p:bldP spid="128"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45BAEA-2859-5E0D-8966-76D242B5DD2D}"/>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999434A-8B98-4A9A-1CFF-F71559A70B11}"/>
              </a:ext>
            </a:extLst>
          </p:cNvPr>
          <p:cNvSpPr>
            <a:spLocks noGrp="1"/>
          </p:cNvSpPr>
          <p:nvPr>
            <p:ph type="title"/>
          </p:nvPr>
        </p:nvSpPr>
        <p:spPr>
          <a:xfrm>
            <a:off x="838199" y="658842"/>
            <a:ext cx="10902193" cy="529878"/>
          </a:xfrm>
        </p:spPr>
        <p:txBody>
          <a:bodyPr/>
          <a:lstStyle/>
          <a:p>
            <a:r>
              <a:rPr lang="en-US" dirty="0"/>
              <a:t>FDP Algorithm: Completable Length Calculation</a:t>
            </a:r>
          </a:p>
        </p:txBody>
      </p:sp>
      <p:sp>
        <p:nvSpPr>
          <p:cNvPr id="5" name="Text Placeholder 4">
            <a:extLst>
              <a:ext uri="{FF2B5EF4-FFF2-40B4-BE49-F238E27FC236}">
                <a16:creationId xmlns:a16="http://schemas.microsoft.com/office/drawing/2014/main" id="{9E63BC26-0931-9BFE-2B84-46ED42D91CCF}"/>
              </a:ext>
            </a:extLst>
          </p:cNvPr>
          <p:cNvSpPr>
            <a:spLocks noGrp="1"/>
          </p:cNvSpPr>
          <p:nvPr>
            <p:ph type="body" sz="quarter" idx="11"/>
          </p:nvPr>
        </p:nvSpPr>
        <p:spPr/>
        <p:txBody>
          <a:bodyPr/>
          <a:lstStyle/>
          <a:p>
            <a:r>
              <a:rPr lang="en-US" dirty="0"/>
              <a:t>1 – FDP Algorithm 1</a:t>
            </a:r>
            <a:r>
              <a:rPr lang="en-US" baseline="30000" dirty="0"/>
              <a:t>st</a:t>
            </a:r>
            <a:r>
              <a:rPr lang="en-US" dirty="0"/>
              <a:t> Component</a:t>
            </a:r>
          </a:p>
        </p:txBody>
      </p:sp>
      <p:sp>
        <p:nvSpPr>
          <p:cNvPr id="6" name="Footer Placeholder 5">
            <a:extLst>
              <a:ext uri="{FF2B5EF4-FFF2-40B4-BE49-F238E27FC236}">
                <a16:creationId xmlns:a16="http://schemas.microsoft.com/office/drawing/2014/main" id="{B06711AC-2094-0C49-C47D-FC1BF356A744}"/>
              </a:ext>
            </a:extLst>
          </p:cNvPr>
          <p:cNvSpPr>
            <a:spLocks noGrp="1"/>
          </p:cNvSpPr>
          <p:nvPr>
            <p:ph type="ftr" sz="quarter" idx="3"/>
          </p:nvPr>
        </p:nvSpPr>
        <p:spPr/>
        <p:txBody>
          <a:bodyPr/>
          <a:lstStyle/>
          <a:p>
            <a:r>
              <a:rPr lang="en-US" b="1">
                <a:latin typeface="Arial" panose="020B0604020202020204" pitchFamily="34" charset="0"/>
              </a:rPr>
              <a:t>NuVista Energy Ltd.</a:t>
            </a:r>
            <a:endParaRPr lang="en-US" dirty="0">
              <a:latin typeface="Arial" panose="020B0604020202020204" pitchFamily="34" charset="0"/>
            </a:endParaRPr>
          </a:p>
        </p:txBody>
      </p:sp>
      <p:sp>
        <p:nvSpPr>
          <p:cNvPr id="7" name="Slide Number Placeholder 6">
            <a:extLst>
              <a:ext uri="{FF2B5EF4-FFF2-40B4-BE49-F238E27FC236}">
                <a16:creationId xmlns:a16="http://schemas.microsoft.com/office/drawing/2014/main" id="{1609073A-5D84-2599-B0B8-0D6FA9838EC6}"/>
              </a:ext>
            </a:extLst>
          </p:cNvPr>
          <p:cNvSpPr>
            <a:spLocks noGrp="1"/>
          </p:cNvSpPr>
          <p:nvPr>
            <p:ph type="sldNum" sz="quarter" idx="4"/>
          </p:nvPr>
        </p:nvSpPr>
        <p:spPr/>
        <p:txBody>
          <a:bodyPr/>
          <a:lstStyle/>
          <a:p>
            <a:fld id="{D246DD65-7063-5C41-96CC-23CB1F95FA91}" type="slidenum">
              <a:rPr lang="en-US" smtClean="0"/>
              <a:pPr/>
              <a:t>4</a:t>
            </a:fld>
            <a:endParaRPr lang="en-US" dirty="0"/>
          </a:p>
        </p:txBody>
      </p:sp>
      <p:sp>
        <p:nvSpPr>
          <p:cNvPr id="14" name="Text Placeholder 3">
            <a:extLst>
              <a:ext uri="{FF2B5EF4-FFF2-40B4-BE49-F238E27FC236}">
                <a16:creationId xmlns:a16="http://schemas.microsoft.com/office/drawing/2014/main" id="{EF724609-A91C-F38B-C5BF-EA0B4F702027}"/>
              </a:ext>
            </a:extLst>
          </p:cNvPr>
          <p:cNvSpPr txBox="1">
            <a:spLocks/>
          </p:cNvSpPr>
          <p:nvPr/>
        </p:nvSpPr>
        <p:spPr>
          <a:xfrm>
            <a:off x="838196" y="1170229"/>
            <a:ext cx="10984995" cy="273428"/>
          </a:xfrm>
          <a:prstGeom prst="rect">
            <a:avLst/>
          </a:prstGeom>
        </p:spPr>
        <p:txBody>
          <a:bodyPr vert="horz" lIns="0" tIns="0" rIns="0" bIns="0" rtlCol="0">
            <a:noAutofit/>
          </a:bodyPr>
          <a:lstStyle>
            <a:lvl1pPr marL="0" indent="0" algn="l" defTabSz="914400" rtl="0" eaLnBrk="1" latinLnBrk="0" hangingPunct="1">
              <a:lnSpc>
                <a:spcPct val="90000"/>
              </a:lnSpc>
              <a:spcBef>
                <a:spcPts val="1000"/>
              </a:spcBef>
              <a:buFont typeface="Arial" panose="020B0604020202020204" pitchFamily="34" charset="0"/>
              <a:buNone/>
              <a:defRPr sz="1800" b="0" i="0" kern="1200">
                <a:solidFill>
                  <a:schemeClr val="tx1"/>
                </a:solidFill>
                <a:latin typeface="Arial" panose="020B0604020202020204" pitchFamily="34" charset="0"/>
                <a:ea typeface="Roboto Medium" panose="02000000000000000000" pitchFamily="2" charset="0"/>
                <a:cs typeface="+mn-cs"/>
              </a:defRPr>
            </a:lvl1pPr>
            <a:lvl2pPr marL="182563" indent="-173038" algn="l" defTabSz="914400" rtl="0" eaLnBrk="1" latinLnBrk="0" hangingPunct="1">
              <a:lnSpc>
                <a:spcPct val="90000"/>
              </a:lnSpc>
              <a:spcBef>
                <a:spcPts val="500"/>
              </a:spcBef>
              <a:buClr>
                <a:schemeClr val="accent1"/>
              </a:buClr>
              <a:buFont typeface="Arial" panose="020B0604020202020204" pitchFamily="34" charset="0"/>
              <a:buChar char="•"/>
              <a:tabLst/>
              <a:defRPr sz="1600" b="0" i="0" kern="1200">
                <a:solidFill>
                  <a:schemeClr val="tx1"/>
                </a:solidFill>
                <a:latin typeface="Arial" panose="020B0604020202020204" pitchFamily="34" charset="0"/>
                <a:ea typeface="Roboto" panose="02000000000000000000" pitchFamily="2" charset="0"/>
                <a:cs typeface="+mn-cs"/>
              </a:defRPr>
            </a:lvl2pPr>
            <a:lvl3pPr marL="365125" indent="-142875" algn="l" defTabSz="914400" rtl="0" eaLnBrk="1" latinLnBrk="0" hangingPunct="1">
              <a:lnSpc>
                <a:spcPct val="90000"/>
              </a:lnSpc>
              <a:spcBef>
                <a:spcPts val="500"/>
              </a:spcBef>
              <a:buClr>
                <a:schemeClr val="accent1"/>
              </a:buClr>
              <a:buFont typeface="Arial" panose="020B0604020202020204" pitchFamily="34" charset="0"/>
              <a:buChar char="•"/>
              <a:tabLst/>
              <a:defRPr sz="1600" b="0" i="0" kern="1200">
                <a:solidFill>
                  <a:schemeClr val="tx1"/>
                </a:solidFill>
                <a:latin typeface="Arial" panose="020B0604020202020204" pitchFamily="34" charset="0"/>
                <a:ea typeface="Roboto" panose="02000000000000000000" pitchFamily="2" charset="0"/>
                <a:cs typeface="+mn-cs"/>
              </a:defRPr>
            </a:lvl3pPr>
            <a:lvl4pPr marL="538163" indent="-131763" algn="l" defTabSz="914400" rtl="0" eaLnBrk="1" latinLnBrk="0" hangingPunct="1">
              <a:lnSpc>
                <a:spcPct val="90000"/>
              </a:lnSpc>
              <a:spcBef>
                <a:spcPts val="500"/>
              </a:spcBef>
              <a:buClr>
                <a:schemeClr val="accent1"/>
              </a:buClr>
              <a:buFont typeface="Arial" panose="020B0604020202020204" pitchFamily="34" charset="0"/>
              <a:buChar char="•"/>
              <a:tabLst/>
              <a:defRPr sz="1600" b="0" i="0" kern="1200">
                <a:solidFill>
                  <a:schemeClr val="tx1"/>
                </a:solidFill>
                <a:latin typeface="Arial" panose="020B0604020202020204" pitchFamily="34" charset="0"/>
                <a:ea typeface="Roboto" panose="02000000000000000000" pitchFamily="2" charset="0"/>
                <a:cs typeface="+mn-cs"/>
              </a:defRPr>
            </a:lvl4pPr>
            <a:lvl5pPr marL="720725" indent="-142875" algn="l" defTabSz="914400" rtl="0" eaLnBrk="1" latinLnBrk="0" hangingPunct="1">
              <a:lnSpc>
                <a:spcPct val="90000"/>
              </a:lnSpc>
              <a:spcBef>
                <a:spcPts val="500"/>
              </a:spcBef>
              <a:buClr>
                <a:schemeClr val="accent1"/>
              </a:buClr>
              <a:buFont typeface="Arial" panose="020B0604020202020204" pitchFamily="34" charset="0"/>
              <a:buChar char="•"/>
              <a:tabLst/>
              <a:defRPr sz="1600" b="0" i="0" kern="1200">
                <a:solidFill>
                  <a:schemeClr val="tx1"/>
                </a:solidFill>
                <a:latin typeface="Arial" panose="020B0604020202020204" pitchFamily="34" charset="0"/>
                <a:ea typeface="Roboto" panose="02000000000000000000"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Code calculates the completable length for all wells in the raw shapefile in a single pass, identifying precise locations of the toe and heel utilizing geometric math. Removing the time-consuming measuring process.</a:t>
            </a:r>
          </a:p>
        </p:txBody>
      </p:sp>
      <p:sp>
        <p:nvSpPr>
          <p:cNvPr id="15" name="TextBox 14">
            <a:extLst>
              <a:ext uri="{FF2B5EF4-FFF2-40B4-BE49-F238E27FC236}">
                <a16:creationId xmlns:a16="http://schemas.microsoft.com/office/drawing/2014/main" id="{52D0A875-8DE5-DB44-853E-94ED8B9BFD63}"/>
              </a:ext>
            </a:extLst>
          </p:cNvPr>
          <p:cNvSpPr txBox="1"/>
          <p:nvPr/>
        </p:nvSpPr>
        <p:spPr>
          <a:xfrm>
            <a:off x="3539020" y="5307465"/>
            <a:ext cx="3918361" cy="1323439"/>
          </a:xfrm>
          <a:prstGeom prst="rect">
            <a:avLst/>
          </a:prstGeom>
          <a:solidFill>
            <a:schemeClr val="bg2"/>
          </a:solidFill>
          <a:ln>
            <a:solidFill>
              <a:schemeClr val="tx1">
                <a:lumMod val="40000"/>
                <a:lumOff val="60000"/>
              </a:schemeClr>
            </a:solidFill>
          </a:ln>
        </p:spPr>
        <p:txBody>
          <a:bodyPr wrap="square" rtlCol="0">
            <a:spAutoFit/>
          </a:bodyPr>
          <a:lstStyle/>
          <a:p>
            <a:pPr algn="ctr">
              <a:spcAft>
                <a:spcPts val="1200"/>
              </a:spcAft>
            </a:pPr>
            <a:r>
              <a:rPr lang="en-US" sz="1400" b="1" dirty="0"/>
              <a:t>Conclusion:  </a:t>
            </a:r>
            <a:r>
              <a:rPr lang="en-US" sz="1400" dirty="0"/>
              <a:t>Algorithm increases precision in planning by providing well-specific measurements for an entire field, in a matter of a seconds. </a:t>
            </a:r>
          </a:p>
          <a:p>
            <a:pPr algn="ctr">
              <a:spcAft>
                <a:spcPts val="1200"/>
              </a:spcAft>
            </a:pPr>
            <a:r>
              <a:rPr lang="en-US" sz="1400" b="1" dirty="0"/>
              <a:t>Code can compute </a:t>
            </a:r>
            <a:r>
              <a:rPr lang="en-US" sz="1400" b="1" dirty="0">
                <a:solidFill>
                  <a:srgbClr val="00B050"/>
                </a:solidFill>
              </a:rPr>
              <a:t>~25</a:t>
            </a:r>
            <a:r>
              <a:rPr lang="en-US" sz="1400" b="1" dirty="0"/>
              <a:t> wells/second.</a:t>
            </a:r>
            <a:endParaRPr lang="en-US" sz="2400" b="1" dirty="0"/>
          </a:p>
        </p:txBody>
      </p:sp>
      <p:pic>
        <p:nvPicPr>
          <p:cNvPr id="23" name="Picture 22">
            <a:extLst>
              <a:ext uri="{FF2B5EF4-FFF2-40B4-BE49-F238E27FC236}">
                <a16:creationId xmlns:a16="http://schemas.microsoft.com/office/drawing/2014/main" id="{F144D43C-47A9-C99A-C5F1-97E784B2F330}"/>
              </a:ext>
            </a:extLst>
          </p:cNvPr>
          <p:cNvPicPr>
            <a:picLocks noChangeAspect="1"/>
          </p:cNvPicPr>
          <p:nvPr/>
        </p:nvPicPr>
        <p:blipFill>
          <a:blip r:embed="rId2"/>
          <a:stretch>
            <a:fillRect/>
          </a:stretch>
        </p:blipFill>
        <p:spPr>
          <a:xfrm>
            <a:off x="282267" y="2169064"/>
            <a:ext cx="2487393" cy="3426847"/>
          </a:xfrm>
          <a:prstGeom prst="rect">
            <a:avLst/>
          </a:prstGeom>
          <a:solidFill>
            <a:srgbClr val="FDFDFD"/>
          </a:solidFill>
          <a:ln>
            <a:solidFill>
              <a:schemeClr val="dk1"/>
            </a:solidFill>
          </a:ln>
        </p:spPr>
      </p:pic>
      <p:pic>
        <p:nvPicPr>
          <p:cNvPr id="25" name="Picture 24">
            <a:extLst>
              <a:ext uri="{FF2B5EF4-FFF2-40B4-BE49-F238E27FC236}">
                <a16:creationId xmlns:a16="http://schemas.microsoft.com/office/drawing/2014/main" id="{6A827674-E062-A08F-4220-794A6D3B4877}"/>
              </a:ext>
            </a:extLst>
          </p:cNvPr>
          <p:cNvPicPr>
            <a:picLocks noChangeAspect="1"/>
          </p:cNvPicPr>
          <p:nvPr/>
        </p:nvPicPr>
        <p:blipFill>
          <a:blip r:embed="rId3"/>
          <a:stretch>
            <a:fillRect/>
          </a:stretch>
        </p:blipFill>
        <p:spPr>
          <a:xfrm>
            <a:off x="7999444" y="2286636"/>
            <a:ext cx="2552689" cy="3527390"/>
          </a:xfrm>
          <a:prstGeom prst="rect">
            <a:avLst/>
          </a:prstGeom>
          <a:solidFill>
            <a:srgbClr val="FDFDFD"/>
          </a:solidFill>
          <a:ln>
            <a:solidFill>
              <a:schemeClr val="dk1"/>
            </a:solidFill>
          </a:ln>
        </p:spPr>
      </p:pic>
      <p:pic>
        <p:nvPicPr>
          <p:cNvPr id="27" name="Picture 26">
            <a:extLst>
              <a:ext uri="{FF2B5EF4-FFF2-40B4-BE49-F238E27FC236}">
                <a16:creationId xmlns:a16="http://schemas.microsoft.com/office/drawing/2014/main" id="{4E5A4CC6-D0D0-DBDB-3BA2-F15E752CAA13}"/>
              </a:ext>
            </a:extLst>
          </p:cNvPr>
          <p:cNvPicPr>
            <a:picLocks noChangeAspect="1"/>
          </p:cNvPicPr>
          <p:nvPr/>
        </p:nvPicPr>
        <p:blipFill>
          <a:blip r:embed="rId4"/>
          <a:stretch>
            <a:fillRect/>
          </a:stretch>
        </p:blipFill>
        <p:spPr>
          <a:xfrm>
            <a:off x="4169865" y="2286636"/>
            <a:ext cx="1860184" cy="2377440"/>
          </a:xfrm>
          <a:prstGeom prst="rect">
            <a:avLst/>
          </a:prstGeom>
          <a:ln>
            <a:solidFill>
              <a:schemeClr val="dk1"/>
            </a:solidFill>
          </a:ln>
        </p:spPr>
      </p:pic>
      <p:pic>
        <p:nvPicPr>
          <p:cNvPr id="29" name="Picture 28">
            <a:extLst>
              <a:ext uri="{FF2B5EF4-FFF2-40B4-BE49-F238E27FC236}">
                <a16:creationId xmlns:a16="http://schemas.microsoft.com/office/drawing/2014/main" id="{471D4CC4-C8AE-0652-6C80-2BBF09174F1D}"/>
              </a:ext>
            </a:extLst>
          </p:cNvPr>
          <p:cNvPicPr>
            <a:picLocks noChangeAspect="1"/>
          </p:cNvPicPr>
          <p:nvPr/>
        </p:nvPicPr>
        <p:blipFill>
          <a:blip r:embed="rId5"/>
          <a:stretch>
            <a:fillRect/>
          </a:stretch>
        </p:blipFill>
        <p:spPr>
          <a:xfrm>
            <a:off x="4389043" y="2603355"/>
            <a:ext cx="1772910" cy="2190578"/>
          </a:xfrm>
          <a:prstGeom prst="rect">
            <a:avLst/>
          </a:prstGeom>
          <a:ln>
            <a:solidFill>
              <a:schemeClr val="dk1"/>
            </a:solidFill>
          </a:ln>
        </p:spPr>
      </p:pic>
      <p:pic>
        <p:nvPicPr>
          <p:cNvPr id="31" name="Picture 30">
            <a:extLst>
              <a:ext uri="{FF2B5EF4-FFF2-40B4-BE49-F238E27FC236}">
                <a16:creationId xmlns:a16="http://schemas.microsoft.com/office/drawing/2014/main" id="{0A720F12-8A1C-D97E-A833-F4B9940DB35C}"/>
              </a:ext>
            </a:extLst>
          </p:cNvPr>
          <p:cNvPicPr>
            <a:picLocks noChangeAspect="1"/>
          </p:cNvPicPr>
          <p:nvPr/>
        </p:nvPicPr>
        <p:blipFill>
          <a:blip r:embed="rId6"/>
          <a:stretch>
            <a:fillRect/>
          </a:stretch>
        </p:blipFill>
        <p:spPr>
          <a:xfrm>
            <a:off x="4655519" y="2927626"/>
            <a:ext cx="1933035" cy="2112824"/>
          </a:xfrm>
          <a:prstGeom prst="rect">
            <a:avLst/>
          </a:prstGeom>
          <a:ln>
            <a:solidFill>
              <a:schemeClr val="dk1"/>
            </a:solidFill>
          </a:ln>
        </p:spPr>
      </p:pic>
      <p:sp>
        <p:nvSpPr>
          <p:cNvPr id="34" name="Arrow: Right 33">
            <a:extLst>
              <a:ext uri="{FF2B5EF4-FFF2-40B4-BE49-F238E27FC236}">
                <a16:creationId xmlns:a16="http://schemas.microsoft.com/office/drawing/2014/main" id="{CFF1F9C9-6F27-F388-0E3D-46CCA95F4805}"/>
              </a:ext>
            </a:extLst>
          </p:cNvPr>
          <p:cNvSpPr/>
          <p:nvPr/>
        </p:nvSpPr>
        <p:spPr>
          <a:xfrm>
            <a:off x="2908826" y="3429000"/>
            <a:ext cx="1127801" cy="472440"/>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dirty="0"/>
          </a:p>
        </p:txBody>
      </p:sp>
      <p:sp>
        <p:nvSpPr>
          <p:cNvPr id="35" name="Arrow: Right 34">
            <a:extLst>
              <a:ext uri="{FF2B5EF4-FFF2-40B4-BE49-F238E27FC236}">
                <a16:creationId xmlns:a16="http://schemas.microsoft.com/office/drawing/2014/main" id="{D64DEC54-6635-5242-DAFC-A675D240184D}"/>
              </a:ext>
            </a:extLst>
          </p:cNvPr>
          <p:cNvSpPr/>
          <p:nvPr/>
        </p:nvSpPr>
        <p:spPr>
          <a:xfrm>
            <a:off x="6654800" y="3475356"/>
            <a:ext cx="1254042" cy="472440"/>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dirty="0"/>
          </a:p>
        </p:txBody>
      </p:sp>
      <p:sp>
        <p:nvSpPr>
          <p:cNvPr id="38" name="Rectangle: Rounded Corners 37">
            <a:extLst>
              <a:ext uri="{FF2B5EF4-FFF2-40B4-BE49-F238E27FC236}">
                <a16:creationId xmlns:a16="http://schemas.microsoft.com/office/drawing/2014/main" id="{EBEDE3FE-3293-ACB6-28F0-DCFF6F9ED47C}"/>
              </a:ext>
            </a:extLst>
          </p:cNvPr>
          <p:cNvSpPr/>
          <p:nvPr/>
        </p:nvSpPr>
        <p:spPr>
          <a:xfrm>
            <a:off x="4746121" y="2008781"/>
            <a:ext cx="1560186" cy="509873"/>
          </a:xfrm>
          <a:prstGeom prst="roundRect">
            <a:avLst/>
          </a:prstGeom>
          <a:ln>
            <a:solidFill>
              <a:schemeClr val="bg2">
                <a:lumMod val="10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1200" dirty="0">
                <a:latin typeface="Arial" panose="020B0604020202020204" pitchFamily="34" charset="0"/>
                <a:cs typeface="Arial" panose="020B0604020202020204" pitchFamily="34" charset="0"/>
              </a:rPr>
              <a:t>Python Calculation Algorithm </a:t>
            </a:r>
          </a:p>
        </p:txBody>
      </p:sp>
      <p:sp>
        <p:nvSpPr>
          <p:cNvPr id="39" name="Rectangle: Rounded Corners 38">
            <a:extLst>
              <a:ext uri="{FF2B5EF4-FFF2-40B4-BE49-F238E27FC236}">
                <a16:creationId xmlns:a16="http://schemas.microsoft.com/office/drawing/2014/main" id="{B315E4C8-C2BA-7271-C4E8-5C15749547AC}"/>
              </a:ext>
            </a:extLst>
          </p:cNvPr>
          <p:cNvSpPr/>
          <p:nvPr/>
        </p:nvSpPr>
        <p:spPr>
          <a:xfrm>
            <a:off x="8495695" y="1967046"/>
            <a:ext cx="1560186" cy="509873"/>
          </a:xfrm>
          <a:prstGeom prst="roundRect">
            <a:avLst/>
          </a:prstGeom>
          <a:ln>
            <a:solidFill>
              <a:schemeClr val="bg2">
                <a:lumMod val="10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1200" dirty="0">
                <a:latin typeface="Arial" panose="020B0604020202020204" pitchFamily="34" charset="0"/>
                <a:cs typeface="Arial" panose="020B0604020202020204" pitchFamily="34" charset="0"/>
              </a:rPr>
              <a:t>Completable Length Shapefile &amp; Excel Sheet</a:t>
            </a:r>
          </a:p>
        </p:txBody>
      </p:sp>
      <p:sp>
        <p:nvSpPr>
          <p:cNvPr id="40" name="Rectangle: Rounded Corners 39">
            <a:extLst>
              <a:ext uri="{FF2B5EF4-FFF2-40B4-BE49-F238E27FC236}">
                <a16:creationId xmlns:a16="http://schemas.microsoft.com/office/drawing/2014/main" id="{B5F99F43-5DDB-D3FE-F7D1-9677D8499C3F}"/>
              </a:ext>
            </a:extLst>
          </p:cNvPr>
          <p:cNvSpPr/>
          <p:nvPr/>
        </p:nvSpPr>
        <p:spPr>
          <a:xfrm>
            <a:off x="745870" y="1955044"/>
            <a:ext cx="1560186" cy="403167"/>
          </a:xfrm>
          <a:prstGeom prst="roundRect">
            <a:avLst/>
          </a:prstGeom>
          <a:ln>
            <a:solidFill>
              <a:schemeClr val="bg2">
                <a:lumMod val="10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1200" dirty="0">
                <a:latin typeface="Arial" panose="020B0604020202020204" pitchFamily="34" charset="0"/>
                <a:cs typeface="Arial" panose="020B0604020202020204" pitchFamily="34" charset="0"/>
              </a:rPr>
              <a:t>Raw FDP Shapefile</a:t>
            </a:r>
          </a:p>
        </p:txBody>
      </p:sp>
      <p:sp>
        <p:nvSpPr>
          <p:cNvPr id="64" name="Rectangle: Rounded Corners 63">
            <a:extLst>
              <a:ext uri="{FF2B5EF4-FFF2-40B4-BE49-F238E27FC236}">
                <a16:creationId xmlns:a16="http://schemas.microsoft.com/office/drawing/2014/main" id="{CC590FC7-6E40-1E68-6B8E-984C0F5762D2}"/>
              </a:ext>
            </a:extLst>
          </p:cNvPr>
          <p:cNvSpPr/>
          <p:nvPr/>
        </p:nvSpPr>
        <p:spPr>
          <a:xfrm>
            <a:off x="6699255" y="75846"/>
            <a:ext cx="697225" cy="376415"/>
          </a:xfrm>
          <a:prstGeom prst="roundRect">
            <a:avLst/>
          </a:prstGeom>
          <a:ln>
            <a:solidFill>
              <a:schemeClr val="bg2">
                <a:lumMod val="10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900" dirty="0">
                <a:latin typeface="Arial" panose="020B0604020202020204" pitchFamily="34" charset="0"/>
                <a:cs typeface="Arial" panose="020B0604020202020204" pitchFamily="34" charset="0"/>
              </a:rPr>
              <a:t>FDP Shapefile</a:t>
            </a:r>
          </a:p>
        </p:txBody>
      </p:sp>
      <p:sp>
        <p:nvSpPr>
          <p:cNvPr id="65" name="Rectangle: Rounded Corners 64">
            <a:extLst>
              <a:ext uri="{FF2B5EF4-FFF2-40B4-BE49-F238E27FC236}">
                <a16:creationId xmlns:a16="http://schemas.microsoft.com/office/drawing/2014/main" id="{6B50ECAA-86C7-F1DD-27A3-D763CE10EABA}"/>
              </a:ext>
            </a:extLst>
          </p:cNvPr>
          <p:cNvSpPr/>
          <p:nvPr/>
        </p:nvSpPr>
        <p:spPr>
          <a:xfrm>
            <a:off x="7612089" y="75846"/>
            <a:ext cx="938159" cy="376415"/>
          </a:xfrm>
          <a:prstGeom prst="roundRect">
            <a:avLst/>
          </a:prstGeom>
          <a:ln w="28575">
            <a:solidFill>
              <a:srgbClr val="00B05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900" b="1" dirty="0">
                <a:latin typeface="Arial" panose="020B0604020202020204" pitchFamily="34" charset="0"/>
                <a:cs typeface="Arial" panose="020B0604020202020204" pitchFamily="34" charset="0"/>
              </a:rPr>
              <a:t>Calculation Code</a:t>
            </a:r>
          </a:p>
        </p:txBody>
      </p:sp>
      <p:sp>
        <p:nvSpPr>
          <p:cNvPr id="66" name="Rectangle: Rounded Corners 65">
            <a:extLst>
              <a:ext uri="{FF2B5EF4-FFF2-40B4-BE49-F238E27FC236}">
                <a16:creationId xmlns:a16="http://schemas.microsoft.com/office/drawing/2014/main" id="{E6AEC9C7-BFAF-7265-4F39-B71A9BEFF13E}"/>
              </a:ext>
            </a:extLst>
          </p:cNvPr>
          <p:cNvSpPr/>
          <p:nvPr/>
        </p:nvSpPr>
        <p:spPr>
          <a:xfrm>
            <a:off x="8750540" y="71429"/>
            <a:ext cx="938159" cy="376415"/>
          </a:xfrm>
          <a:prstGeom prst="roundRect">
            <a:avLst/>
          </a:prstGeom>
          <a:ln>
            <a:solidFill>
              <a:schemeClr val="bg2">
                <a:lumMod val="10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900" dirty="0">
                <a:latin typeface="Arial" panose="020B0604020202020204" pitchFamily="34" charset="0"/>
                <a:cs typeface="Arial" panose="020B0604020202020204" pitchFamily="34" charset="0"/>
              </a:rPr>
              <a:t>Auto-name Code</a:t>
            </a:r>
          </a:p>
        </p:txBody>
      </p:sp>
      <p:sp>
        <p:nvSpPr>
          <p:cNvPr id="67" name="Rectangle: Rounded Corners 66">
            <a:extLst>
              <a:ext uri="{FF2B5EF4-FFF2-40B4-BE49-F238E27FC236}">
                <a16:creationId xmlns:a16="http://schemas.microsoft.com/office/drawing/2014/main" id="{0F88EE0E-54EF-C7B0-E51F-C746DE12C3DE}"/>
              </a:ext>
            </a:extLst>
          </p:cNvPr>
          <p:cNvSpPr/>
          <p:nvPr/>
        </p:nvSpPr>
        <p:spPr>
          <a:xfrm>
            <a:off x="9888991" y="66715"/>
            <a:ext cx="938159" cy="376415"/>
          </a:xfrm>
          <a:prstGeom prst="roundRect">
            <a:avLst/>
          </a:prstGeom>
          <a:ln>
            <a:solidFill>
              <a:schemeClr val="bg2">
                <a:lumMod val="10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900" dirty="0">
                <a:latin typeface="Arial" panose="020B0604020202020204" pitchFamily="34" charset="0"/>
                <a:cs typeface="Arial" panose="020B0604020202020204" pitchFamily="34" charset="0"/>
              </a:rPr>
              <a:t>Dynamic Dashboard</a:t>
            </a:r>
          </a:p>
        </p:txBody>
      </p:sp>
      <p:sp>
        <p:nvSpPr>
          <p:cNvPr id="68" name="Rectangle: Rounded Corners 67">
            <a:extLst>
              <a:ext uri="{FF2B5EF4-FFF2-40B4-BE49-F238E27FC236}">
                <a16:creationId xmlns:a16="http://schemas.microsoft.com/office/drawing/2014/main" id="{51826E92-A905-430A-E419-B25A4D415C31}"/>
              </a:ext>
            </a:extLst>
          </p:cNvPr>
          <p:cNvSpPr/>
          <p:nvPr/>
        </p:nvSpPr>
        <p:spPr>
          <a:xfrm>
            <a:off x="11084645" y="68407"/>
            <a:ext cx="938159" cy="376415"/>
          </a:xfrm>
          <a:prstGeom prst="roundRect">
            <a:avLst/>
          </a:prstGeom>
          <a:ln>
            <a:solidFill>
              <a:schemeClr val="bg2">
                <a:lumMod val="10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900" dirty="0">
                <a:latin typeface="Arial" panose="020B0604020202020204" pitchFamily="34" charset="0"/>
                <a:cs typeface="Arial" panose="020B0604020202020204" pitchFamily="34" charset="0"/>
              </a:rPr>
              <a:t>Ready for Evaluation</a:t>
            </a:r>
          </a:p>
        </p:txBody>
      </p:sp>
      <p:cxnSp>
        <p:nvCxnSpPr>
          <p:cNvPr id="70" name="Straight Arrow Connector 69">
            <a:extLst>
              <a:ext uri="{FF2B5EF4-FFF2-40B4-BE49-F238E27FC236}">
                <a16:creationId xmlns:a16="http://schemas.microsoft.com/office/drawing/2014/main" id="{00AE37F6-3A28-CF05-493F-DDC23C2F0EF3}"/>
              </a:ext>
            </a:extLst>
          </p:cNvPr>
          <p:cNvCxnSpPr>
            <a:stCxn id="64" idx="3"/>
            <a:endCxn id="65" idx="1"/>
          </p:cNvCxnSpPr>
          <p:nvPr/>
        </p:nvCxnSpPr>
        <p:spPr>
          <a:xfrm>
            <a:off x="7396480" y="264054"/>
            <a:ext cx="21560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1" name="Straight Arrow Connector 70">
            <a:extLst>
              <a:ext uri="{FF2B5EF4-FFF2-40B4-BE49-F238E27FC236}">
                <a16:creationId xmlns:a16="http://schemas.microsoft.com/office/drawing/2014/main" id="{E6ED5371-856D-E720-7838-40A925A898AE}"/>
              </a:ext>
            </a:extLst>
          </p:cNvPr>
          <p:cNvCxnSpPr>
            <a:cxnSpLocks/>
            <a:stCxn id="65" idx="3"/>
            <a:endCxn id="66" idx="1"/>
          </p:cNvCxnSpPr>
          <p:nvPr/>
        </p:nvCxnSpPr>
        <p:spPr>
          <a:xfrm flipV="1">
            <a:off x="8550248" y="259637"/>
            <a:ext cx="200292" cy="441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4" name="Straight Arrow Connector 73">
            <a:extLst>
              <a:ext uri="{FF2B5EF4-FFF2-40B4-BE49-F238E27FC236}">
                <a16:creationId xmlns:a16="http://schemas.microsoft.com/office/drawing/2014/main" id="{7DC32CDC-4A66-E0FA-A99F-84D21F36774D}"/>
              </a:ext>
            </a:extLst>
          </p:cNvPr>
          <p:cNvCxnSpPr>
            <a:cxnSpLocks/>
            <a:stCxn id="66" idx="3"/>
            <a:endCxn id="67" idx="1"/>
          </p:cNvCxnSpPr>
          <p:nvPr/>
        </p:nvCxnSpPr>
        <p:spPr>
          <a:xfrm flipV="1">
            <a:off x="9688699" y="254923"/>
            <a:ext cx="200292" cy="47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7" name="Straight Arrow Connector 76">
            <a:extLst>
              <a:ext uri="{FF2B5EF4-FFF2-40B4-BE49-F238E27FC236}">
                <a16:creationId xmlns:a16="http://schemas.microsoft.com/office/drawing/2014/main" id="{A47C4FC6-52C2-577D-AA22-16442F2355BB}"/>
              </a:ext>
            </a:extLst>
          </p:cNvPr>
          <p:cNvCxnSpPr>
            <a:cxnSpLocks/>
            <a:stCxn id="67" idx="3"/>
            <a:endCxn id="68" idx="1"/>
          </p:cNvCxnSpPr>
          <p:nvPr/>
        </p:nvCxnSpPr>
        <p:spPr>
          <a:xfrm>
            <a:off x="10827150" y="254923"/>
            <a:ext cx="257495" cy="169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0" name="TextBox 79">
            <a:extLst>
              <a:ext uri="{FF2B5EF4-FFF2-40B4-BE49-F238E27FC236}">
                <a16:creationId xmlns:a16="http://schemas.microsoft.com/office/drawing/2014/main" id="{7021027A-0876-DF44-21E6-893800907F4A}"/>
              </a:ext>
            </a:extLst>
          </p:cNvPr>
          <p:cNvSpPr txBox="1"/>
          <p:nvPr/>
        </p:nvSpPr>
        <p:spPr>
          <a:xfrm>
            <a:off x="3087134" y="3217787"/>
            <a:ext cx="1139174" cy="338554"/>
          </a:xfrm>
          <a:prstGeom prst="rect">
            <a:avLst/>
          </a:prstGeom>
          <a:noFill/>
        </p:spPr>
        <p:txBody>
          <a:bodyPr wrap="square" rtlCol="0">
            <a:spAutoFit/>
          </a:bodyPr>
          <a:lstStyle/>
          <a:p>
            <a:r>
              <a:rPr lang="en-US" sz="1600" b="1" dirty="0"/>
              <a:t>Input</a:t>
            </a:r>
          </a:p>
        </p:txBody>
      </p:sp>
      <p:sp>
        <p:nvSpPr>
          <p:cNvPr id="81" name="TextBox 80">
            <a:extLst>
              <a:ext uri="{FF2B5EF4-FFF2-40B4-BE49-F238E27FC236}">
                <a16:creationId xmlns:a16="http://schemas.microsoft.com/office/drawing/2014/main" id="{BA59E4F1-5FB4-F74B-EEB2-C06D1C713BFE}"/>
              </a:ext>
            </a:extLst>
          </p:cNvPr>
          <p:cNvSpPr txBox="1"/>
          <p:nvPr/>
        </p:nvSpPr>
        <p:spPr>
          <a:xfrm>
            <a:off x="6901572" y="3259723"/>
            <a:ext cx="1139174" cy="338554"/>
          </a:xfrm>
          <a:prstGeom prst="rect">
            <a:avLst/>
          </a:prstGeom>
          <a:noFill/>
        </p:spPr>
        <p:txBody>
          <a:bodyPr wrap="square" rtlCol="0">
            <a:spAutoFit/>
          </a:bodyPr>
          <a:lstStyle/>
          <a:p>
            <a:r>
              <a:rPr lang="en-US" sz="1600" b="1" dirty="0"/>
              <a:t>Output</a:t>
            </a:r>
          </a:p>
        </p:txBody>
      </p:sp>
      <p:sp>
        <p:nvSpPr>
          <p:cNvPr id="84" name="Callout: Bent Line with Accent Bar 83">
            <a:extLst>
              <a:ext uri="{FF2B5EF4-FFF2-40B4-BE49-F238E27FC236}">
                <a16:creationId xmlns:a16="http://schemas.microsoft.com/office/drawing/2014/main" id="{760026E8-9F5F-32C2-BC3E-103F4913F150}"/>
              </a:ext>
            </a:extLst>
          </p:cNvPr>
          <p:cNvSpPr/>
          <p:nvPr/>
        </p:nvSpPr>
        <p:spPr>
          <a:xfrm>
            <a:off x="10769468" y="3080450"/>
            <a:ext cx="868677" cy="697099"/>
          </a:xfrm>
          <a:prstGeom prst="accentCallout2">
            <a:avLst>
              <a:gd name="adj1" fmla="val 18750"/>
              <a:gd name="adj2" fmla="val -8333"/>
              <a:gd name="adj3" fmla="val 18750"/>
              <a:gd name="adj4" fmla="val -16667"/>
              <a:gd name="adj5" fmla="val 113958"/>
              <a:gd name="adj6" fmla="val -35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3" name="Picture 82">
            <a:extLst>
              <a:ext uri="{FF2B5EF4-FFF2-40B4-BE49-F238E27FC236}">
                <a16:creationId xmlns:a16="http://schemas.microsoft.com/office/drawing/2014/main" id="{2EB53661-51AF-3CC0-F5DA-92C96185D375}"/>
              </a:ext>
            </a:extLst>
          </p:cNvPr>
          <p:cNvPicPr>
            <a:picLocks noChangeAspect="1"/>
          </p:cNvPicPr>
          <p:nvPr/>
        </p:nvPicPr>
        <p:blipFill>
          <a:blip r:embed="rId7"/>
          <a:stretch>
            <a:fillRect/>
          </a:stretch>
        </p:blipFill>
        <p:spPr>
          <a:xfrm>
            <a:off x="10741068" y="2715785"/>
            <a:ext cx="1430477" cy="1319551"/>
          </a:xfrm>
          <a:prstGeom prst="rect">
            <a:avLst/>
          </a:prstGeom>
          <a:ln>
            <a:solidFill>
              <a:schemeClr val="dk1"/>
            </a:solidFill>
          </a:ln>
        </p:spPr>
      </p:pic>
      <p:sp>
        <p:nvSpPr>
          <p:cNvPr id="85" name="TextBox 84">
            <a:extLst>
              <a:ext uri="{FF2B5EF4-FFF2-40B4-BE49-F238E27FC236}">
                <a16:creationId xmlns:a16="http://schemas.microsoft.com/office/drawing/2014/main" id="{D900294E-F4CC-8DE5-FBD2-C8EA357C0C79}"/>
              </a:ext>
            </a:extLst>
          </p:cNvPr>
          <p:cNvSpPr txBox="1"/>
          <p:nvPr/>
        </p:nvSpPr>
        <p:spPr>
          <a:xfrm>
            <a:off x="10683994" y="3619006"/>
            <a:ext cx="1151677" cy="430887"/>
          </a:xfrm>
          <a:prstGeom prst="rect">
            <a:avLst/>
          </a:prstGeom>
          <a:noFill/>
        </p:spPr>
        <p:txBody>
          <a:bodyPr wrap="square" rtlCol="0">
            <a:spAutoFit/>
          </a:bodyPr>
          <a:lstStyle/>
          <a:p>
            <a:r>
              <a:rPr lang="en-US" sz="1100" b="1" dirty="0"/>
              <a:t>Red overlay is completable </a:t>
            </a:r>
          </a:p>
        </p:txBody>
      </p:sp>
      <p:pic>
        <p:nvPicPr>
          <p:cNvPr id="12" name="Picture 11">
            <a:extLst>
              <a:ext uri="{FF2B5EF4-FFF2-40B4-BE49-F238E27FC236}">
                <a16:creationId xmlns:a16="http://schemas.microsoft.com/office/drawing/2014/main" id="{09EC3FFC-91BE-AFCE-B9B2-C180412B96D0}"/>
              </a:ext>
            </a:extLst>
          </p:cNvPr>
          <p:cNvPicPr>
            <a:picLocks noChangeAspect="1"/>
          </p:cNvPicPr>
          <p:nvPr/>
        </p:nvPicPr>
        <p:blipFill>
          <a:blip r:embed="rId8"/>
          <a:stretch>
            <a:fillRect/>
          </a:stretch>
        </p:blipFill>
        <p:spPr>
          <a:xfrm>
            <a:off x="10741068" y="4053303"/>
            <a:ext cx="1450932" cy="262802"/>
          </a:xfrm>
          <a:prstGeom prst="rect">
            <a:avLst/>
          </a:prstGeom>
        </p:spPr>
      </p:pic>
      <p:sp>
        <p:nvSpPr>
          <p:cNvPr id="13" name="Speech Bubble: Rectangle 12">
            <a:extLst>
              <a:ext uri="{FF2B5EF4-FFF2-40B4-BE49-F238E27FC236}">
                <a16:creationId xmlns:a16="http://schemas.microsoft.com/office/drawing/2014/main" id="{AAF7CFB4-8A22-D3CB-298E-D5860696E869}"/>
              </a:ext>
            </a:extLst>
          </p:cNvPr>
          <p:cNvSpPr/>
          <p:nvPr/>
        </p:nvSpPr>
        <p:spPr>
          <a:xfrm>
            <a:off x="10683386" y="4573892"/>
            <a:ext cx="1450932" cy="978450"/>
          </a:xfrm>
          <a:prstGeom prst="wedgeRectCallout">
            <a:avLst>
              <a:gd name="adj1" fmla="val 15220"/>
              <a:gd name="adj2" fmla="val -78161"/>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t>Accurate drill/completable lengths help obtain more accurate budget inputs for five year outlook</a:t>
            </a:r>
          </a:p>
        </p:txBody>
      </p:sp>
    </p:spTree>
    <p:extLst>
      <p:ext uri="{BB962C8B-B14F-4D97-AF65-F5344CB8AC3E}">
        <p14:creationId xmlns:p14="http://schemas.microsoft.com/office/powerpoint/2010/main" val="24819820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03330C-866E-E1C1-71B1-F594DABD5C73}"/>
            </a:ext>
          </a:extLst>
        </p:cNvPr>
        <p:cNvGrpSpPr/>
        <p:nvPr/>
      </p:nvGrpSpPr>
      <p:grpSpPr>
        <a:xfrm>
          <a:off x="0" y="0"/>
          <a:ext cx="0" cy="0"/>
          <a:chOff x="0" y="0"/>
          <a:chExt cx="0" cy="0"/>
        </a:xfrm>
      </p:grpSpPr>
      <p:pic>
        <p:nvPicPr>
          <p:cNvPr id="38" name="Picture 37">
            <a:extLst>
              <a:ext uri="{FF2B5EF4-FFF2-40B4-BE49-F238E27FC236}">
                <a16:creationId xmlns:a16="http://schemas.microsoft.com/office/drawing/2014/main" id="{7B083873-CA5C-A2CD-9AA4-5E3A31A5A4A8}"/>
              </a:ext>
            </a:extLst>
          </p:cNvPr>
          <p:cNvPicPr>
            <a:picLocks noChangeAspect="1"/>
          </p:cNvPicPr>
          <p:nvPr/>
        </p:nvPicPr>
        <p:blipFill>
          <a:blip r:embed="rId3"/>
          <a:stretch>
            <a:fillRect/>
          </a:stretch>
        </p:blipFill>
        <p:spPr>
          <a:xfrm>
            <a:off x="7996559" y="3578661"/>
            <a:ext cx="4026245" cy="796901"/>
          </a:xfrm>
          <a:prstGeom prst="rect">
            <a:avLst/>
          </a:prstGeom>
        </p:spPr>
      </p:pic>
      <p:pic>
        <p:nvPicPr>
          <p:cNvPr id="43" name="Picture 42">
            <a:extLst>
              <a:ext uri="{FF2B5EF4-FFF2-40B4-BE49-F238E27FC236}">
                <a16:creationId xmlns:a16="http://schemas.microsoft.com/office/drawing/2014/main" id="{509F794F-F351-B02A-949C-517751429713}"/>
              </a:ext>
            </a:extLst>
          </p:cNvPr>
          <p:cNvPicPr>
            <a:picLocks noChangeAspect="1"/>
          </p:cNvPicPr>
          <p:nvPr/>
        </p:nvPicPr>
        <p:blipFill>
          <a:blip r:embed="rId4"/>
          <a:stretch>
            <a:fillRect/>
          </a:stretch>
        </p:blipFill>
        <p:spPr>
          <a:xfrm>
            <a:off x="539447" y="1981685"/>
            <a:ext cx="3040247" cy="2032156"/>
          </a:xfrm>
          <a:prstGeom prst="rect">
            <a:avLst/>
          </a:prstGeom>
          <a:ln>
            <a:solidFill>
              <a:schemeClr val="dk1"/>
            </a:solidFill>
          </a:ln>
        </p:spPr>
      </p:pic>
      <p:pic>
        <p:nvPicPr>
          <p:cNvPr id="35" name="Picture 34">
            <a:extLst>
              <a:ext uri="{FF2B5EF4-FFF2-40B4-BE49-F238E27FC236}">
                <a16:creationId xmlns:a16="http://schemas.microsoft.com/office/drawing/2014/main" id="{8B105BA8-00F2-89E7-CF7F-04BB64A1E708}"/>
              </a:ext>
            </a:extLst>
          </p:cNvPr>
          <p:cNvPicPr>
            <a:picLocks noChangeAspect="1"/>
          </p:cNvPicPr>
          <p:nvPr/>
        </p:nvPicPr>
        <p:blipFill>
          <a:blip r:embed="rId5"/>
          <a:stretch>
            <a:fillRect/>
          </a:stretch>
        </p:blipFill>
        <p:spPr>
          <a:xfrm>
            <a:off x="4833655" y="2925965"/>
            <a:ext cx="1844595" cy="2071761"/>
          </a:xfrm>
          <a:prstGeom prst="rect">
            <a:avLst/>
          </a:prstGeom>
          <a:ln>
            <a:solidFill>
              <a:schemeClr val="dk1"/>
            </a:solidFill>
          </a:ln>
        </p:spPr>
      </p:pic>
      <p:sp>
        <p:nvSpPr>
          <p:cNvPr id="3" name="Title 2">
            <a:extLst>
              <a:ext uri="{FF2B5EF4-FFF2-40B4-BE49-F238E27FC236}">
                <a16:creationId xmlns:a16="http://schemas.microsoft.com/office/drawing/2014/main" id="{7C6FC96E-BDBC-2950-4E78-27858B52567E}"/>
              </a:ext>
            </a:extLst>
          </p:cNvPr>
          <p:cNvSpPr>
            <a:spLocks noGrp="1"/>
          </p:cNvSpPr>
          <p:nvPr>
            <p:ph type="title"/>
          </p:nvPr>
        </p:nvSpPr>
        <p:spPr/>
        <p:txBody>
          <a:bodyPr/>
          <a:lstStyle/>
          <a:p>
            <a:r>
              <a:rPr lang="en-US" dirty="0"/>
              <a:t>FDP Algorithm: Auto-assignment of UWI &amp; Pad Location</a:t>
            </a:r>
          </a:p>
        </p:txBody>
      </p:sp>
      <p:sp>
        <p:nvSpPr>
          <p:cNvPr id="4" name="Text Placeholder 3">
            <a:extLst>
              <a:ext uri="{FF2B5EF4-FFF2-40B4-BE49-F238E27FC236}">
                <a16:creationId xmlns:a16="http://schemas.microsoft.com/office/drawing/2014/main" id="{E0A8D531-CA44-ABE7-8139-251A0A460F21}"/>
              </a:ext>
            </a:extLst>
          </p:cNvPr>
          <p:cNvSpPr>
            <a:spLocks noGrp="1"/>
          </p:cNvSpPr>
          <p:nvPr>
            <p:ph type="body" sz="quarter" idx="10"/>
          </p:nvPr>
        </p:nvSpPr>
        <p:spPr>
          <a:xfrm>
            <a:off x="838197" y="1175596"/>
            <a:ext cx="10515600" cy="229704"/>
          </a:xfrm>
        </p:spPr>
        <p:txBody>
          <a:bodyPr/>
          <a:lstStyle/>
          <a:p>
            <a:r>
              <a:rPr lang="en-US" dirty="0"/>
              <a:t>After the algorithm identifies the toe point and location of the pad, the code maps each well to their respective sections – removing the repetitive task of naming every well.</a:t>
            </a:r>
          </a:p>
        </p:txBody>
      </p:sp>
      <p:sp>
        <p:nvSpPr>
          <p:cNvPr id="5" name="Text Placeholder 4">
            <a:extLst>
              <a:ext uri="{FF2B5EF4-FFF2-40B4-BE49-F238E27FC236}">
                <a16:creationId xmlns:a16="http://schemas.microsoft.com/office/drawing/2014/main" id="{DC94100F-0053-7F11-F828-BA6621E5E35D}"/>
              </a:ext>
            </a:extLst>
          </p:cNvPr>
          <p:cNvSpPr>
            <a:spLocks noGrp="1"/>
          </p:cNvSpPr>
          <p:nvPr>
            <p:ph type="body" sz="quarter" idx="11"/>
          </p:nvPr>
        </p:nvSpPr>
        <p:spPr/>
        <p:txBody>
          <a:bodyPr/>
          <a:lstStyle/>
          <a:p>
            <a:r>
              <a:rPr lang="en-US" dirty="0"/>
              <a:t>2 - FDP Algorithm 1</a:t>
            </a:r>
            <a:r>
              <a:rPr lang="en-US" baseline="30000" dirty="0"/>
              <a:t>st</a:t>
            </a:r>
            <a:r>
              <a:rPr lang="en-US" dirty="0"/>
              <a:t> Component</a:t>
            </a:r>
          </a:p>
        </p:txBody>
      </p:sp>
      <p:sp>
        <p:nvSpPr>
          <p:cNvPr id="6" name="Footer Placeholder 5">
            <a:extLst>
              <a:ext uri="{FF2B5EF4-FFF2-40B4-BE49-F238E27FC236}">
                <a16:creationId xmlns:a16="http://schemas.microsoft.com/office/drawing/2014/main" id="{45CAB3AD-5509-8330-B7E4-240418C396BB}"/>
              </a:ext>
            </a:extLst>
          </p:cNvPr>
          <p:cNvSpPr>
            <a:spLocks noGrp="1"/>
          </p:cNvSpPr>
          <p:nvPr>
            <p:ph type="ftr" sz="quarter" idx="3"/>
          </p:nvPr>
        </p:nvSpPr>
        <p:spPr/>
        <p:txBody>
          <a:bodyPr/>
          <a:lstStyle/>
          <a:p>
            <a:r>
              <a:rPr lang="en-US" b="1">
                <a:latin typeface="Arial" panose="020B0604020202020204" pitchFamily="34" charset="0"/>
              </a:rPr>
              <a:t>NuVista Energy Ltd.</a:t>
            </a:r>
            <a:endParaRPr lang="en-US" dirty="0">
              <a:latin typeface="Arial" panose="020B0604020202020204" pitchFamily="34" charset="0"/>
            </a:endParaRPr>
          </a:p>
        </p:txBody>
      </p:sp>
      <p:sp>
        <p:nvSpPr>
          <p:cNvPr id="7" name="Slide Number Placeholder 6">
            <a:extLst>
              <a:ext uri="{FF2B5EF4-FFF2-40B4-BE49-F238E27FC236}">
                <a16:creationId xmlns:a16="http://schemas.microsoft.com/office/drawing/2014/main" id="{F9A88502-3200-B820-8F28-AB4308BF0785}"/>
              </a:ext>
            </a:extLst>
          </p:cNvPr>
          <p:cNvSpPr>
            <a:spLocks noGrp="1"/>
          </p:cNvSpPr>
          <p:nvPr>
            <p:ph type="sldNum" sz="quarter" idx="4"/>
          </p:nvPr>
        </p:nvSpPr>
        <p:spPr/>
        <p:txBody>
          <a:bodyPr/>
          <a:lstStyle/>
          <a:p>
            <a:fld id="{D246DD65-7063-5C41-96CC-23CB1F95FA91}" type="slidenum">
              <a:rPr lang="en-US" smtClean="0"/>
              <a:pPr/>
              <a:t>5</a:t>
            </a:fld>
            <a:endParaRPr lang="en-US" dirty="0"/>
          </a:p>
        </p:txBody>
      </p:sp>
      <p:pic>
        <p:nvPicPr>
          <p:cNvPr id="11" name="Picture 10">
            <a:extLst>
              <a:ext uri="{FF2B5EF4-FFF2-40B4-BE49-F238E27FC236}">
                <a16:creationId xmlns:a16="http://schemas.microsoft.com/office/drawing/2014/main" id="{A8A926EB-F6A7-AA58-EB8F-08321B992D20}"/>
              </a:ext>
            </a:extLst>
          </p:cNvPr>
          <p:cNvPicPr>
            <a:picLocks noChangeAspect="1"/>
          </p:cNvPicPr>
          <p:nvPr/>
        </p:nvPicPr>
        <p:blipFill>
          <a:blip r:embed="rId6"/>
          <a:stretch>
            <a:fillRect/>
          </a:stretch>
        </p:blipFill>
        <p:spPr>
          <a:xfrm>
            <a:off x="355596" y="4544345"/>
            <a:ext cx="3551277" cy="2134084"/>
          </a:xfrm>
          <a:prstGeom prst="rect">
            <a:avLst/>
          </a:prstGeom>
          <a:ln>
            <a:solidFill>
              <a:schemeClr val="dk1"/>
            </a:solidFill>
          </a:ln>
        </p:spPr>
      </p:pic>
      <p:sp>
        <p:nvSpPr>
          <p:cNvPr id="16" name="Plus Sign 15">
            <a:extLst>
              <a:ext uri="{FF2B5EF4-FFF2-40B4-BE49-F238E27FC236}">
                <a16:creationId xmlns:a16="http://schemas.microsoft.com/office/drawing/2014/main" id="{E2A18A06-CCA6-02E6-6D59-07E5F47EAF0D}"/>
              </a:ext>
            </a:extLst>
          </p:cNvPr>
          <p:cNvSpPr/>
          <p:nvPr/>
        </p:nvSpPr>
        <p:spPr>
          <a:xfrm>
            <a:off x="1836051" y="4023681"/>
            <a:ext cx="447040" cy="407350"/>
          </a:xfrm>
          <a:prstGeom prst="mathPlus">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7" name="TextBox 16">
            <a:extLst>
              <a:ext uri="{FF2B5EF4-FFF2-40B4-BE49-F238E27FC236}">
                <a16:creationId xmlns:a16="http://schemas.microsoft.com/office/drawing/2014/main" id="{D634A2E2-0E38-061A-4BB6-91079D8C2318}"/>
              </a:ext>
            </a:extLst>
          </p:cNvPr>
          <p:cNvSpPr txBox="1"/>
          <p:nvPr/>
        </p:nvSpPr>
        <p:spPr>
          <a:xfrm>
            <a:off x="4429664" y="5603855"/>
            <a:ext cx="3918361" cy="523220"/>
          </a:xfrm>
          <a:prstGeom prst="rect">
            <a:avLst/>
          </a:prstGeom>
          <a:solidFill>
            <a:schemeClr val="bg2"/>
          </a:solidFill>
          <a:ln>
            <a:solidFill>
              <a:schemeClr val="tx1">
                <a:lumMod val="40000"/>
                <a:lumOff val="60000"/>
              </a:schemeClr>
            </a:solidFill>
          </a:ln>
        </p:spPr>
        <p:txBody>
          <a:bodyPr wrap="square" rtlCol="0">
            <a:spAutoFit/>
          </a:bodyPr>
          <a:lstStyle/>
          <a:p>
            <a:pPr algn="ctr">
              <a:spcAft>
                <a:spcPts val="1200"/>
              </a:spcAft>
            </a:pPr>
            <a:r>
              <a:rPr lang="en-US" sz="1400" b="1" dirty="0"/>
              <a:t>Conclusion: </a:t>
            </a:r>
            <a:r>
              <a:rPr lang="en-US" sz="1400" dirty="0"/>
              <a:t>Algorithm reduces time spent on well location assignment by ~99%. </a:t>
            </a:r>
          </a:p>
        </p:txBody>
      </p:sp>
      <p:sp>
        <p:nvSpPr>
          <p:cNvPr id="18" name="Rectangle: Rounded Corners 17">
            <a:extLst>
              <a:ext uri="{FF2B5EF4-FFF2-40B4-BE49-F238E27FC236}">
                <a16:creationId xmlns:a16="http://schemas.microsoft.com/office/drawing/2014/main" id="{E230C913-A850-D85C-472D-9B450D91D877}"/>
              </a:ext>
            </a:extLst>
          </p:cNvPr>
          <p:cNvSpPr/>
          <p:nvPr/>
        </p:nvSpPr>
        <p:spPr>
          <a:xfrm>
            <a:off x="6699255" y="75846"/>
            <a:ext cx="697225" cy="376415"/>
          </a:xfrm>
          <a:prstGeom prst="roundRect">
            <a:avLst/>
          </a:prstGeom>
          <a:ln>
            <a:solidFill>
              <a:schemeClr val="bg2">
                <a:lumMod val="10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900" dirty="0">
                <a:latin typeface="Arial" panose="020B0604020202020204" pitchFamily="34" charset="0"/>
                <a:cs typeface="Arial" panose="020B0604020202020204" pitchFamily="34" charset="0"/>
              </a:rPr>
              <a:t>FDP Shapefile</a:t>
            </a:r>
          </a:p>
        </p:txBody>
      </p:sp>
      <p:sp>
        <p:nvSpPr>
          <p:cNvPr id="19" name="Rectangle: Rounded Corners 18">
            <a:extLst>
              <a:ext uri="{FF2B5EF4-FFF2-40B4-BE49-F238E27FC236}">
                <a16:creationId xmlns:a16="http://schemas.microsoft.com/office/drawing/2014/main" id="{8AEB5F7C-81DF-F5DC-9729-C05A6ACB376F}"/>
              </a:ext>
            </a:extLst>
          </p:cNvPr>
          <p:cNvSpPr/>
          <p:nvPr/>
        </p:nvSpPr>
        <p:spPr>
          <a:xfrm>
            <a:off x="7612089" y="75846"/>
            <a:ext cx="938159" cy="376415"/>
          </a:xfrm>
          <a:prstGeom prst="roundRect">
            <a:avLst/>
          </a:prstGeom>
          <a:ln w="12700">
            <a:solidFill>
              <a:schemeClr val="bg2">
                <a:lumMod val="10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900" dirty="0">
                <a:latin typeface="Arial" panose="020B0604020202020204" pitchFamily="34" charset="0"/>
                <a:cs typeface="Arial" panose="020B0604020202020204" pitchFamily="34" charset="0"/>
              </a:rPr>
              <a:t>Calculation Code</a:t>
            </a:r>
          </a:p>
        </p:txBody>
      </p:sp>
      <p:sp>
        <p:nvSpPr>
          <p:cNvPr id="20" name="Rectangle: Rounded Corners 19">
            <a:extLst>
              <a:ext uri="{FF2B5EF4-FFF2-40B4-BE49-F238E27FC236}">
                <a16:creationId xmlns:a16="http://schemas.microsoft.com/office/drawing/2014/main" id="{17BE6636-6520-D619-7F44-641D9CACE78C}"/>
              </a:ext>
            </a:extLst>
          </p:cNvPr>
          <p:cNvSpPr/>
          <p:nvPr/>
        </p:nvSpPr>
        <p:spPr>
          <a:xfrm>
            <a:off x="8750540" y="71429"/>
            <a:ext cx="938159" cy="376415"/>
          </a:xfrm>
          <a:prstGeom prst="roundRect">
            <a:avLst/>
          </a:prstGeom>
          <a:ln w="28575">
            <a:solidFill>
              <a:srgbClr val="00B05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900" b="1" dirty="0">
                <a:latin typeface="Arial" panose="020B0604020202020204" pitchFamily="34" charset="0"/>
                <a:cs typeface="Arial" panose="020B0604020202020204" pitchFamily="34" charset="0"/>
              </a:rPr>
              <a:t>Auto-name Code</a:t>
            </a:r>
          </a:p>
        </p:txBody>
      </p:sp>
      <p:sp>
        <p:nvSpPr>
          <p:cNvPr id="21" name="Rectangle: Rounded Corners 20">
            <a:extLst>
              <a:ext uri="{FF2B5EF4-FFF2-40B4-BE49-F238E27FC236}">
                <a16:creationId xmlns:a16="http://schemas.microsoft.com/office/drawing/2014/main" id="{2257AAE4-636E-3165-283A-4F292D306F02}"/>
              </a:ext>
            </a:extLst>
          </p:cNvPr>
          <p:cNvSpPr/>
          <p:nvPr/>
        </p:nvSpPr>
        <p:spPr>
          <a:xfrm>
            <a:off x="9888991" y="66715"/>
            <a:ext cx="938159" cy="376415"/>
          </a:xfrm>
          <a:prstGeom prst="roundRect">
            <a:avLst/>
          </a:prstGeom>
          <a:ln>
            <a:solidFill>
              <a:schemeClr val="bg2">
                <a:lumMod val="10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900" dirty="0">
                <a:latin typeface="Arial" panose="020B0604020202020204" pitchFamily="34" charset="0"/>
                <a:cs typeface="Arial" panose="020B0604020202020204" pitchFamily="34" charset="0"/>
              </a:rPr>
              <a:t>Dynamic Dashboard</a:t>
            </a:r>
          </a:p>
        </p:txBody>
      </p:sp>
      <p:sp>
        <p:nvSpPr>
          <p:cNvPr id="22" name="Rectangle: Rounded Corners 21">
            <a:extLst>
              <a:ext uri="{FF2B5EF4-FFF2-40B4-BE49-F238E27FC236}">
                <a16:creationId xmlns:a16="http://schemas.microsoft.com/office/drawing/2014/main" id="{901AF245-D211-F8A3-7CD0-76E8CD0BA77F}"/>
              </a:ext>
            </a:extLst>
          </p:cNvPr>
          <p:cNvSpPr/>
          <p:nvPr/>
        </p:nvSpPr>
        <p:spPr>
          <a:xfrm>
            <a:off x="11084645" y="68407"/>
            <a:ext cx="938159" cy="376415"/>
          </a:xfrm>
          <a:prstGeom prst="roundRect">
            <a:avLst/>
          </a:prstGeom>
          <a:ln>
            <a:solidFill>
              <a:schemeClr val="bg2">
                <a:lumMod val="10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900" dirty="0">
                <a:latin typeface="Arial" panose="020B0604020202020204" pitchFamily="34" charset="0"/>
                <a:cs typeface="Arial" panose="020B0604020202020204" pitchFamily="34" charset="0"/>
              </a:rPr>
              <a:t>Ready for Evaluation</a:t>
            </a:r>
          </a:p>
        </p:txBody>
      </p:sp>
      <p:cxnSp>
        <p:nvCxnSpPr>
          <p:cNvPr id="23" name="Straight Arrow Connector 22">
            <a:extLst>
              <a:ext uri="{FF2B5EF4-FFF2-40B4-BE49-F238E27FC236}">
                <a16:creationId xmlns:a16="http://schemas.microsoft.com/office/drawing/2014/main" id="{ECD9C6E5-2300-AE98-3D9D-6BB3B6B425F9}"/>
              </a:ext>
            </a:extLst>
          </p:cNvPr>
          <p:cNvCxnSpPr>
            <a:stCxn id="18" idx="3"/>
            <a:endCxn id="19" idx="1"/>
          </p:cNvCxnSpPr>
          <p:nvPr/>
        </p:nvCxnSpPr>
        <p:spPr>
          <a:xfrm>
            <a:off x="7396480" y="264054"/>
            <a:ext cx="21560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744DCC8F-FF16-6285-6C4B-E20F9B4C71AB}"/>
              </a:ext>
            </a:extLst>
          </p:cNvPr>
          <p:cNvCxnSpPr>
            <a:cxnSpLocks/>
            <a:stCxn id="19" idx="3"/>
            <a:endCxn id="20" idx="1"/>
          </p:cNvCxnSpPr>
          <p:nvPr/>
        </p:nvCxnSpPr>
        <p:spPr>
          <a:xfrm flipV="1">
            <a:off x="8550248" y="259637"/>
            <a:ext cx="200292" cy="441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BB1F4597-E97F-30C1-FB2C-F114BB41CB60}"/>
              </a:ext>
            </a:extLst>
          </p:cNvPr>
          <p:cNvCxnSpPr>
            <a:cxnSpLocks/>
            <a:stCxn id="20" idx="3"/>
            <a:endCxn id="21" idx="1"/>
          </p:cNvCxnSpPr>
          <p:nvPr/>
        </p:nvCxnSpPr>
        <p:spPr>
          <a:xfrm flipV="1">
            <a:off x="9688699" y="254923"/>
            <a:ext cx="200292" cy="47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61D0F450-ADBC-CF33-2441-1077B52E2FCC}"/>
              </a:ext>
            </a:extLst>
          </p:cNvPr>
          <p:cNvCxnSpPr>
            <a:cxnSpLocks/>
            <a:stCxn id="21" idx="3"/>
            <a:endCxn id="22" idx="1"/>
          </p:cNvCxnSpPr>
          <p:nvPr/>
        </p:nvCxnSpPr>
        <p:spPr>
          <a:xfrm>
            <a:off x="10827150" y="254923"/>
            <a:ext cx="257495" cy="169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0" name="Rectangle: Rounded Corners 29">
            <a:extLst>
              <a:ext uri="{FF2B5EF4-FFF2-40B4-BE49-F238E27FC236}">
                <a16:creationId xmlns:a16="http://schemas.microsoft.com/office/drawing/2014/main" id="{A206461B-CAC1-190D-3AFC-01DE231B4B21}"/>
              </a:ext>
            </a:extLst>
          </p:cNvPr>
          <p:cNvSpPr/>
          <p:nvPr/>
        </p:nvSpPr>
        <p:spPr>
          <a:xfrm>
            <a:off x="1075819" y="4440871"/>
            <a:ext cx="1967504" cy="449852"/>
          </a:xfrm>
          <a:prstGeom prst="roundRect">
            <a:avLst/>
          </a:prstGeom>
          <a:ln>
            <a:solidFill>
              <a:schemeClr val="bg2">
                <a:lumMod val="10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1600" dirty="0"/>
              <a:t>LSD Section Shapefile</a:t>
            </a:r>
          </a:p>
        </p:txBody>
      </p:sp>
      <p:sp>
        <p:nvSpPr>
          <p:cNvPr id="32" name="Rectangle: Rounded Corners 31">
            <a:extLst>
              <a:ext uri="{FF2B5EF4-FFF2-40B4-BE49-F238E27FC236}">
                <a16:creationId xmlns:a16="http://schemas.microsoft.com/office/drawing/2014/main" id="{355A9F6E-14F3-A9CA-9A7B-5F5CF3DD23B2}"/>
              </a:ext>
            </a:extLst>
          </p:cNvPr>
          <p:cNvSpPr/>
          <p:nvPr/>
        </p:nvSpPr>
        <p:spPr>
          <a:xfrm>
            <a:off x="1371003" y="1716994"/>
            <a:ext cx="1520464" cy="363873"/>
          </a:xfrm>
          <a:prstGeom prst="roundRect">
            <a:avLst/>
          </a:prstGeom>
          <a:ln>
            <a:solidFill>
              <a:schemeClr val="bg2">
                <a:lumMod val="10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1600" dirty="0"/>
              <a:t>FDP Shapefile</a:t>
            </a:r>
          </a:p>
        </p:txBody>
      </p:sp>
      <p:pic>
        <p:nvPicPr>
          <p:cNvPr id="39" name="Picture 38">
            <a:extLst>
              <a:ext uri="{FF2B5EF4-FFF2-40B4-BE49-F238E27FC236}">
                <a16:creationId xmlns:a16="http://schemas.microsoft.com/office/drawing/2014/main" id="{B0925B7C-A0D9-4F07-644F-C5E24C6C534F}"/>
              </a:ext>
            </a:extLst>
          </p:cNvPr>
          <p:cNvPicPr>
            <a:picLocks noChangeAspect="1"/>
          </p:cNvPicPr>
          <p:nvPr/>
        </p:nvPicPr>
        <p:blipFill>
          <a:blip r:embed="rId7"/>
          <a:stretch>
            <a:fillRect/>
          </a:stretch>
        </p:blipFill>
        <p:spPr>
          <a:xfrm>
            <a:off x="5128700" y="3241486"/>
            <a:ext cx="2082877" cy="1944736"/>
          </a:xfrm>
          <a:prstGeom prst="rect">
            <a:avLst/>
          </a:prstGeom>
          <a:ln>
            <a:solidFill>
              <a:schemeClr val="dk1"/>
            </a:solidFill>
          </a:ln>
        </p:spPr>
      </p:pic>
      <p:sp>
        <p:nvSpPr>
          <p:cNvPr id="40" name="Rectangle: Rounded Corners 39">
            <a:extLst>
              <a:ext uri="{FF2B5EF4-FFF2-40B4-BE49-F238E27FC236}">
                <a16:creationId xmlns:a16="http://schemas.microsoft.com/office/drawing/2014/main" id="{726D4AC4-B49F-BD5E-D073-EDE33E09A4CA}"/>
              </a:ext>
            </a:extLst>
          </p:cNvPr>
          <p:cNvSpPr/>
          <p:nvPr/>
        </p:nvSpPr>
        <p:spPr>
          <a:xfrm>
            <a:off x="4624442" y="2862721"/>
            <a:ext cx="2867525" cy="378765"/>
          </a:xfrm>
          <a:prstGeom prst="roundRect">
            <a:avLst/>
          </a:prstGeom>
          <a:ln>
            <a:solidFill>
              <a:schemeClr val="bg2">
                <a:lumMod val="10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1600" dirty="0"/>
              <a:t>Python Auto-name Algorithm</a:t>
            </a:r>
          </a:p>
        </p:txBody>
      </p:sp>
      <p:sp>
        <p:nvSpPr>
          <p:cNvPr id="45" name="Rectangle: Rounded Corners 44">
            <a:extLst>
              <a:ext uri="{FF2B5EF4-FFF2-40B4-BE49-F238E27FC236}">
                <a16:creationId xmlns:a16="http://schemas.microsoft.com/office/drawing/2014/main" id="{DAEE372C-B35C-8486-0020-9AF57DDF4961}"/>
              </a:ext>
            </a:extLst>
          </p:cNvPr>
          <p:cNvSpPr/>
          <p:nvPr/>
        </p:nvSpPr>
        <p:spPr>
          <a:xfrm>
            <a:off x="8373549" y="3040951"/>
            <a:ext cx="3272264" cy="545149"/>
          </a:xfrm>
          <a:prstGeom prst="roundRect">
            <a:avLst/>
          </a:prstGeom>
          <a:ln>
            <a:solidFill>
              <a:schemeClr val="bg2">
                <a:lumMod val="10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1600" dirty="0"/>
              <a:t>Final Algorithm Sheet</a:t>
            </a:r>
          </a:p>
          <a:p>
            <a:pPr algn="ctr"/>
            <a:r>
              <a:rPr lang="en-US" sz="1600" dirty="0"/>
              <a:t>(All values below are automated)</a:t>
            </a:r>
          </a:p>
        </p:txBody>
      </p:sp>
      <p:sp>
        <p:nvSpPr>
          <p:cNvPr id="48" name="Arrow: Right 47">
            <a:extLst>
              <a:ext uri="{FF2B5EF4-FFF2-40B4-BE49-F238E27FC236}">
                <a16:creationId xmlns:a16="http://schemas.microsoft.com/office/drawing/2014/main" id="{6E3A7C83-20BC-D341-61FA-6C21B1950EDC}"/>
              </a:ext>
            </a:extLst>
          </p:cNvPr>
          <p:cNvSpPr/>
          <p:nvPr/>
        </p:nvSpPr>
        <p:spPr>
          <a:xfrm>
            <a:off x="7358346" y="3663575"/>
            <a:ext cx="595730" cy="871849"/>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dirty="0"/>
          </a:p>
        </p:txBody>
      </p:sp>
      <p:sp>
        <p:nvSpPr>
          <p:cNvPr id="14" name="Arrow: Right 13">
            <a:extLst>
              <a:ext uri="{FF2B5EF4-FFF2-40B4-BE49-F238E27FC236}">
                <a16:creationId xmlns:a16="http://schemas.microsoft.com/office/drawing/2014/main" id="{911C1132-6AF6-57FF-CF4D-FD56726A2271}"/>
              </a:ext>
            </a:extLst>
          </p:cNvPr>
          <p:cNvSpPr/>
          <p:nvPr/>
        </p:nvSpPr>
        <p:spPr>
          <a:xfrm>
            <a:off x="4140647" y="3653166"/>
            <a:ext cx="595730" cy="871849"/>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8244829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339CF60-B9BF-7682-83E0-1208178050C2}"/>
              </a:ext>
            </a:extLst>
          </p:cNvPr>
          <p:cNvSpPr>
            <a:spLocks noGrp="1"/>
          </p:cNvSpPr>
          <p:nvPr>
            <p:ph type="title"/>
          </p:nvPr>
        </p:nvSpPr>
        <p:spPr>
          <a:xfrm>
            <a:off x="234946" y="140271"/>
            <a:ext cx="10515600" cy="1033508"/>
          </a:xfrm>
        </p:spPr>
        <p:txBody>
          <a:bodyPr/>
          <a:lstStyle/>
          <a:p>
            <a:r>
              <a:rPr lang="en-US" sz="2800" dirty="0"/>
              <a:t>FDP Dynamic Dashboard</a:t>
            </a:r>
          </a:p>
        </p:txBody>
      </p:sp>
      <p:sp>
        <p:nvSpPr>
          <p:cNvPr id="4" name="Text Placeholder 3">
            <a:extLst>
              <a:ext uri="{FF2B5EF4-FFF2-40B4-BE49-F238E27FC236}">
                <a16:creationId xmlns:a16="http://schemas.microsoft.com/office/drawing/2014/main" id="{0009B144-19C2-20EB-4803-BCD1F1BF7B69}"/>
              </a:ext>
            </a:extLst>
          </p:cNvPr>
          <p:cNvSpPr>
            <a:spLocks noGrp="1"/>
          </p:cNvSpPr>
          <p:nvPr>
            <p:ph type="body" sz="quarter" idx="10"/>
          </p:nvPr>
        </p:nvSpPr>
        <p:spPr>
          <a:xfrm>
            <a:off x="229030" y="562154"/>
            <a:ext cx="10922003" cy="229704"/>
          </a:xfrm>
        </p:spPr>
        <p:txBody>
          <a:bodyPr/>
          <a:lstStyle/>
          <a:p>
            <a:r>
              <a:rPr lang="en-US" sz="1400" dirty="0"/>
              <a:t>Dynamic Spotfire dashboard houses many Python Scripts, used to specify well parameters in bulk - has fields to enter all parameters and the code handles the rest.  One-click exports into evaluation software Mosaic (economics and reserves evaluation platform).</a:t>
            </a:r>
          </a:p>
        </p:txBody>
      </p:sp>
      <p:sp>
        <p:nvSpPr>
          <p:cNvPr id="6" name="Footer Placeholder 5">
            <a:extLst>
              <a:ext uri="{FF2B5EF4-FFF2-40B4-BE49-F238E27FC236}">
                <a16:creationId xmlns:a16="http://schemas.microsoft.com/office/drawing/2014/main" id="{4CB7E1F1-D71B-A34B-BDBE-46FF05749197}"/>
              </a:ext>
            </a:extLst>
          </p:cNvPr>
          <p:cNvSpPr>
            <a:spLocks noGrp="1"/>
          </p:cNvSpPr>
          <p:nvPr>
            <p:ph type="ftr" sz="quarter" idx="3"/>
          </p:nvPr>
        </p:nvSpPr>
        <p:spPr/>
        <p:txBody>
          <a:bodyPr/>
          <a:lstStyle/>
          <a:p>
            <a:r>
              <a:rPr lang="en-US" b="1">
                <a:latin typeface="Arial" panose="020B0604020202020204" pitchFamily="34" charset="0"/>
              </a:rPr>
              <a:t>NuVista Energy Ltd.</a:t>
            </a:r>
            <a:endParaRPr lang="en-US" dirty="0">
              <a:latin typeface="Arial" panose="020B0604020202020204" pitchFamily="34" charset="0"/>
            </a:endParaRPr>
          </a:p>
        </p:txBody>
      </p:sp>
      <p:sp>
        <p:nvSpPr>
          <p:cNvPr id="7" name="Slide Number Placeholder 6">
            <a:extLst>
              <a:ext uri="{FF2B5EF4-FFF2-40B4-BE49-F238E27FC236}">
                <a16:creationId xmlns:a16="http://schemas.microsoft.com/office/drawing/2014/main" id="{5012D176-4356-BC74-6C79-14F5AE2B11D4}"/>
              </a:ext>
            </a:extLst>
          </p:cNvPr>
          <p:cNvSpPr>
            <a:spLocks noGrp="1"/>
          </p:cNvSpPr>
          <p:nvPr>
            <p:ph type="sldNum" sz="quarter" idx="4"/>
          </p:nvPr>
        </p:nvSpPr>
        <p:spPr/>
        <p:txBody>
          <a:bodyPr/>
          <a:lstStyle/>
          <a:p>
            <a:fld id="{D246DD65-7063-5C41-96CC-23CB1F95FA91}" type="slidenum">
              <a:rPr lang="en-US" smtClean="0"/>
              <a:pPr/>
              <a:t>6</a:t>
            </a:fld>
            <a:endParaRPr lang="en-US" dirty="0"/>
          </a:p>
        </p:txBody>
      </p:sp>
      <p:sp>
        <p:nvSpPr>
          <p:cNvPr id="8" name="Rectangle: Rounded Corners 7">
            <a:extLst>
              <a:ext uri="{FF2B5EF4-FFF2-40B4-BE49-F238E27FC236}">
                <a16:creationId xmlns:a16="http://schemas.microsoft.com/office/drawing/2014/main" id="{934F058E-8E19-0006-CA49-6163FC1C6D09}"/>
              </a:ext>
            </a:extLst>
          </p:cNvPr>
          <p:cNvSpPr/>
          <p:nvPr/>
        </p:nvSpPr>
        <p:spPr>
          <a:xfrm>
            <a:off x="6699255" y="75846"/>
            <a:ext cx="697225" cy="376415"/>
          </a:xfrm>
          <a:prstGeom prst="roundRect">
            <a:avLst/>
          </a:prstGeom>
          <a:ln>
            <a:solidFill>
              <a:schemeClr val="bg2">
                <a:lumMod val="10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900" dirty="0">
                <a:latin typeface="Arial" panose="020B0604020202020204" pitchFamily="34" charset="0"/>
                <a:cs typeface="Arial" panose="020B0604020202020204" pitchFamily="34" charset="0"/>
              </a:rPr>
              <a:t>FDP Shapefile</a:t>
            </a:r>
          </a:p>
        </p:txBody>
      </p:sp>
      <p:sp>
        <p:nvSpPr>
          <p:cNvPr id="9" name="Rectangle: Rounded Corners 8">
            <a:extLst>
              <a:ext uri="{FF2B5EF4-FFF2-40B4-BE49-F238E27FC236}">
                <a16:creationId xmlns:a16="http://schemas.microsoft.com/office/drawing/2014/main" id="{1E2F0B14-B4BC-7F49-5368-D81FF01FB122}"/>
              </a:ext>
            </a:extLst>
          </p:cNvPr>
          <p:cNvSpPr/>
          <p:nvPr/>
        </p:nvSpPr>
        <p:spPr>
          <a:xfrm>
            <a:off x="7612089" y="75846"/>
            <a:ext cx="938159" cy="376415"/>
          </a:xfrm>
          <a:prstGeom prst="roundRect">
            <a:avLst/>
          </a:prstGeom>
          <a:ln w="12700">
            <a:solidFill>
              <a:schemeClr val="bg2">
                <a:lumMod val="10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900" dirty="0">
                <a:latin typeface="Arial" panose="020B0604020202020204" pitchFamily="34" charset="0"/>
                <a:cs typeface="Arial" panose="020B0604020202020204" pitchFamily="34" charset="0"/>
              </a:rPr>
              <a:t>Calculation Code</a:t>
            </a:r>
          </a:p>
        </p:txBody>
      </p:sp>
      <p:sp>
        <p:nvSpPr>
          <p:cNvPr id="10" name="Rectangle: Rounded Corners 9">
            <a:extLst>
              <a:ext uri="{FF2B5EF4-FFF2-40B4-BE49-F238E27FC236}">
                <a16:creationId xmlns:a16="http://schemas.microsoft.com/office/drawing/2014/main" id="{1DFD4B47-4CE3-C8D6-E399-0CF08F1C26A2}"/>
              </a:ext>
            </a:extLst>
          </p:cNvPr>
          <p:cNvSpPr/>
          <p:nvPr/>
        </p:nvSpPr>
        <p:spPr>
          <a:xfrm>
            <a:off x="8750541" y="71429"/>
            <a:ext cx="911620" cy="376415"/>
          </a:xfrm>
          <a:prstGeom prst="roundRect">
            <a:avLst/>
          </a:prstGeom>
          <a:ln w="12700">
            <a:solidFill>
              <a:schemeClr val="bg2">
                <a:lumMod val="10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900" dirty="0">
                <a:latin typeface="Arial" panose="020B0604020202020204" pitchFamily="34" charset="0"/>
                <a:cs typeface="Arial" panose="020B0604020202020204" pitchFamily="34" charset="0"/>
              </a:rPr>
              <a:t>Auto-name Code</a:t>
            </a:r>
          </a:p>
        </p:txBody>
      </p:sp>
      <p:sp>
        <p:nvSpPr>
          <p:cNvPr id="11" name="Rectangle: Rounded Corners 10">
            <a:extLst>
              <a:ext uri="{FF2B5EF4-FFF2-40B4-BE49-F238E27FC236}">
                <a16:creationId xmlns:a16="http://schemas.microsoft.com/office/drawing/2014/main" id="{C0C0180D-C595-14B5-1424-A89DE0CA0A9C}"/>
              </a:ext>
            </a:extLst>
          </p:cNvPr>
          <p:cNvSpPr/>
          <p:nvPr/>
        </p:nvSpPr>
        <p:spPr>
          <a:xfrm>
            <a:off x="9888991" y="66715"/>
            <a:ext cx="938159" cy="376415"/>
          </a:xfrm>
          <a:prstGeom prst="roundRect">
            <a:avLst/>
          </a:prstGeom>
          <a:ln w="28575">
            <a:solidFill>
              <a:srgbClr val="00B05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900" b="1" dirty="0">
                <a:latin typeface="Arial" panose="020B0604020202020204" pitchFamily="34" charset="0"/>
                <a:cs typeface="Arial" panose="020B0604020202020204" pitchFamily="34" charset="0"/>
              </a:rPr>
              <a:t>Dynamic Dashboard</a:t>
            </a:r>
          </a:p>
        </p:txBody>
      </p:sp>
      <p:sp>
        <p:nvSpPr>
          <p:cNvPr id="12" name="Rectangle: Rounded Corners 11">
            <a:extLst>
              <a:ext uri="{FF2B5EF4-FFF2-40B4-BE49-F238E27FC236}">
                <a16:creationId xmlns:a16="http://schemas.microsoft.com/office/drawing/2014/main" id="{E707A8EF-6CA2-9362-9537-36311B1FB75E}"/>
              </a:ext>
            </a:extLst>
          </p:cNvPr>
          <p:cNvSpPr/>
          <p:nvPr/>
        </p:nvSpPr>
        <p:spPr>
          <a:xfrm>
            <a:off x="11084645" y="68407"/>
            <a:ext cx="938159" cy="376415"/>
          </a:xfrm>
          <a:prstGeom prst="roundRect">
            <a:avLst/>
          </a:prstGeom>
          <a:ln>
            <a:solidFill>
              <a:schemeClr val="bg2">
                <a:lumMod val="10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900" dirty="0">
                <a:latin typeface="Arial" panose="020B0604020202020204" pitchFamily="34" charset="0"/>
                <a:cs typeface="Arial" panose="020B0604020202020204" pitchFamily="34" charset="0"/>
              </a:rPr>
              <a:t>Ready for Evaluation</a:t>
            </a:r>
          </a:p>
        </p:txBody>
      </p:sp>
      <p:cxnSp>
        <p:nvCxnSpPr>
          <p:cNvPr id="13" name="Straight Arrow Connector 12">
            <a:extLst>
              <a:ext uri="{FF2B5EF4-FFF2-40B4-BE49-F238E27FC236}">
                <a16:creationId xmlns:a16="http://schemas.microsoft.com/office/drawing/2014/main" id="{66E68815-14FA-8069-6683-2FE867C271EE}"/>
              </a:ext>
            </a:extLst>
          </p:cNvPr>
          <p:cNvCxnSpPr>
            <a:stCxn id="8" idx="3"/>
            <a:endCxn id="9" idx="1"/>
          </p:cNvCxnSpPr>
          <p:nvPr/>
        </p:nvCxnSpPr>
        <p:spPr>
          <a:xfrm>
            <a:off x="7396480" y="264054"/>
            <a:ext cx="21560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13FBFD72-D353-5BD2-5297-2A4913C85BE1}"/>
              </a:ext>
            </a:extLst>
          </p:cNvPr>
          <p:cNvCxnSpPr>
            <a:cxnSpLocks/>
            <a:stCxn id="9" idx="3"/>
            <a:endCxn id="10" idx="1"/>
          </p:cNvCxnSpPr>
          <p:nvPr/>
        </p:nvCxnSpPr>
        <p:spPr>
          <a:xfrm flipV="1">
            <a:off x="8550248" y="259637"/>
            <a:ext cx="200293" cy="441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28BFF9B4-5A04-E1E2-04C2-0EC5DC59E503}"/>
              </a:ext>
            </a:extLst>
          </p:cNvPr>
          <p:cNvCxnSpPr>
            <a:cxnSpLocks/>
            <a:stCxn id="10" idx="3"/>
            <a:endCxn id="11" idx="1"/>
          </p:cNvCxnSpPr>
          <p:nvPr/>
        </p:nvCxnSpPr>
        <p:spPr>
          <a:xfrm flipV="1">
            <a:off x="9662161" y="254923"/>
            <a:ext cx="226830" cy="47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55796A59-20CB-330E-E719-0D9ED443AC7C}"/>
              </a:ext>
            </a:extLst>
          </p:cNvPr>
          <p:cNvCxnSpPr>
            <a:cxnSpLocks/>
            <a:stCxn id="11" idx="3"/>
            <a:endCxn id="12" idx="1"/>
          </p:cNvCxnSpPr>
          <p:nvPr/>
        </p:nvCxnSpPr>
        <p:spPr>
          <a:xfrm>
            <a:off x="10827150" y="254923"/>
            <a:ext cx="257495" cy="169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37" name="Picture 36">
            <a:extLst>
              <a:ext uri="{FF2B5EF4-FFF2-40B4-BE49-F238E27FC236}">
                <a16:creationId xmlns:a16="http://schemas.microsoft.com/office/drawing/2014/main" id="{73C366A9-F989-B8F7-AC4A-B49F82FA6D29}"/>
              </a:ext>
            </a:extLst>
          </p:cNvPr>
          <p:cNvPicPr>
            <a:picLocks noChangeAspect="1"/>
          </p:cNvPicPr>
          <p:nvPr/>
        </p:nvPicPr>
        <p:blipFill>
          <a:blip r:embed="rId3"/>
          <a:stretch>
            <a:fillRect/>
          </a:stretch>
        </p:blipFill>
        <p:spPr>
          <a:xfrm>
            <a:off x="25400" y="2649568"/>
            <a:ext cx="2235199" cy="1647382"/>
          </a:xfrm>
          <a:prstGeom prst="rect">
            <a:avLst/>
          </a:prstGeom>
        </p:spPr>
      </p:pic>
      <p:pic>
        <p:nvPicPr>
          <p:cNvPr id="39" name="Picture 38">
            <a:extLst>
              <a:ext uri="{FF2B5EF4-FFF2-40B4-BE49-F238E27FC236}">
                <a16:creationId xmlns:a16="http://schemas.microsoft.com/office/drawing/2014/main" id="{12A3EAD3-C6CA-18BC-4E3B-05005F2F9E9D}"/>
              </a:ext>
            </a:extLst>
          </p:cNvPr>
          <p:cNvPicPr>
            <a:picLocks noChangeAspect="1"/>
          </p:cNvPicPr>
          <p:nvPr/>
        </p:nvPicPr>
        <p:blipFill>
          <a:blip r:embed="rId4"/>
          <a:stretch>
            <a:fillRect/>
          </a:stretch>
        </p:blipFill>
        <p:spPr>
          <a:xfrm>
            <a:off x="2775880" y="3942202"/>
            <a:ext cx="2303979" cy="1401172"/>
          </a:xfrm>
          <a:prstGeom prst="rect">
            <a:avLst/>
          </a:prstGeom>
        </p:spPr>
      </p:pic>
      <p:pic>
        <p:nvPicPr>
          <p:cNvPr id="41" name="Picture 40">
            <a:extLst>
              <a:ext uri="{FF2B5EF4-FFF2-40B4-BE49-F238E27FC236}">
                <a16:creationId xmlns:a16="http://schemas.microsoft.com/office/drawing/2014/main" id="{E5DC5D66-FACF-F3A0-84D2-8C09E7A6EA03}"/>
              </a:ext>
            </a:extLst>
          </p:cNvPr>
          <p:cNvPicPr>
            <a:picLocks noChangeAspect="1"/>
          </p:cNvPicPr>
          <p:nvPr/>
        </p:nvPicPr>
        <p:blipFill>
          <a:blip r:embed="rId5"/>
          <a:stretch>
            <a:fillRect/>
          </a:stretch>
        </p:blipFill>
        <p:spPr>
          <a:xfrm>
            <a:off x="3214005" y="2445879"/>
            <a:ext cx="1427733" cy="1373218"/>
          </a:xfrm>
          <a:prstGeom prst="rect">
            <a:avLst/>
          </a:prstGeom>
        </p:spPr>
      </p:pic>
      <p:pic>
        <p:nvPicPr>
          <p:cNvPr id="43" name="Picture 42">
            <a:extLst>
              <a:ext uri="{FF2B5EF4-FFF2-40B4-BE49-F238E27FC236}">
                <a16:creationId xmlns:a16="http://schemas.microsoft.com/office/drawing/2014/main" id="{4A276D37-0581-ED35-965D-1678E01201D8}"/>
              </a:ext>
            </a:extLst>
          </p:cNvPr>
          <p:cNvPicPr>
            <a:picLocks noChangeAspect="1"/>
          </p:cNvPicPr>
          <p:nvPr/>
        </p:nvPicPr>
        <p:blipFill>
          <a:blip r:embed="rId6"/>
          <a:stretch>
            <a:fillRect/>
          </a:stretch>
        </p:blipFill>
        <p:spPr>
          <a:xfrm>
            <a:off x="3199529" y="1064206"/>
            <a:ext cx="1456684" cy="1191778"/>
          </a:xfrm>
          <a:prstGeom prst="rect">
            <a:avLst/>
          </a:prstGeom>
        </p:spPr>
      </p:pic>
      <p:pic>
        <p:nvPicPr>
          <p:cNvPr id="45" name="Picture 44">
            <a:extLst>
              <a:ext uri="{FF2B5EF4-FFF2-40B4-BE49-F238E27FC236}">
                <a16:creationId xmlns:a16="http://schemas.microsoft.com/office/drawing/2014/main" id="{D4A973BF-F7C4-9D04-1187-72AB6D1BE709}"/>
              </a:ext>
            </a:extLst>
          </p:cNvPr>
          <p:cNvPicPr>
            <a:picLocks noChangeAspect="1"/>
          </p:cNvPicPr>
          <p:nvPr/>
        </p:nvPicPr>
        <p:blipFill>
          <a:blip r:embed="rId7"/>
          <a:stretch>
            <a:fillRect/>
          </a:stretch>
        </p:blipFill>
        <p:spPr>
          <a:xfrm>
            <a:off x="2983443" y="5467355"/>
            <a:ext cx="1888852" cy="1333364"/>
          </a:xfrm>
          <a:prstGeom prst="rect">
            <a:avLst/>
          </a:prstGeom>
        </p:spPr>
      </p:pic>
      <p:cxnSp>
        <p:nvCxnSpPr>
          <p:cNvPr id="47" name="Connector: Elbow 46">
            <a:extLst>
              <a:ext uri="{FF2B5EF4-FFF2-40B4-BE49-F238E27FC236}">
                <a16:creationId xmlns:a16="http://schemas.microsoft.com/office/drawing/2014/main" id="{E7853156-80FD-2FAE-5F32-D544AF0072DA}"/>
              </a:ext>
            </a:extLst>
          </p:cNvPr>
          <p:cNvCxnSpPr>
            <a:stCxn id="37" idx="0"/>
            <a:endCxn id="43" idx="1"/>
          </p:cNvCxnSpPr>
          <p:nvPr/>
        </p:nvCxnSpPr>
        <p:spPr>
          <a:xfrm rot="5400000" flipH="1" flipV="1">
            <a:off x="1676528" y="1126568"/>
            <a:ext cx="989473" cy="2056529"/>
          </a:xfrm>
          <a:prstGeom prst="bentConnector2">
            <a:avLst/>
          </a:prstGeom>
          <a:ln>
            <a:tailEnd type="triangle"/>
          </a:ln>
        </p:spPr>
        <p:style>
          <a:lnRef idx="3">
            <a:schemeClr val="dk1"/>
          </a:lnRef>
          <a:fillRef idx="0">
            <a:schemeClr val="dk1"/>
          </a:fillRef>
          <a:effectRef idx="2">
            <a:schemeClr val="dk1"/>
          </a:effectRef>
          <a:fontRef idx="minor">
            <a:schemeClr val="tx1"/>
          </a:fontRef>
        </p:style>
      </p:cxnSp>
      <p:cxnSp>
        <p:nvCxnSpPr>
          <p:cNvPr id="48" name="Connector: Elbow 47">
            <a:extLst>
              <a:ext uri="{FF2B5EF4-FFF2-40B4-BE49-F238E27FC236}">
                <a16:creationId xmlns:a16="http://schemas.microsoft.com/office/drawing/2014/main" id="{D764BECA-6E01-D8C1-6C47-AF16489B65F7}"/>
              </a:ext>
            </a:extLst>
          </p:cNvPr>
          <p:cNvCxnSpPr>
            <a:cxnSpLocks/>
            <a:stCxn id="37" idx="3"/>
            <a:endCxn id="41" idx="1"/>
          </p:cNvCxnSpPr>
          <p:nvPr/>
        </p:nvCxnSpPr>
        <p:spPr>
          <a:xfrm flipV="1">
            <a:off x="2260599" y="3132488"/>
            <a:ext cx="953406" cy="340771"/>
          </a:xfrm>
          <a:prstGeom prst="bentConnector3">
            <a:avLst>
              <a:gd name="adj1" fmla="val 50000"/>
            </a:avLst>
          </a:prstGeom>
          <a:ln>
            <a:tailEnd type="triangle"/>
          </a:ln>
        </p:spPr>
        <p:style>
          <a:lnRef idx="3">
            <a:schemeClr val="dk1"/>
          </a:lnRef>
          <a:fillRef idx="0">
            <a:schemeClr val="dk1"/>
          </a:fillRef>
          <a:effectRef idx="2">
            <a:schemeClr val="dk1"/>
          </a:effectRef>
          <a:fontRef idx="minor">
            <a:schemeClr val="tx1"/>
          </a:fontRef>
        </p:style>
      </p:cxnSp>
      <p:cxnSp>
        <p:nvCxnSpPr>
          <p:cNvPr id="51" name="Connector: Elbow 50">
            <a:extLst>
              <a:ext uri="{FF2B5EF4-FFF2-40B4-BE49-F238E27FC236}">
                <a16:creationId xmlns:a16="http://schemas.microsoft.com/office/drawing/2014/main" id="{F9B7B54C-087D-7A1A-71CA-A59FB5A763D2}"/>
              </a:ext>
            </a:extLst>
          </p:cNvPr>
          <p:cNvCxnSpPr>
            <a:cxnSpLocks/>
            <a:stCxn id="37" idx="3"/>
            <a:endCxn id="39" idx="1"/>
          </p:cNvCxnSpPr>
          <p:nvPr/>
        </p:nvCxnSpPr>
        <p:spPr>
          <a:xfrm>
            <a:off x="2260599" y="3473259"/>
            <a:ext cx="515281" cy="1169529"/>
          </a:xfrm>
          <a:prstGeom prst="bentConnector3">
            <a:avLst>
              <a:gd name="adj1" fmla="val 50000"/>
            </a:avLst>
          </a:prstGeom>
          <a:ln>
            <a:tailEnd type="triangle"/>
          </a:ln>
        </p:spPr>
        <p:style>
          <a:lnRef idx="3">
            <a:schemeClr val="dk1"/>
          </a:lnRef>
          <a:fillRef idx="0">
            <a:schemeClr val="dk1"/>
          </a:fillRef>
          <a:effectRef idx="2">
            <a:schemeClr val="dk1"/>
          </a:effectRef>
          <a:fontRef idx="minor">
            <a:schemeClr val="tx1"/>
          </a:fontRef>
        </p:style>
      </p:cxnSp>
      <p:cxnSp>
        <p:nvCxnSpPr>
          <p:cNvPr id="54" name="Connector: Elbow 53">
            <a:extLst>
              <a:ext uri="{FF2B5EF4-FFF2-40B4-BE49-F238E27FC236}">
                <a16:creationId xmlns:a16="http://schemas.microsoft.com/office/drawing/2014/main" id="{F2FB2DA9-F4AD-D421-18C1-BB3213134C6D}"/>
              </a:ext>
            </a:extLst>
          </p:cNvPr>
          <p:cNvCxnSpPr>
            <a:cxnSpLocks/>
            <a:stCxn id="37" idx="2"/>
            <a:endCxn id="45" idx="1"/>
          </p:cNvCxnSpPr>
          <p:nvPr/>
        </p:nvCxnSpPr>
        <p:spPr>
          <a:xfrm rot="16200000" flipH="1">
            <a:off x="1144678" y="4295271"/>
            <a:ext cx="1837087" cy="1840443"/>
          </a:xfrm>
          <a:prstGeom prst="bentConnector2">
            <a:avLst/>
          </a:prstGeom>
          <a:ln>
            <a:tailEnd type="triangle"/>
          </a:ln>
        </p:spPr>
        <p:style>
          <a:lnRef idx="3">
            <a:schemeClr val="dk1"/>
          </a:lnRef>
          <a:fillRef idx="0">
            <a:schemeClr val="dk1"/>
          </a:fillRef>
          <a:effectRef idx="2">
            <a:schemeClr val="dk1"/>
          </a:effectRef>
          <a:fontRef idx="minor">
            <a:schemeClr val="tx1"/>
          </a:fontRef>
        </p:style>
      </p:cxnSp>
      <p:sp>
        <p:nvSpPr>
          <p:cNvPr id="61" name="Rectangle: Rounded Corners 60">
            <a:extLst>
              <a:ext uri="{FF2B5EF4-FFF2-40B4-BE49-F238E27FC236}">
                <a16:creationId xmlns:a16="http://schemas.microsoft.com/office/drawing/2014/main" id="{E3D8C9FA-B5FF-6D7D-9D3C-E9ED394CB7B6}"/>
              </a:ext>
            </a:extLst>
          </p:cNvPr>
          <p:cNvSpPr/>
          <p:nvPr/>
        </p:nvSpPr>
        <p:spPr>
          <a:xfrm>
            <a:off x="275754" y="2486365"/>
            <a:ext cx="1734489" cy="300576"/>
          </a:xfrm>
          <a:prstGeom prst="roundRect">
            <a:avLst/>
          </a:prstGeom>
          <a:ln>
            <a:solidFill>
              <a:schemeClr val="bg2">
                <a:lumMod val="10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1600" b="1" dirty="0"/>
              <a:t>FDP Dashboard</a:t>
            </a:r>
          </a:p>
        </p:txBody>
      </p:sp>
      <p:sp>
        <p:nvSpPr>
          <p:cNvPr id="62" name="Rectangle: Rounded Corners 61">
            <a:extLst>
              <a:ext uri="{FF2B5EF4-FFF2-40B4-BE49-F238E27FC236}">
                <a16:creationId xmlns:a16="http://schemas.microsoft.com/office/drawing/2014/main" id="{67AE04F0-874B-0098-D58B-5DDEC079EF3A}"/>
              </a:ext>
            </a:extLst>
          </p:cNvPr>
          <p:cNvSpPr/>
          <p:nvPr/>
        </p:nvSpPr>
        <p:spPr>
          <a:xfrm>
            <a:off x="2942351" y="971841"/>
            <a:ext cx="1852559" cy="193852"/>
          </a:xfrm>
          <a:prstGeom prst="roundRect">
            <a:avLst/>
          </a:prstGeom>
          <a:ln>
            <a:solidFill>
              <a:schemeClr val="bg2">
                <a:lumMod val="10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1600" b="1" dirty="0"/>
              <a:t>Completions Tab</a:t>
            </a:r>
          </a:p>
        </p:txBody>
      </p:sp>
      <p:sp>
        <p:nvSpPr>
          <p:cNvPr id="63" name="Rectangle: Rounded Corners 62">
            <a:extLst>
              <a:ext uri="{FF2B5EF4-FFF2-40B4-BE49-F238E27FC236}">
                <a16:creationId xmlns:a16="http://schemas.microsoft.com/office/drawing/2014/main" id="{6C5CA798-13BD-15E5-2D17-33206C7FB4AB}"/>
              </a:ext>
            </a:extLst>
          </p:cNvPr>
          <p:cNvSpPr/>
          <p:nvPr/>
        </p:nvSpPr>
        <p:spPr>
          <a:xfrm>
            <a:off x="3001592" y="2302442"/>
            <a:ext cx="1852560" cy="228466"/>
          </a:xfrm>
          <a:prstGeom prst="roundRect">
            <a:avLst/>
          </a:prstGeom>
          <a:ln>
            <a:solidFill>
              <a:schemeClr val="bg2">
                <a:lumMod val="10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1600" b="1" dirty="0"/>
              <a:t>Type Curves Tab</a:t>
            </a:r>
          </a:p>
        </p:txBody>
      </p:sp>
      <p:sp>
        <p:nvSpPr>
          <p:cNvPr id="64" name="Rectangle: Rounded Corners 63">
            <a:extLst>
              <a:ext uri="{FF2B5EF4-FFF2-40B4-BE49-F238E27FC236}">
                <a16:creationId xmlns:a16="http://schemas.microsoft.com/office/drawing/2014/main" id="{9CFE3E1B-4648-A12C-D754-F7C4A3808A3F}"/>
              </a:ext>
            </a:extLst>
          </p:cNvPr>
          <p:cNvSpPr/>
          <p:nvPr/>
        </p:nvSpPr>
        <p:spPr>
          <a:xfrm>
            <a:off x="3011886" y="3887486"/>
            <a:ext cx="1831969" cy="168753"/>
          </a:xfrm>
          <a:prstGeom prst="roundRect">
            <a:avLst/>
          </a:prstGeom>
          <a:ln>
            <a:solidFill>
              <a:schemeClr val="bg2">
                <a:lumMod val="10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1600" b="1" dirty="0"/>
              <a:t>CGR &amp; WGR Tab</a:t>
            </a:r>
          </a:p>
        </p:txBody>
      </p:sp>
      <p:sp>
        <p:nvSpPr>
          <p:cNvPr id="65" name="Rectangle: Rounded Corners 64">
            <a:extLst>
              <a:ext uri="{FF2B5EF4-FFF2-40B4-BE49-F238E27FC236}">
                <a16:creationId xmlns:a16="http://schemas.microsoft.com/office/drawing/2014/main" id="{9C9DB453-4C90-6594-39F8-999497B0433F}"/>
              </a:ext>
            </a:extLst>
          </p:cNvPr>
          <p:cNvSpPr/>
          <p:nvPr/>
        </p:nvSpPr>
        <p:spPr>
          <a:xfrm>
            <a:off x="2944117" y="5372531"/>
            <a:ext cx="1967504" cy="185891"/>
          </a:xfrm>
          <a:prstGeom prst="roundRect">
            <a:avLst/>
          </a:prstGeom>
          <a:ln>
            <a:solidFill>
              <a:schemeClr val="bg2">
                <a:lumMod val="10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1600" b="1" dirty="0"/>
              <a:t>Capital Costs Tab</a:t>
            </a:r>
          </a:p>
        </p:txBody>
      </p:sp>
      <p:sp>
        <p:nvSpPr>
          <p:cNvPr id="74" name="Rectangle: Rounded Corners 73">
            <a:extLst>
              <a:ext uri="{FF2B5EF4-FFF2-40B4-BE49-F238E27FC236}">
                <a16:creationId xmlns:a16="http://schemas.microsoft.com/office/drawing/2014/main" id="{CCB44650-52C4-6399-AB1C-43D46251DE55}"/>
              </a:ext>
            </a:extLst>
          </p:cNvPr>
          <p:cNvSpPr/>
          <p:nvPr/>
        </p:nvSpPr>
        <p:spPr>
          <a:xfrm>
            <a:off x="5572399" y="1375763"/>
            <a:ext cx="3497249" cy="568663"/>
          </a:xfrm>
          <a:prstGeom prst="roundRect">
            <a:avLst/>
          </a:prstGeom>
          <a:ln>
            <a:solidFill>
              <a:schemeClr val="bg2">
                <a:lumMod val="10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1600" dirty="0"/>
              <a:t>Calculates total sand volume (used in royalties), stage count, etc.</a:t>
            </a:r>
          </a:p>
        </p:txBody>
      </p:sp>
      <p:sp>
        <p:nvSpPr>
          <p:cNvPr id="75" name="Rectangle: Rounded Corners 74">
            <a:extLst>
              <a:ext uri="{FF2B5EF4-FFF2-40B4-BE49-F238E27FC236}">
                <a16:creationId xmlns:a16="http://schemas.microsoft.com/office/drawing/2014/main" id="{E6817F54-DEDE-1598-749D-76E88FB7FB68}"/>
              </a:ext>
            </a:extLst>
          </p:cNvPr>
          <p:cNvSpPr/>
          <p:nvPr/>
        </p:nvSpPr>
        <p:spPr>
          <a:xfrm>
            <a:off x="5572400" y="2772625"/>
            <a:ext cx="3497249" cy="700634"/>
          </a:xfrm>
          <a:prstGeom prst="roundRect">
            <a:avLst/>
          </a:prstGeom>
          <a:ln>
            <a:solidFill>
              <a:schemeClr val="bg2">
                <a:lumMod val="10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1600" dirty="0"/>
              <a:t>Generates volume forecast parameters by sub-area, scales curves by completable length.</a:t>
            </a:r>
          </a:p>
        </p:txBody>
      </p:sp>
      <p:sp>
        <p:nvSpPr>
          <p:cNvPr id="82" name="Rectangle: Rounded Corners 81">
            <a:extLst>
              <a:ext uri="{FF2B5EF4-FFF2-40B4-BE49-F238E27FC236}">
                <a16:creationId xmlns:a16="http://schemas.microsoft.com/office/drawing/2014/main" id="{3D8E9FB7-5FD2-F58C-368C-620EBD210D29}"/>
              </a:ext>
            </a:extLst>
          </p:cNvPr>
          <p:cNvSpPr/>
          <p:nvPr/>
        </p:nvSpPr>
        <p:spPr>
          <a:xfrm>
            <a:off x="5572398" y="4375227"/>
            <a:ext cx="3497249" cy="535121"/>
          </a:xfrm>
          <a:prstGeom prst="roundRect">
            <a:avLst/>
          </a:prstGeom>
          <a:ln>
            <a:solidFill>
              <a:schemeClr val="bg2">
                <a:lumMod val="10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1600" dirty="0"/>
              <a:t>Creates a month-by-month ratio forecast.</a:t>
            </a:r>
          </a:p>
        </p:txBody>
      </p:sp>
      <p:sp>
        <p:nvSpPr>
          <p:cNvPr id="83" name="Rectangle: Rounded Corners 82">
            <a:extLst>
              <a:ext uri="{FF2B5EF4-FFF2-40B4-BE49-F238E27FC236}">
                <a16:creationId xmlns:a16="http://schemas.microsoft.com/office/drawing/2014/main" id="{EA87F632-2905-BEE0-9473-33B9D7BC5F0C}"/>
              </a:ext>
            </a:extLst>
          </p:cNvPr>
          <p:cNvSpPr/>
          <p:nvPr/>
        </p:nvSpPr>
        <p:spPr>
          <a:xfrm>
            <a:off x="5571082" y="5541221"/>
            <a:ext cx="3497249" cy="1223732"/>
          </a:xfrm>
          <a:prstGeom prst="roundRect">
            <a:avLst/>
          </a:prstGeom>
          <a:ln>
            <a:solidFill>
              <a:schemeClr val="bg2">
                <a:lumMod val="10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1600" dirty="0"/>
              <a:t>Calculates drilling cost (by zone), and completions cost (based on sand calculated in the completions tab). Updates Gas Equip and Gathering Cost.</a:t>
            </a:r>
          </a:p>
        </p:txBody>
      </p:sp>
      <p:cxnSp>
        <p:nvCxnSpPr>
          <p:cNvPr id="85" name="Straight Arrow Connector 84">
            <a:extLst>
              <a:ext uri="{FF2B5EF4-FFF2-40B4-BE49-F238E27FC236}">
                <a16:creationId xmlns:a16="http://schemas.microsoft.com/office/drawing/2014/main" id="{1928AC99-26D1-06D8-3926-D62A11484EEF}"/>
              </a:ext>
            </a:extLst>
          </p:cNvPr>
          <p:cNvCxnSpPr>
            <a:stCxn id="43" idx="3"/>
            <a:endCxn id="74" idx="1"/>
          </p:cNvCxnSpPr>
          <p:nvPr/>
        </p:nvCxnSpPr>
        <p:spPr>
          <a:xfrm>
            <a:off x="4656213" y="1660095"/>
            <a:ext cx="916186"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86" name="Straight Arrow Connector 85">
            <a:extLst>
              <a:ext uri="{FF2B5EF4-FFF2-40B4-BE49-F238E27FC236}">
                <a16:creationId xmlns:a16="http://schemas.microsoft.com/office/drawing/2014/main" id="{6350267D-A442-7875-8480-312FD820D820}"/>
              </a:ext>
            </a:extLst>
          </p:cNvPr>
          <p:cNvCxnSpPr>
            <a:cxnSpLocks/>
            <a:stCxn id="41" idx="3"/>
            <a:endCxn id="75" idx="1"/>
          </p:cNvCxnSpPr>
          <p:nvPr/>
        </p:nvCxnSpPr>
        <p:spPr>
          <a:xfrm flipV="1">
            <a:off x="4641738" y="3122942"/>
            <a:ext cx="930662" cy="9546"/>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90" name="Straight Arrow Connector 89">
            <a:extLst>
              <a:ext uri="{FF2B5EF4-FFF2-40B4-BE49-F238E27FC236}">
                <a16:creationId xmlns:a16="http://schemas.microsoft.com/office/drawing/2014/main" id="{E3B55D6F-FDE9-159F-98E2-65E9A7884115}"/>
              </a:ext>
            </a:extLst>
          </p:cNvPr>
          <p:cNvCxnSpPr>
            <a:cxnSpLocks/>
            <a:stCxn id="39" idx="3"/>
            <a:endCxn id="82" idx="1"/>
          </p:cNvCxnSpPr>
          <p:nvPr/>
        </p:nvCxnSpPr>
        <p:spPr>
          <a:xfrm>
            <a:off x="5079859" y="4642788"/>
            <a:ext cx="492539"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94" name="Straight Arrow Connector 93">
            <a:extLst>
              <a:ext uri="{FF2B5EF4-FFF2-40B4-BE49-F238E27FC236}">
                <a16:creationId xmlns:a16="http://schemas.microsoft.com/office/drawing/2014/main" id="{E5ADAE01-BE17-76AA-8F29-B080F5539E5D}"/>
              </a:ext>
            </a:extLst>
          </p:cNvPr>
          <p:cNvCxnSpPr>
            <a:cxnSpLocks/>
            <a:stCxn id="45" idx="3"/>
            <a:endCxn id="83" idx="1"/>
          </p:cNvCxnSpPr>
          <p:nvPr/>
        </p:nvCxnSpPr>
        <p:spPr>
          <a:xfrm>
            <a:off x="4872295" y="6134037"/>
            <a:ext cx="698787" cy="1905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99" name="Straight Arrow Connector 98">
            <a:extLst>
              <a:ext uri="{FF2B5EF4-FFF2-40B4-BE49-F238E27FC236}">
                <a16:creationId xmlns:a16="http://schemas.microsoft.com/office/drawing/2014/main" id="{18A99601-E2E4-38D2-471D-DB2D6D2BA1D5}"/>
              </a:ext>
            </a:extLst>
          </p:cNvPr>
          <p:cNvCxnSpPr>
            <a:cxnSpLocks/>
            <a:stCxn id="83" idx="3"/>
          </p:cNvCxnSpPr>
          <p:nvPr/>
        </p:nvCxnSpPr>
        <p:spPr>
          <a:xfrm flipV="1">
            <a:off x="9068331" y="3887486"/>
            <a:ext cx="1028980" cy="2265601"/>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02" name="Straight Arrow Connector 101">
            <a:extLst>
              <a:ext uri="{FF2B5EF4-FFF2-40B4-BE49-F238E27FC236}">
                <a16:creationId xmlns:a16="http://schemas.microsoft.com/office/drawing/2014/main" id="{07FC170F-9CF2-BD3E-561E-79EBF914EE52}"/>
              </a:ext>
            </a:extLst>
          </p:cNvPr>
          <p:cNvCxnSpPr>
            <a:cxnSpLocks/>
            <a:stCxn id="82" idx="3"/>
          </p:cNvCxnSpPr>
          <p:nvPr/>
        </p:nvCxnSpPr>
        <p:spPr>
          <a:xfrm flipV="1">
            <a:off x="9069647" y="3763361"/>
            <a:ext cx="1027664" cy="879427"/>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05" name="Straight Arrow Connector 104">
            <a:extLst>
              <a:ext uri="{FF2B5EF4-FFF2-40B4-BE49-F238E27FC236}">
                <a16:creationId xmlns:a16="http://schemas.microsoft.com/office/drawing/2014/main" id="{F7BA4075-58F5-0DF1-19CF-E254B33FA4D5}"/>
              </a:ext>
            </a:extLst>
          </p:cNvPr>
          <p:cNvCxnSpPr>
            <a:cxnSpLocks/>
            <a:stCxn id="75" idx="3"/>
          </p:cNvCxnSpPr>
          <p:nvPr/>
        </p:nvCxnSpPr>
        <p:spPr>
          <a:xfrm>
            <a:off x="9069649" y="3122942"/>
            <a:ext cx="1027662" cy="556132"/>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08" name="Straight Arrow Connector 107">
            <a:extLst>
              <a:ext uri="{FF2B5EF4-FFF2-40B4-BE49-F238E27FC236}">
                <a16:creationId xmlns:a16="http://schemas.microsoft.com/office/drawing/2014/main" id="{CCC79375-10B3-8285-C890-2C33DC20D2FC}"/>
              </a:ext>
            </a:extLst>
          </p:cNvPr>
          <p:cNvCxnSpPr>
            <a:cxnSpLocks/>
            <a:stCxn id="74" idx="3"/>
          </p:cNvCxnSpPr>
          <p:nvPr/>
        </p:nvCxnSpPr>
        <p:spPr>
          <a:xfrm>
            <a:off x="9069648" y="1660095"/>
            <a:ext cx="1027662" cy="1894853"/>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23" name="TextBox 122">
            <a:extLst>
              <a:ext uri="{FF2B5EF4-FFF2-40B4-BE49-F238E27FC236}">
                <a16:creationId xmlns:a16="http://schemas.microsoft.com/office/drawing/2014/main" id="{36F340DB-8C7D-C9DF-4FF0-1F92A937FEA9}"/>
              </a:ext>
            </a:extLst>
          </p:cNvPr>
          <p:cNvSpPr txBox="1"/>
          <p:nvPr/>
        </p:nvSpPr>
        <p:spPr>
          <a:xfrm>
            <a:off x="9549025" y="5271457"/>
            <a:ext cx="2473779" cy="1384995"/>
          </a:xfrm>
          <a:prstGeom prst="rect">
            <a:avLst/>
          </a:prstGeom>
          <a:solidFill>
            <a:schemeClr val="bg2"/>
          </a:solidFill>
          <a:ln>
            <a:solidFill>
              <a:schemeClr val="tx1">
                <a:lumMod val="40000"/>
                <a:lumOff val="60000"/>
              </a:schemeClr>
            </a:solidFill>
          </a:ln>
        </p:spPr>
        <p:txBody>
          <a:bodyPr wrap="square" rtlCol="0">
            <a:spAutoFit/>
          </a:bodyPr>
          <a:lstStyle/>
          <a:p>
            <a:pPr algn="ctr">
              <a:spcAft>
                <a:spcPts val="1200"/>
              </a:spcAft>
            </a:pPr>
            <a:r>
              <a:rPr lang="en-US" sz="1200" b="1" dirty="0"/>
              <a:t>Conclusion: </a:t>
            </a:r>
            <a:r>
              <a:rPr lang="en-US" sz="1200" dirty="0"/>
              <a:t> The dashboard automates processing and uses the auto-calculated drilling and completed lengths - key well parameters - reducing time while increasing field development plan accuracy.</a:t>
            </a:r>
            <a:endParaRPr lang="en-US" sz="2000" dirty="0"/>
          </a:p>
        </p:txBody>
      </p:sp>
      <p:pic>
        <p:nvPicPr>
          <p:cNvPr id="125" name="Picture 124" descr="A person pointing at a map&#10;&#10;AI-generated content may be incorrect.">
            <a:extLst>
              <a:ext uri="{FF2B5EF4-FFF2-40B4-BE49-F238E27FC236}">
                <a16:creationId xmlns:a16="http://schemas.microsoft.com/office/drawing/2014/main" id="{AD06A1A9-2321-9259-39E2-6DBD35893831}"/>
              </a:ext>
            </a:extLst>
          </p:cNvPr>
          <p:cNvPicPr>
            <a:picLocks noChangeAspect="1"/>
          </p:cNvPicPr>
          <p:nvPr/>
        </p:nvPicPr>
        <p:blipFill>
          <a:blip r:embed="rId8"/>
          <a:stretch>
            <a:fillRect/>
          </a:stretch>
        </p:blipFill>
        <p:spPr>
          <a:xfrm>
            <a:off x="9897542" y="2503516"/>
            <a:ext cx="2353714" cy="2353714"/>
          </a:xfrm>
          <a:prstGeom prst="rect">
            <a:avLst/>
          </a:prstGeom>
        </p:spPr>
      </p:pic>
    </p:spTree>
    <p:extLst>
      <p:ext uri="{BB962C8B-B14F-4D97-AF65-F5344CB8AC3E}">
        <p14:creationId xmlns:p14="http://schemas.microsoft.com/office/powerpoint/2010/main" val="3104167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0F8E305-1607-0CCD-2099-13EA9719E79E}"/>
              </a:ext>
            </a:extLst>
          </p:cNvPr>
          <p:cNvSpPr>
            <a:spLocks noGrp="1"/>
          </p:cNvSpPr>
          <p:nvPr>
            <p:ph type="title"/>
          </p:nvPr>
        </p:nvSpPr>
        <p:spPr>
          <a:xfrm>
            <a:off x="838200" y="658842"/>
            <a:ext cx="10515600" cy="648878"/>
          </a:xfrm>
        </p:spPr>
        <p:txBody>
          <a:bodyPr/>
          <a:lstStyle/>
          <a:p>
            <a:r>
              <a:rPr lang="en-US" dirty="0"/>
              <a:t>FDP Workflow – Applications</a:t>
            </a:r>
          </a:p>
        </p:txBody>
      </p:sp>
      <p:sp>
        <p:nvSpPr>
          <p:cNvPr id="4" name="Text Placeholder 3">
            <a:extLst>
              <a:ext uri="{FF2B5EF4-FFF2-40B4-BE49-F238E27FC236}">
                <a16:creationId xmlns:a16="http://schemas.microsoft.com/office/drawing/2014/main" id="{823EB697-B581-1FBE-F0D3-6D8E789E17CD}"/>
              </a:ext>
            </a:extLst>
          </p:cNvPr>
          <p:cNvSpPr>
            <a:spLocks noGrp="1"/>
          </p:cNvSpPr>
          <p:nvPr>
            <p:ph type="body" sz="quarter" idx="10"/>
          </p:nvPr>
        </p:nvSpPr>
        <p:spPr>
          <a:xfrm>
            <a:off x="1155311" y="1419676"/>
            <a:ext cx="4570979" cy="181397"/>
          </a:xfrm>
        </p:spPr>
        <p:txBody>
          <a:bodyPr/>
          <a:lstStyle/>
          <a:p>
            <a:pPr algn="ctr"/>
            <a:r>
              <a:rPr lang="en-US" b="1" dirty="0"/>
              <a:t>Gold Creek Infrastructure Planning</a:t>
            </a:r>
          </a:p>
        </p:txBody>
      </p:sp>
      <p:sp>
        <p:nvSpPr>
          <p:cNvPr id="5" name="Text Placeholder 4">
            <a:extLst>
              <a:ext uri="{FF2B5EF4-FFF2-40B4-BE49-F238E27FC236}">
                <a16:creationId xmlns:a16="http://schemas.microsoft.com/office/drawing/2014/main" id="{53938AD0-9831-5118-DF60-EE2172B816FD}"/>
              </a:ext>
            </a:extLst>
          </p:cNvPr>
          <p:cNvSpPr>
            <a:spLocks noGrp="1"/>
          </p:cNvSpPr>
          <p:nvPr>
            <p:ph type="body" sz="quarter" idx="11"/>
          </p:nvPr>
        </p:nvSpPr>
        <p:spPr/>
        <p:txBody>
          <a:bodyPr/>
          <a:lstStyle/>
          <a:p>
            <a:r>
              <a:rPr lang="en-US" dirty="0"/>
              <a:t>Field Development Planning</a:t>
            </a:r>
          </a:p>
        </p:txBody>
      </p:sp>
      <p:sp>
        <p:nvSpPr>
          <p:cNvPr id="6" name="Footer Placeholder 5">
            <a:extLst>
              <a:ext uri="{FF2B5EF4-FFF2-40B4-BE49-F238E27FC236}">
                <a16:creationId xmlns:a16="http://schemas.microsoft.com/office/drawing/2014/main" id="{2A066DBA-952C-74A5-7C87-B8D5333A2FE3}"/>
              </a:ext>
            </a:extLst>
          </p:cNvPr>
          <p:cNvSpPr>
            <a:spLocks noGrp="1"/>
          </p:cNvSpPr>
          <p:nvPr>
            <p:ph type="ftr" sz="quarter" idx="3"/>
          </p:nvPr>
        </p:nvSpPr>
        <p:spPr/>
        <p:txBody>
          <a:bodyPr/>
          <a:lstStyle/>
          <a:p>
            <a:r>
              <a:rPr lang="en-US" b="1">
                <a:latin typeface="Arial" panose="020B0604020202020204" pitchFamily="34" charset="0"/>
              </a:rPr>
              <a:t>NuVista Energy Ltd.</a:t>
            </a:r>
            <a:endParaRPr lang="en-US" dirty="0">
              <a:latin typeface="Arial" panose="020B0604020202020204" pitchFamily="34" charset="0"/>
            </a:endParaRPr>
          </a:p>
        </p:txBody>
      </p:sp>
      <p:sp>
        <p:nvSpPr>
          <p:cNvPr id="7" name="Slide Number Placeholder 6">
            <a:extLst>
              <a:ext uri="{FF2B5EF4-FFF2-40B4-BE49-F238E27FC236}">
                <a16:creationId xmlns:a16="http://schemas.microsoft.com/office/drawing/2014/main" id="{CA35BC50-0AC5-0DBF-6D6C-349E14D710F0}"/>
              </a:ext>
            </a:extLst>
          </p:cNvPr>
          <p:cNvSpPr>
            <a:spLocks noGrp="1"/>
          </p:cNvSpPr>
          <p:nvPr>
            <p:ph type="sldNum" sz="quarter" idx="4"/>
          </p:nvPr>
        </p:nvSpPr>
        <p:spPr/>
        <p:txBody>
          <a:bodyPr/>
          <a:lstStyle/>
          <a:p>
            <a:fld id="{D246DD65-7063-5C41-96CC-23CB1F95FA91}" type="slidenum">
              <a:rPr lang="en-US" smtClean="0"/>
              <a:pPr/>
              <a:t>7</a:t>
            </a:fld>
            <a:endParaRPr lang="en-US" dirty="0"/>
          </a:p>
        </p:txBody>
      </p:sp>
      <p:pic>
        <p:nvPicPr>
          <p:cNvPr id="9" name="Picture 8">
            <a:extLst>
              <a:ext uri="{FF2B5EF4-FFF2-40B4-BE49-F238E27FC236}">
                <a16:creationId xmlns:a16="http://schemas.microsoft.com/office/drawing/2014/main" id="{13B9A1F8-23AB-6AA8-EB33-2295458B718F}"/>
              </a:ext>
            </a:extLst>
          </p:cNvPr>
          <p:cNvPicPr>
            <a:picLocks noChangeAspect="1"/>
          </p:cNvPicPr>
          <p:nvPr/>
        </p:nvPicPr>
        <p:blipFill>
          <a:blip r:embed="rId2"/>
          <a:stretch>
            <a:fillRect/>
          </a:stretch>
        </p:blipFill>
        <p:spPr>
          <a:xfrm>
            <a:off x="881910" y="2888993"/>
            <a:ext cx="5117782" cy="3116544"/>
          </a:xfrm>
          <a:prstGeom prst="rect">
            <a:avLst/>
          </a:prstGeom>
        </p:spPr>
      </p:pic>
      <p:sp>
        <p:nvSpPr>
          <p:cNvPr id="10" name="Text Placeholder 3">
            <a:extLst>
              <a:ext uri="{FF2B5EF4-FFF2-40B4-BE49-F238E27FC236}">
                <a16:creationId xmlns:a16="http://schemas.microsoft.com/office/drawing/2014/main" id="{C47452A1-9D03-4997-EACE-EAC2DE4FE726}"/>
              </a:ext>
            </a:extLst>
          </p:cNvPr>
          <p:cNvSpPr txBox="1">
            <a:spLocks/>
          </p:cNvSpPr>
          <p:nvPr/>
        </p:nvSpPr>
        <p:spPr>
          <a:xfrm>
            <a:off x="1155311" y="1782320"/>
            <a:ext cx="4570979" cy="515832"/>
          </a:xfrm>
          <a:prstGeom prst="rect">
            <a:avLst/>
          </a:prstGeom>
        </p:spPr>
        <p:txBody>
          <a:bodyPr vert="horz" lIns="0" tIns="0" rIns="0" bIns="0" rtlCol="0">
            <a:noAutofit/>
          </a:bodyPr>
          <a:lstStyle>
            <a:lvl1pPr marL="0" indent="0" algn="l" defTabSz="914400" rtl="0" eaLnBrk="1" latinLnBrk="0" hangingPunct="1">
              <a:lnSpc>
                <a:spcPct val="90000"/>
              </a:lnSpc>
              <a:spcBef>
                <a:spcPts val="1000"/>
              </a:spcBef>
              <a:buFont typeface="Arial" panose="020B0604020202020204" pitchFamily="34" charset="0"/>
              <a:buNone/>
              <a:defRPr sz="1800" b="0" i="0" kern="1200">
                <a:solidFill>
                  <a:schemeClr val="tx1"/>
                </a:solidFill>
                <a:latin typeface="Arial" panose="020B0604020202020204" pitchFamily="34" charset="0"/>
                <a:ea typeface="Roboto Medium" panose="02000000000000000000" pitchFamily="2" charset="0"/>
                <a:cs typeface="+mn-cs"/>
              </a:defRPr>
            </a:lvl1pPr>
            <a:lvl2pPr marL="182563" indent="-173038" algn="l" defTabSz="914400" rtl="0" eaLnBrk="1" latinLnBrk="0" hangingPunct="1">
              <a:lnSpc>
                <a:spcPct val="90000"/>
              </a:lnSpc>
              <a:spcBef>
                <a:spcPts val="500"/>
              </a:spcBef>
              <a:buClr>
                <a:schemeClr val="accent1"/>
              </a:buClr>
              <a:buFont typeface="Arial" panose="020B0604020202020204" pitchFamily="34" charset="0"/>
              <a:buChar char="•"/>
              <a:tabLst/>
              <a:defRPr sz="1600" b="0" i="0" kern="1200">
                <a:solidFill>
                  <a:schemeClr val="tx1"/>
                </a:solidFill>
                <a:latin typeface="Arial" panose="020B0604020202020204" pitchFamily="34" charset="0"/>
                <a:ea typeface="Roboto" panose="02000000000000000000" pitchFamily="2" charset="0"/>
                <a:cs typeface="+mn-cs"/>
              </a:defRPr>
            </a:lvl2pPr>
            <a:lvl3pPr marL="365125" indent="-142875" algn="l" defTabSz="914400" rtl="0" eaLnBrk="1" latinLnBrk="0" hangingPunct="1">
              <a:lnSpc>
                <a:spcPct val="90000"/>
              </a:lnSpc>
              <a:spcBef>
                <a:spcPts val="500"/>
              </a:spcBef>
              <a:buClr>
                <a:schemeClr val="accent1"/>
              </a:buClr>
              <a:buFont typeface="Arial" panose="020B0604020202020204" pitchFamily="34" charset="0"/>
              <a:buChar char="•"/>
              <a:tabLst/>
              <a:defRPr sz="1600" b="0" i="0" kern="1200">
                <a:solidFill>
                  <a:schemeClr val="tx1"/>
                </a:solidFill>
                <a:latin typeface="Arial" panose="020B0604020202020204" pitchFamily="34" charset="0"/>
                <a:ea typeface="Roboto" panose="02000000000000000000" pitchFamily="2" charset="0"/>
                <a:cs typeface="+mn-cs"/>
              </a:defRPr>
            </a:lvl3pPr>
            <a:lvl4pPr marL="538163" indent="-131763" algn="l" defTabSz="914400" rtl="0" eaLnBrk="1" latinLnBrk="0" hangingPunct="1">
              <a:lnSpc>
                <a:spcPct val="90000"/>
              </a:lnSpc>
              <a:spcBef>
                <a:spcPts val="500"/>
              </a:spcBef>
              <a:buClr>
                <a:schemeClr val="accent1"/>
              </a:buClr>
              <a:buFont typeface="Arial" panose="020B0604020202020204" pitchFamily="34" charset="0"/>
              <a:buChar char="•"/>
              <a:tabLst/>
              <a:defRPr sz="1600" b="0" i="0" kern="1200">
                <a:solidFill>
                  <a:schemeClr val="tx1"/>
                </a:solidFill>
                <a:latin typeface="Arial" panose="020B0604020202020204" pitchFamily="34" charset="0"/>
                <a:ea typeface="Roboto" panose="02000000000000000000" pitchFamily="2" charset="0"/>
                <a:cs typeface="+mn-cs"/>
              </a:defRPr>
            </a:lvl4pPr>
            <a:lvl5pPr marL="720725" indent="-142875" algn="l" defTabSz="914400" rtl="0" eaLnBrk="1" latinLnBrk="0" hangingPunct="1">
              <a:lnSpc>
                <a:spcPct val="90000"/>
              </a:lnSpc>
              <a:spcBef>
                <a:spcPts val="500"/>
              </a:spcBef>
              <a:buClr>
                <a:schemeClr val="accent1"/>
              </a:buClr>
              <a:buFont typeface="Arial" panose="020B0604020202020204" pitchFamily="34" charset="0"/>
              <a:buChar char="•"/>
              <a:tabLst/>
              <a:defRPr sz="1600" b="0" i="0" kern="1200">
                <a:solidFill>
                  <a:schemeClr val="tx1"/>
                </a:solidFill>
                <a:latin typeface="Arial" panose="020B0604020202020204" pitchFamily="34" charset="0"/>
                <a:ea typeface="Roboto" panose="02000000000000000000"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400" dirty="0"/>
              <a:t>Workflow applied to assess the GC FDP for long-range volumetric planning through 2040, providing volume recommendations for hydraulic modeling. In collaboration with Aaron Shaw to deliver an accurate evaluation of the recommended gas-gathering system.</a:t>
            </a:r>
          </a:p>
        </p:txBody>
      </p:sp>
      <p:cxnSp>
        <p:nvCxnSpPr>
          <p:cNvPr id="11" name="Straight Connector 10">
            <a:extLst>
              <a:ext uri="{FF2B5EF4-FFF2-40B4-BE49-F238E27FC236}">
                <a16:creationId xmlns:a16="http://schemas.microsoft.com/office/drawing/2014/main" id="{31F2C8AB-9F01-F715-27C6-0DE257895940}"/>
              </a:ext>
            </a:extLst>
          </p:cNvPr>
          <p:cNvCxnSpPr>
            <a:cxnSpLocks/>
          </p:cNvCxnSpPr>
          <p:nvPr/>
        </p:nvCxnSpPr>
        <p:spPr>
          <a:xfrm>
            <a:off x="6266014" y="1301754"/>
            <a:ext cx="0" cy="4703783"/>
          </a:xfrm>
          <a:prstGeom prst="line">
            <a:avLst/>
          </a:prstGeom>
        </p:spPr>
        <p:style>
          <a:lnRef idx="3">
            <a:schemeClr val="dk1"/>
          </a:lnRef>
          <a:fillRef idx="0">
            <a:schemeClr val="dk1"/>
          </a:fillRef>
          <a:effectRef idx="2">
            <a:schemeClr val="dk1"/>
          </a:effectRef>
          <a:fontRef idx="minor">
            <a:schemeClr val="tx1"/>
          </a:fontRef>
        </p:style>
      </p:cxnSp>
      <p:sp>
        <p:nvSpPr>
          <p:cNvPr id="14" name="TextBox 13">
            <a:extLst>
              <a:ext uri="{FF2B5EF4-FFF2-40B4-BE49-F238E27FC236}">
                <a16:creationId xmlns:a16="http://schemas.microsoft.com/office/drawing/2014/main" id="{2FA40D00-D062-7C8F-9757-335425E2585C}"/>
              </a:ext>
            </a:extLst>
          </p:cNvPr>
          <p:cNvSpPr txBox="1"/>
          <p:nvPr/>
        </p:nvSpPr>
        <p:spPr>
          <a:xfrm>
            <a:off x="6782420" y="1338070"/>
            <a:ext cx="4949383" cy="369332"/>
          </a:xfrm>
          <a:prstGeom prst="rect">
            <a:avLst/>
          </a:prstGeom>
          <a:noFill/>
        </p:spPr>
        <p:txBody>
          <a:bodyPr wrap="square">
            <a:spAutoFit/>
          </a:bodyPr>
          <a:lstStyle/>
          <a:p>
            <a:pPr algn="ctr"/>
            <a:r>
              <a:rPr lang="en-US" b="1" dirty="0"/>
              <a:t>GORR Evaluation – Risked PV10</a:t>
            </a:r>
          </a:p>
        </p:txBody>
      </p:sp>
      <p:sp>
        <p:nvSpPr>
          <p:cNvPr id="15" name="Text Placeholder 3">
            <a:extLst>
              <a:ext uri="{FF2B5EF4-FFF2-40B4-BE49-F238E27FC236}">
                <a16:creationId xmlns:a16="http://schemas.microsoft.com/office/drawing/2014/main" id="{86B42210-0CFD-C326-790D-28A3B3B404CD}"/>
              </a:ext>
            </a:extLst>
          </p:cNvPr>
          <p:cNvSpPr txBox="1">
            <a:spLocks/>
          </p:cNvSpPr>
          <p:nvPr/>
        </p:nvSpPr>
        <p:spPr>
          <a:xfrm>
            <a:off x="6782420" y="1762522"/>
            <a:ext cx="4949385" cy="515832"/>
          </a:xfrm>
          <a:prstGeom prst="rect">
            <a:avLst/>
          </a:prstGeom>
        </p:spPr>
        <p:txBody>
          <a:bodyPr vert="horz" lIns="0" tIns="0" rIns="0" bIns="0" rtlCol="0">
            <a:noAutofit/>
          </a:bodyPr>
          <a:lstStyle>
            <a:lvl1pPr marL="0" indent="0" algn="l" defTabSz="914400" rtl="0" eaLnBrk="1" latinLnBrk="0" hangingPunct="1">
              <a:lnSpc>
                <a:spcPct val="90000"/>
              </a:lnSpc>
              <a:spcBef>
                <a:spcPts val="1000"/>
              </a:spcBef>
              <a:buFont typeface="Arial" panose="020B0604020202020204" pitchFamily="34" charset="0"/>
              <a:buNone/>
              <a:defRPr sz="1800" b="0" i="0" kern="1200">
                <a:solidFill>
                  <a:schemeClr val="tx1"/>
                </a:solidFill>
                <a:latin typeface="Arial" panose="020B0604020202020204" pitchFamily="34" charset="0"/>
                <a:ea typeface="Roboto Medium" panose="02000000000000000000" pitchFamily="2" charset="0"/>
                <a:cs typeface="+mn-cs"/>
              </a:defRPr>
            </a:lvl1pPr>
            <a:lvl2pPr marL="182563" indent="-173038" algn="l" defTabSz="914400" rtl="0" eaLnBrk="1" latinLnBrk="0" hangingPunct="1">
              <a:lnSpc>
                <a:spcPct val="90000"/>
              </a:lnSpc>
              <a:spcBef>
                <a:spcPts val="500"/>
              </a:spcBef>
              <a:buClr>
                <a:schemeClr val="accent1"/>
              </a:buClr>
              <a:buFont typeface="Arial" panose="020B0604020202020204" pitchFamily="34" charset="0"/>
              <a:buChar char="•"/>
              <a:tabLst/>
              <a:defRPr sz="1600" b="0" i="0" kern="1200">
                <a:solidFill>
                  <a:schemeClr val="tx1"/>
                </a:solidFill>
                <a:latin typeface="Arial" panose="020B0604020202020204" pitchFamily="34" charset="0"/>
                <a:ea typeface="Roboto" panose="02000000000000000000" pitchFamily="2" charset="0"/>
                <a:cs typeface="+mn-cs"/>
              </a:defRPr>
            </a:lvl2pPr>
            <a:lvl3pPr marL="365125" indent="-142875" algn="l" defTabSz="914400" rtl="0" eaLnBrk="1" latinLnBrk="0" hangingPunct="1">
              <a:lnSpc>
                <a:spcPct val="90000"/>
              </a:lnSpc>
              <a:spcBef>
                <a:spcPts val="500"/>
              </a:spcBef>
              <a:buClr>
                <a:schemeClr val="accent1"/>
              </a:buClr>
              <a:buFont typeface="Arial" panose="020B0604020202020204" pitchFamily="34" charset="0"/>
              <a:buChar char="•"/>
              <a:tabLst/>
              <a:defRPr sz="1600" b="0" i="0" kern="1200">
                <a:solidFill>
                  <a:schemeClr val="tx1"/>
                </a:solidFill>
                <a:latin typeface="Arial" panose="020B0604020202020204" pitchFamily="34" charset="0"/>
                <a:ea typeface="Roboto" panose="02000000000000000000" pitchFamily="2" charset="0"/>
                <a:cs typeface="+mn-cs"/>
              </a:defRPr>
            </a:lvl3pPr>
            <a:lvl4pPr marL="538163" indent="-131763" algn="l" defTabSz="914400" rtl="0" eaLnBrk="1" latinLnBrk="0" hangingPunct="1">
              <a:lnSpc>
                <a:spcPct val="90000"/>
              </a:lnSpc>
              <a:spcBef>
                <a:spcPts val="500"/>
              </a:spcBef>
              <a:buClr>
                <a:schemeClr val="accent1"/>
              </a:buClr>
              <a:buFont typeface="Arial" panose="020B0604020202020204" pitchFamily="34" charset="0"/>
              <a:buChar char="•"/>
              <a:tabLst/>
              <a:defRPr sz="1600" b="0" i="0" kern="1200">
                <a:solidFill>
                  <a:schemeClr val="tx1"/>
                </a:solidFill>
                <a:latin typeface="Arial" panose="020B0604020202020204" pitchFamily="34" charset="0"/>
                <a:ea typeface="Roboto" panose="02000000000000000000" pitchFamily="2" charset="0"/>
                <a:cs typeface="+mn-cs"/>
              </a:defRPr>
            </a:lvl4pPr>
            <a:lvl5pPr marL="720725" indent="-142875" algn="l" defTabSz="914400" rtl="0" eaLnBrk="1" latinLnBrk="0" hangingPunct="1">
              <a:lnSpc>
                <a:spcPct val="90000"/>
              </a:lnSpc>
              <a:spcBef>
                <a:spcPts val="500"/>
              </a:spcBef>
              <a:buClr>
                <a:schemeClr val="accent1"/>
              </a:buClr>
              <a:buFont typeface="Arial" panose="020B0604020202020204" pitchFamily="34" charset="0"/>
              <a:buChar char="•"/>
              <a:tabLst/>
              <a:defRPr sz="1600" b="0" i="0" kern="1200">
                <a:solidFill>
                  <a:schemeClr val="tx1"/>
                </a:solidFill>
                <a:latin typeface="Arial" panose="020B0604020202020204" pitchFamily="34" charset="0"/>
                <a:ea typeface="Roboto" panose="02000000000000000000"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400" dirty="0"/>
              <a:t>The new workflow enabled a precise evaluation of the Gold Creek sections, quantifying the change in Risked PV10 attributable to each section’s respective GORR. This was achieved using exact linear meterage measurements, ensuring accuracy in assessing the economic impact at a granular level.</a:t>
            </a:r>
            <a:endParaRPr lang="en-US" sz="1400" dirty="0">
              <a:solidFill>
                <a:srgbClr val="FF0000"/>
              </a:solidFill>
            </a:endParaRPr>
          </a:p>
        </p:txBody>
      </p:sp>
      <p:pic>
        <p:nvPicPr>
          <p:cNvPr id="17" name="Picture 16">
            <a:extLst>
              <a:ext uri="{FF2B5EF4-FFF2-40B4-BE49-F238E27FC236}">
                <a16:creationId xmlns:a16="http://schemas.microsoft.com/office/drawing/2014/main" id="{638589DE-93F1-6172-9CDB-1697D767FC3F}"/>
              </a:ext>
            </a:extLst>
          </p:cNvPr>
          <p:cNvPicPr>
            <a:picLocks noChangeAspect="1"/>
          </p:cNvPicPr>
          <p:nvPr/>
        </p:nvPicPr>
        <p:blipFill>
          <a:blip r:embed="rId3"/>
          <a:stretch>
            <a:fillRect/>
          </a:stretch>
        </p:blipFill>
        <p:spPr>
          <a:xfrm>
            <a:off x="6417776" y="3041327"/>
            <a:ext cx="5681596" cy="2949004"/>
          </a:xfrm>
          <a:prstGeom prst="rect">
            <a:avLst/>
          </a:prstGeom>
        </p:spPr>
      </p:pic>
      <p:sp>
        <p:nvSpPr>
          <p:cNvPr id="18" name="TextBox 17">
            <a:extLst>
              <a:ext uri="{FF2B5EF4-FFF2-40B4-BE49-F238E27FC236}">
                <a16:creationId xmlns:a16="http://schemas.microsoft.com/office/drawing/2014/main" id="{45427282-21FA-3A57-8EFB-57DFA9C3A05F}"/>
              </a:ext>
            </a:extLst>
          </p:cNvPr>
          <p:cNvSpPr txBox="1"/>
          <p:nvPr/>
        </p:nvSpPr>
        <p:spPr>
          <a:xfrm>
            <a:off x="3891651" y="6186784"/>
            <a:ext cx="4528448" cy="461665"/>
          </a:xfrm>
          <a:prstGeom prst="rect">
            <a:avLst/>
          </a:prstGeom>
          <a:solidFill>
            <a:schemeClr val="bg2"/>
          </a:solidFill>
          <a:ln>
            <a:solidFill>
              <a:schemeClr val="tx1">
                <a:lumMod val="40000"/>
                <a:lumOff val="60000"/>
              </a:schemeClr>
            </a:solidFill>
          </a:ln>
        </p:spPr>
        <p:txBody>
          <a:bodyPr wrap="square" rtlCol="0">
            <a:spAutoFit/>
          </a:bodyPr>
          <a:lstStyle/>
          <a:p>
            <a:pPr algn="ctr">
              <a:spcAft>
                <a:spcPts val="1200"/>
              </a:spcAft>
            </a:pPr>
            <a:r>
              <a:rPr lang="en-US" sz="1200" b="1" dirty="0"/>
              <a:t>Conclusion: </a:t>
            </a:r>
            <a:r>
              <a:rPr lang="en-US" sz="1200" dirty="0"/>
              <a:t>The new FDP workflow delivers faster, more precise volumetric and economic analyses.</a:t>
            </a:r>
            <a:endParaRPr lang="en-US" sz="2000" dirty="0"/>
          </a:p>
        </p:txBody>
      </p:sp>
      <p:sp>
        <p:nvSpPr>
          <p:cNvPr id="8" name="Rectangle: Rounded Corners 7">
            <a:extLst>
              <a:ext uri="{FF2B5EF4-FFF2-40B4-BE49-F238E27FC236}">
                <a16:creationId xmlns:a16="http://schemas.microsoft.com/office/drawing/2014/main" id="{B4FA58C9-7F18-455E-10A0-827368467743}"/>
              </a:ext>
            </a:extLst>
          </p:cNvPr>
          <p:cNvSpPr/>
          <p:nvPr/>
        </p:nvSpPr>
        <p:spPr>
          <a:xfrm>
            <a:off x="6699255" y="75846"/>
            <a:ext cx="697225" cy="376415"/>
          </a:xfrm>
          <a:prstGeom prst="roundRect">
            <a:avLst/>
          </a:prstGeom>
          <a:ln>
            <a:solidFill>
              <a:schemeClr val="bg2">
                <a:lumMod val="10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900" dirty="0">
                <a:latin typeface="Arial" panose="020B0604020202020204" pitchFamily="34" charset="0"/>
                <a:cs typeface="Arial" panose="020B0604020202020204" pitchFamily="34" charset="0"/>
              </a:rPr>
              <a:t>FDP Shapefile</a:t>
            </a:r>
          </a:p>
        </p:txBody>
      </p:sp>
      <p:sp>
        <p:nvSpPr>
          <p:cNvPr id="12" name="Rectangle: Rounded Corners 11">
            <a:extLst>
              <a:ext uri="{FF2B5EF4-FFF2-40B4-BE49-F238E27FC236}">
                <a16:creationId xmlns:a16="http://schemas.microsoft.com/office/drawing/2014/main" id="{C18F0E52-2903-3A3D-E5CB-A36D463E5F0A}"/>
              </a:ext>
            </a:extLst>
          </p:cNvPr>
          <p:cNvSpPr/>
          <p:nvPr/>
        </p:nvSpPr>
        <p:spPr>
          <a:xfrm>
            <a:off x="7612089" y="75846"/>
            <a:ext cx="938159" cy="376415"/>
          </a:xfrm>
          <a:prstGeom prst="roundRect">
            <a:avLst/>
          </a:prstGeom>
          <a:ln w="12700">
            <a:solidFill>
              <a:schemeClr val="bg2">
                <a:lumMod val="10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900" dirty="0">
                <a:latin typeface="Arial" panose="020B0604020202020204" pitchFamily="34" charset="0"/>
                <a:cs typeface="Arial" panose="020B0604020202020204" pitchFamily="34" charset="0"/>
              </a:rPr>
              <a:t>Calculation Code</a:t>
            </a:r>
          </a:p>
        </p:txBody>
      </p:sp>
      <p:sp>
        <p:nvSpPr>
          <p:cNvPr id="13" name="Rectangle: Rounded Corners 12">
            <a:extLst>
              <a:ext uri="{FF2B5EF4-FFF2-40B4-BE49-F238E27FC236}">
                <a16:creationId xmlns:a16="http://schemas.microsoft.com/office/drawing/2014/main" id="{6B543366-5D52-D920-4731-BF4D6CEADFB3}"/>
              </a:ext>
            </a:extLst>
          </p:cNvPr>
          <p:cNvSpPr/>
          <p:nvPr/>
        </p:nvSpPr>
        <p:spPr>
          <a:xfrm>
            <a:off x="8750541" y="71429"/>
            <a:ext cx="911620" cy="376415"/>
          </a:xfrm>
          <a:prstGeom prst="roundRect">
            <a:avLst/>
          </a:prstGeom>
          <a:ln w="12700">
            <a:solidFill>
              <a:schemeClr val="bg2">
                <a:lumMod val="10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900" dirty="0">
                <a:latin typeface="Arial" panose="020B0604020202020204" pitchFamily="34" charset="0"/>
                <a:cs typeface="Arial" panose="020B0604020202020204" pitchFamily="34" charset="0"/>
              </a:rPr>
              <a:t>Auto-name Code</a:t>
            </a:r>
          </a:p>
        </p:txBody>
      </p:sp>
      <p:sp>
        <p:nvSpPr>
          <p:cNvPr id="16" name="Rectangle: Rounded Corners 15">
            <a:extLst>
              <a:ext uri="{FF2B5EF4-FFF2-40B4-BE49-F238E27FC236}">
                <a16:creationId xmlns:a16="http://schemas.microsoft.com/office/drawing/2014/main" id="{B41D3503-52AA-D04A-A47F-C6D6156EEF1E}"/>
              </a:ext>
            </a:extLst>
          </p:cNvPr>
          <p:cNvSpPr/>
          <p:nvPr/>
        </p:nvSpPr>
        <p:spPr>
          <a:xfrm>
            <a:off x="9888991" y="66715"/>
            <a:ext cx="938159" cy="376415"/>
          </a:xfrm>
          <a:prstGeom prst="roundRect">
            <a:avLst/>
          </a:prstGeom>
          <a:ln w="12700">
            <a:solidFill>
              <a:schemeClr val="bg2">
                <a:lumMod val="10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900" dirty="0">
                <a:latin typeface="Arial" panose="020B0604020202020204" pitchFamily="34" charset="0"/>
                <a:cs typeface="Arial" panose="020B0604020202020204" pitchFamily="34" charset="0"/>
              </a:rPr>
              <a:t>Dynamic Dashboard</a:t>
            </a:r>
          </a:p>
        </p:txBody>
      </p:sp>
      <p:sp>
        <p:nvSpPr>
          <p:cNvPr id="19" name="Rectangle: Rounded Corners 18">
            <a:extLst>
              <a:ext uri="{FF2B5EF4-FFF2-40B4-BE49-F238E27FC236}">
                <a16:creationId xmlns:a16="http://schemas.microsoft.com/office/drawing/2014/main" id="{16A2E59A-B34A-A058-3CB5-5B0777D69F20}"/>
              </a:ext>
            </a:extLst>
          </p:cNvPr>
          <p:cNvSpPr/>
          <p:nvPr/>
        </p:nvSpPr>
        <p:spPr>
          <a:xfrm>
            <a:off x="11084645" y="68407"/>
            <a:ext cx="938159" cy="376415"/>
          </a:xfrm>
          <a:prstGeom prst="roundRect">
            <a:avLst/>
          </a:prstGeom>
          <a:ln w="28575">
            <a:solidFill>
              <a:srgbClr val="00B05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900" b="1" dirty="0">
                <a:latin typeface="Arial" panose="020B0604020202020204" pitchFamily="34" charset="0"/>
                <a:cs typeface="Arial" panose="020B0604020202020204" pitchFamily="34" charset="0"/>
              </a:rPr>
              <a:t>Ready for Evaluation</a:t>
            </a:r>
          </a:p>
        </p:txBody>
      </p:sp>
      <p:cxnSp>
        <p:nvCxnSpPr>
          <p:cNvPr id="20" name="Straight Arrow Connector 19">
            <a:extLst>
              <a:ext uri="{FF2B5EF4-FFF2-40B4-BE49-F238E27FC236}">
                <a16:creationId xmlns:a16="http://schemas.microsoft.com/office/drawing/2014/main" id="{E76A0AA2-E713-EFF6-8E2F-32CA23F714F4}"/>
              </a:ext>
            </a:extLst>
          </p:cNvPr>
          <p:cNvCxnSpPr>
            <a:stCxn id="8" idx="3"/>
            <a:endCxn id="12" idx="1"/>
          </p:cNvCxnSpPr>
          <p:nvPr/>
        </p:nvCxnSpPr>
        <p:spPr>
          <a:xfrm>
            <a:off x="7396480" y="264054"/>
            <a:ext cx="21560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05480A96-71DD-A951-5508-8010248FD462}"/>
              </a:ext>
            </a:extLst>
          </p:cNvPr>
          <p:cNvCxnSpPr>
            <a:cxnSpLocks/>
            <a:stCxn id="12" idx="3"/>
            <a:endCxn id="13" idx="1"/>
          </p:cNvCxnSpPr>
          <p:nvPr/>
        </p:nvCxnSpPr>
        <p:spPr>
          <a:xfrm flipV="1">
            <a:off x="8550248" y="259637"/>
            <a:ext cx="200293" cy="441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A16A4D5C-701F-6670-4B07-327A387A27CD}"/>
              </a:ext>
            </a:extLst>
          </p:cNvPr>
          <p:cNvCxnSpPr>
            <a:cxnSpLocks/>
            <a:stCxn id="13" idx="3"/>
            <a:endCxn id="16" idx="1"/>
          </p:cNvCxnSpPr>
          <p:nvPr/>
        </p:nvCxnSpPr>
        <p:spPr>
          <a:xfrm flipV="1">
            <a:off x="9662161" y="254923"/>
            <a:ext cx="226830" cy="47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DC177684-041E-849F-2B32-7104715A9208}"/>
              </a:ext>
            </a:extLst>
          </p:cNvPr>
          <p:cNvCxnSpPr>
            <a:cxnSpLocks/>
            <a:stCxn id="16" idx="3"/>
            <a:endCxn id="19" idx="1"/>
          </p:cNvCxnSpPr>
          <p:nvPr/>
        </p:nvCxnSpPr>
        <p:spPr>
          <a:xfrm>
            <a:off x="10827150" y="254923"/>
            <a:ext cx="257495" cy="169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738844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A062791-6D65-A8C5-6E6A-CE11FB899814}"/>
              </a:ext>
            </a:extLst>
          </p:cNvPr>
          <p:cNvSpPr>
            <a:spLocks noGrp="1"/>
          </p:cNvSpPr>
          <p:nvPr>
            <p:ph type="title"/>
          </p:nvPr>
        </p:nvSpPr>
        <p:spPr/>
        <p:txBody>
          <a:bodyPr/>
          <a:lstStyle/>
          <a:p>
            <a:r>
              <a:rPr lang="en-US" dirty="0"/>
              <a:t>Frac Spotfire Dashboard</a:t>
            </a:r>
            <a:endParaRPr lang="en-US" dirty="0">
              <a:solidFill>
                <a:srgbClr val="FF0000"/>
              </a:solidFill>
            </a:endParaRPr>
          </a:p>
        </p:txBody>
      </p:sp>
      <p:sp>
        <p:nvSpPr>
          <p:cNvPr id="5" name="Text Placeholder 4">
            <a:extLst>
              <a:ext uri="{FF2B5EF4-FFF2-40B4-BE49-F238E27FC236}">
                <a16:creationId xmlns:a16="http://schemas.microsoft.com/office/drawing/2014/main" id="{5E0888A8-BD71-1674-944E-22F0A9ADBAF8}"/>
              </a:ext>
            </a:extLst>
          </p:cNvPr>
          <p:cNvSpPr>
            <a:spLocks noGrp="1"/>
          </p:cNvSpPr>
          <p:nvPr>
            <p:ph type="body" sz="quarter" idx="11"/>
          </p:nvPr>
        </p:nvSpPr>
        <p:spPr/>
        <p:txBody>
          <a:bodyPr/>
          <a:lstStyle/>
          <a:p>
            <a:endParaRPr lang="en-US" dirty="0"/>
          </a:p>
        </p:txBody>
      </p:sp>
      <p:sp>
        <p:nvSpPr>
          <p:cNvPr id="6" name="Footer Placeholder 5">
            <a:extLst>
              <a:ext uri="{FF2B5EF4-FFF2-40B4-BE49-F238E27FC236}">
                <a16:creationId xmlns:a16="http://schemas.microsoft.com/office/drawing/2014/main" id="{45EE75F8-BD65-A749-8F02-6F41DF3A6D2D}"/>
              </a:ext>
            </a:extLst>
          </p:cNvPr>
          <p:cNvSpPr>
            <a:spLocks noGrp="1"/>
          </p:cNvSpPr>
          <p:nvPr>
            <p:ph type="ftr" sz="quarter" idx="3"/>
          </p:nvPr>
        </p:nvSpPr>
        <p:spPr/>
        <p:txBody>
          <a:bodyPr/>
          <a:lstStyle/>
          <a:p>
            <a:r>
              <a:rPr lang="en-US" b="1">
                <a:latin typeface="Arial" panose="020B0604020202020204" pitchFamily="34" charset="0"/>
              </a:rPr>
              <a:t>NuVista Energy Ltd.</a:t>
            </a:r>
            <a:endParaRPr lang="en-US" dirty="0">
              <a:latin typeface="Arial" panose="020B0604020202020204" pitchFamily="34" charset="0"/>
            </a:endParaRPr>
          </a:p>
        </p:txBody>
      </p:sp>
      <p:sp>
        <p:nvSpPr>
          <p:cNvPr id="7" name="Slide Number Placeholder 6">
            <a:extLst>
              <a:ext uri="{FF2B5EF4-FFF2-40B4-BE49-F238E27FC236}">
                <a16:creationId xmlns:a16="http://schemas.microsoft.com/office/drawing/2014/main" id="{73A58114-B30A-BFED-1EF2-12415A339928}"/>
              </a:ext>
            </a:extLst>
          </p:cNvPr>
          <p:cNvSpPr>
            <a:spLocks noGrp="1"/>
          </p:cNvSpPr>
          <p:nvPr>
            <p:ph type="sldNum" sz="quarter" idx="4"/>
          </p:nvPr>
        </p:nvSpPr>
        <p:spPr/>
        <p:txBody>
          <a:bodyPr/>
          <a:lstStyle/>
          <a:p>
            <a:fld id="{D246DD65-7063-5C41-96CC-23CB1F95FA91}" type="slidenum">
              <a:rPr lang="en-US" smtClean="0"/>
              <a:pPr/>
              <a:t>8</a:t>
            </a:fld>
            <a:endParaRPr lang="en-US" dirty="0"/>
          </a:p>
        </p:txBody>
      </p:sp>
      <p:sp>
        <p:nvSpPr>
          <p:cNvPr id="8" name="Text Placeholder 3">
            <a:extLst>
              <a:ext uri="{FF2B5EF4-FFF2-40B4-BE49-F238E27FC236}">
                <a16:creationId xmlns:a16="http://schemas.microsoft.com/office/drawing/2014/main" id="{14E11152-0216-788E-6E77-743521A14C80}"/>
              </a:ext>
            </a:extLst>
          </p:cNvPr>
          <p:cNvSpPr txBox="1">
            <a:spLocks/>
          </p:cNvSpPr>
          <p:nvPr/>
        </p:nvSpPr>
        <p:spPr>
          <a:xfrm>
            <a:off x="838197" y="1175596"/>
            <a:ext cx="10515600" cy="229704"/>
          </a:xfrm>
          <a:prstGeom prst="rect">
            <a:avLst/>
          </a:prstGeom>
        </p:spPr>
        <p:txBody>
          <a:bodyPr vert="horz" lIns="0" tIns="0" rIns="0" bIns="0" rtlCol="0">
            <a:noAutofit/>
          </a:bodyPr>
          <a:lstStyle>
            <a:lvl1pPr marL="0" indent="0" algn="l" defTabSz="914400" rtl="0" eaLnBrk="1" latinLnBrk="0" hangingPunct="1">
              <a:lnSpc>
                <a:spcPct val="90000"/>
              </a:lnSpc>
              <a:spcBef>
                <a:spcPts val="1000"/>
              </a:spcBef>
              <a:buFont typeface="Arial" panose="020B0604020202020204" pitchFamily="34" charset="0"/>
              <a:buNone/>
              <a:defRPr sz="1800" b="0" i="0" kern="1200">
                <a:solidFill>
                  <a:schemeClr val="tx1"/>
                </a:solidFill>
                <a:latin typeface="Arial" panose="020B0604020202020204" pitchFamily="34" charset="0"/>
                <a:ea typeface="Roboto Medium" panose="02000000000000000000" pitchFamily="2" charset="0"/>
                <a:cs typeface="+mn-cs"/>
              </a:defRPr>
            </a:lvl1pPr>
            <a:lvl2pPr marL="182563" indent="-173038" algn="l" defTabSz="914400" rtl="0" eaLnBrk="1" latinLnBrk="0" hangingPunct="1">
              <a:lnSpc>
                <a:spcPct val="90000"/>
              </a:lnSpc>
              <a:spcBef>
                <a:spcPts val="500"/>
              </a:spcBef>
              <a:buClr>
                <a:schemeClr val="accent1"/>
              </a:buClr>
              <a:buFont typeface="Arial" panose="020B0604020202020204" pitchFamily="34" charset="0"/>
              <a:buChar char="•"/>
              <a:tabLst/>
              <a:defRPr sz="1600" b="0" i="0" kern="1200">
                <a:solidFill>
                  <a:schemeClr val="tx1"/>
                </a:solidFill>
                <a:latin typeface="Arial" panose="020B0604020202020204" pitchFamily="34" charset="0"/>
                <a:ea typeface="Roboto" panose="02000000000000000000" pitchFamily="2" charset="0"/>
                <a:cs typeface="+mn-cs"/>
              </a:defRPr>
            </a:lvl2pPr>
            <a:lvl3pPr marL="365125" indent="-142875" algn="l" defTabSz="914400" rtl="0" eaLnBrk="1" latinLnBrk="0" hangingPunct="1">
              <a:lnSpc>
                <a:spcPct val="90000"/>
              </a:lnSpc>
              <a:spcBef>
                <a:spcPts val="500"/>
              </a:spcBef>
              <a:buClr>
                <a:schemeClr val="accent1"/>
              </a:buClr>
              <a:buFont typeface="Arial" panose="020B0604020202020204" pitchFamily="34" charset="0"/>
              <a:buChar char="•"/>
              <a:tabLst/>
              <a:defRPr sz="1600" b="0" i="0" kern="1200">
                <a:solidFill>
                  <a:schemeClr val="tx1"/>
                </a:solidFill>
                <a:latin typeface="Arial" panose="020B0604020202020204" pitchFamily="34" charset="0"/>
                <a:ea typeface="Roboto" panose="02000000000000000000" pitchFamily="2" charset="0"/>
                <a:cs typeface="+mn-cs"/>
              </a:defRPr>
            </a:lvl3pPr>
            <a:lvl4pPr marL="538163" indent="-131763" algn="l" defTabSz="914400" rtl="0" eaLnBrk="1" latinLnBrk="0" hangingPunct="1">
              <a:lnSpc>
                <a:spcPct val="90000"/>
              </a:lnSpc>
              <a:spcBef>
                <a:spcPts val="500"/>
              </a:spcBef>
              <a:buClr>
                <a:schemeClr val="accent1"/>
              </a:buClr>
              <a:buFont typeface="Arial" panose="020B0604020202020204" pitchFamily="34" charset="0"/>
              <a:buChar char="•"/>
              <a:tabLst/>
              <a:defRPr sz="1600" b="0" i="0" kern="1200">
                <a:solidFill>
                  <a:schemeClr val="tx1"/>
                </a:solidFill>
                <a:latin typeface="Arial" panose="020B0604020202020204" pitchFamily="34" charset="0"/>
                <a:ea typeface="Roboto" panose="02000000000000000000" pitchFamily="2" charset="0"/>
                <a:cs typeface="+mn-cs"/>
              </a:defRPr>
            </a:lvl4pPr>
            <a:lvl5pPr marL="720725" indent="-142875" algn="l" defTabSz="914400" rtl="0" eaLnBrk="1" latinLnBrk="0" hangingPunct="1">
              <a:lnSpc>
                <a:spcPct val="90000"/>
              </a:lnSpc>
              <a:spcBef>
                <a:spcPts val="500"/>
              </a:spcBef>
              <a:buClr>
                <a:schemeClr val="accent1"/>
              </a:buClr>
              <a:buFont typeface="Arial" panose="020B0604020202020204" pitchFamily="34" charset="0"/>
              <a:buChar char="•"/>
              <a:tabLst/>
              <a:defRPr sz="1600" b="0" i="0" kern="1200">
                <a:solidFill>
                  <a:schemeClr val="tx1"/>
                </a:solidFill>
                <a:latin typeface="Arial" panose="020B0604020202020204" pitchFamily="34" charset="0"/>
                <a:ea typeface="Roboto" panose="02000000000000000000"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Frac Dashboards integrated with Python Code allow for efficient</a:t>
            </a:r>
            <a:r>
              <a:rPr lang="en-US" dirty="0">
                <a:solidFill>
                  <a:srgbClr val="FF0000"/>
                </a:solidFill>
              </a:rPr>
              <a:t> </a:t>
            </a:r>
            <a:r>
              <a:rPr lang="en-US" dirty="0"/>
              <a:t>real-time monitoring to create data-driven improvements during operations. Used by team daily during operations in morning call.</a:t>
            </a:r>
          </a:p>
        </p:txBody>
      </p:sp>
      <p:sp>
        <p:nvSpPr>
          <p:cNvPr id="10" name="TextBox 9">
            <a:extLst>
              <a:ext uri="{FF2B5EF4-FFF2-40B4-BE49-F238E27FC236}">
                <a16:creationId xmlns:a16="http://schemas.microsoft.com/office/drawing/2014/main" id="{EA0F0487-C5E3-A211-963D-239B8B76A877}"/>
              </a:ext>
            </a:extLst>
          </p:cNvPr>
          <p:cNvSpPr txBox="1"/>
          <p:nvPr/>
        </p:nvSpPr>
        <p:spPr>
          <a:xfrm>
            <a:off x="3069683" y="5443887"/>
            <a:ext cx="4740138" cy="1292662"/>
          </a:xfrm>
          <a:prstGeom prst="rect">
            <a:avLst/>
          </a:prstGeom>
          <a:solidFill>
            <a:schemeClr val="bg2"/>
          </a:solidFill>
          <a:ln>
            <a:solidFill>
              <a:schemeClr val="tx1">
                <a:lumMod val="40000"/>
                <a:lumOff val="60000"/>
              </a:schemeClr>
            </a:solidFill>
          </a:ln>
        </p:spPr>
        <p:txBody>
          <a:bodyPr wrap="square" rtlCol="0">
            <a:spAutoFit/>
          </a:bodyPr>
          <a:lstStyle/>
          <a:p>
            <a:pPr algn="ctr">
              <a:spcAft>
                <a:spcPts val="1200"/>
              </a:spcAft>
            </a:pPr>
            <a:r>
              <a:rPr lang="en-US" sz="1400" b="1" dirty="0"/>
              <a:t>Frac Dashboards Created:</a:t>
            </a:r>
            <a:endParaRPr lang="en-US" sz="2400" b="1" dirty="0"/>
          </a:p>
          <a:p>
            <a:pPr algn="ctr">
              <a:spcAft>
                <a:spcPts val="1200"/>
              </a:spcAft>
            </a:pPr>
            <a:r>
              <a:rPr lang="en-US" sz="1400" dirty="0"/>
              <a:t>PSN 16-33, ELM 12-05, BIL 10-29, PSN 07-31, ELM 12-01, GC 14-30, ELM 16-35, PSN 12-28 and PSS 02-36P2</a:t>
            </a:r>
          </a:p>
          <a:p>
            <a:pPr algn="ctr">
              <a:spcAft>
                <a:spcPts val="1200"/>
              </a:spcAft>
            </a:pPr>
            <a:r>
              <a:rPr lang="en-US" sz="1400" b="1" dirty="0"/>
              <a:t>Frac Planning and Sequencing created alongside.</a:t>
            </a:r>
            <a:endParaRPr lang="en-US" sz="1000" b="1" dirty="0"/>
          </a:p>
        </p:txBody>
      </p:sp>
      <p:pic>
        <p:nvPicPr>
          <p:cNvPr id="2" name="Picture 1">
            <a:extLst>
              <a:ext uri="{FF2B5EF4-FFF2-40B4-BE49-F238E27FC236}">
                <a16:creationId xmlns:a16="http://schemas.microsoft.com/office/drawing/2014/main" id="{910D664B-F63B-B089-6D7C-26389795B375}"/>
              </a:ext>
            </a:extLst>
          </p:cNvPr>
          <p:cNvPicPr>
            <a:picLocks noChangeAspect="1"/>
          </p:cNvPicPr>
          <p:nvPr/>
        </p:nvPicPr>
        <p:blipFill>
          <a:blip r:embed="rId2"/>
          <a:stretch>
            <a:fillRect/>
          </a:stretch>
        </p:blipFill>
        <p:spPr>
          <a:xfrm>
            <a:off x="287094" y="2405747"/>
            <a:ext cx="2269708" cy="2477741"/>
          </a:xfrm>
          <a:prstGeom prst="rect">
            <a:avLst/>
          </a:prstGeom>
          <a:ln>
            <a:solidFill>
              <a:schemeClr val="tx1"/>
            </a:solidFill>
          </a:ln>
        </p:spPr>
      </p:pic>
      <p:pic>
        <p:nvPicPr>
          <p:cNvPr id="4" name="Picture 3">
            <a:extLst>
              <a:ext uri="{FF2B5EF4-FFF2-40B4-BE49-F238E27FC236}">
                <a16:creationId xmlns:a16="http://schemas.microsoft.com/office/drawing/2014/main" id="{9573A686-F112-647A-BBEB-8F80B554471C}"/>
              </a:ext>
            </a:extLst>
          </p:cNvPr>
          <p:cNvPicPr>
            <a:picLocks noChangeAspect="1"/>
          </p:cNvPicPr>
          <p:nvPr/>
        </p:nvPicPr>
        <p:blipFill>
          <a:blip r:embed="rId3"/>
          <a:stretch>
            <a:fillRect/>
          </a:stretch>
        </p:blipFill>
        <p:spPr>
          <a:xfrm>
            <a:off x="502511" y="2559749"/>
            <a:ext cx="2278742" cy="2446449"/>
          </a:xfrm>
          <a:prstGeom prst="rect">
            <a:avLst/>
          </a:prstGeom>
          <a:ln>
            <a:solidFill>
              <a:schemeClr val="tx1"/>
            </a:solidFill>
          </a:ln>
        </p:spPr>
      </p:pic>
      <p:pic>
        <p:nvPicPr>
          <p:cNvPr id="11" name="Picture 10">
            <a:extLst>
              <a:ext uri="{FF2B5EF4-FFF2-40B4-BE49-F238E27FC236}">
                <a16:creationId xmlns:a16="http://schemas.microsoft.com/office/drawing/2014/main" id="{0D738853-2E32-43DC-02FD-8F614F671267}"/>
              </a:ext>
            </a:extLst>
          </p:cNvPr>
          <p:cNvPicPr>
            <a:picLocks noChangeAspect="1"/>
          </p:cNvPicPr>
          <p:nvPr/>
        </p:nvPicPr>
        <p:blipFill>
          <a:blip r:embed="rId4"/>
          <a:stretch>
            <a:fillRect/>
          </a:stretch>
        </p:blipFill>
        <p:spPr>
          <a:xfrm>
            <a:off x="691078" y="2748318"/>
            <a:ext cx="2461453" cy="2474281"/>
          </a:xfrm>
          <a:prstGeom prst="rect">
            <a:avLst/>
          </a:prstGeom>
          <a:ln>
            <a:solidFill>
              <a:schemeClr val="tx1"/>
            </a:solidFill>
          </a:ln>
        </p:spPr>
      </p:pic>
      <p:sp>
        <p:nvSpPr>
          <p:cNvPr id="12" name="Text Placeholder 3">
            <a:extLst>
              <a:ext uri="{FF2B5EF4-FFF2-40B4-BE49-F238E27FC236}">
                <a16:creationId xmlns:a16="http://schemas.microsoft.com/office/drawing/2014/main" id="{DB42D6FA-B374-1443-4201-483E786BD0EA}"/>
              </a:ext>
            </a:extLst>
          </p:cNvPr>
          <p:cNvSpPr>
            <a:spLocks noGrp="1"/>
          </p:cNvSpPr>
          <p:nvPr>
            <p:ph type="body" sz="quarter" idx="10"/>
          </p:nvPr>
        </p:nvSpPr>
        <p:spPr>
          <a:xfrm>
            <a:off x="129342" y="2085408"/>
            <a:ext cx="3211756" cy="258542"/>
          </a:xfrm>
        </p:spPr>
        <p:txBody>
          <a:bodyPr/>
          <a:lstStyle/>
          <a:p>
            <a:pPr algn="ctr"/>
            <a:r>
              <a:rPr lang="en-US" b="1" dirty="0"/>
              <a:t>Raw Pumping Data</a:t>
            </a:r>
          </a:p>
        </p:txBody>
      </p:sp>
      <p:pic>
        <p:nvPicPr>
          <p:cNvPr id="15" name="Picture 14">
            <a:extLst>
              <a:ext uri="{FF2B5EF4-FFF2-40B4-BE49-F238E27FC236}">
                <a16:creationId xmlns:a16="http://schemas.microsoft.com/office/drawing/2014/main" id="{727F28A0-C435-AA21-29D5-3A184F9EB0FC}"/>
              </a:ext>
            </a:extLst>
          </p:cNvPr>
          <p:cNvPicPr>
            <a:picLocks noChangeAspect="1"/>
          </p:cNvPicPr>
          <p:nvPr/>
        </p:nvPicPr>
        <p:blipFill>
          <a:blip r:embed="rId5"/>
          <a:stretch>
            <a:fillRect/>
          </a:stretch>
        </p:blipFill>
        <p:spPr>
          <a:xfrm>
            <a:off x="4113253" y="2388224"/>
            <a:ext cx="2038327" cy="2424461"/>
          </a:xfrm>
          <a:prstGeom prst="rect">
            <a:avLst/>
          </a:prstGeom>
          <a:solidFill>
            <a:srgbClr val="FDFDFD"/>
          </a:solidFill>
        </p:spPr>
      </p:pic>
      <p:pic>
        <p:nvPicPr>
          <p:cNvPr id="17" name="Picture 16">
            <a:extLst>
              <a:ext uri="{FF2B5EF4-FFF2-40B4-BE49-F238E27FC236}">
                <a16:creationId xmlns:a16="http://schemas.microsoft.com/office/drawing/2014/main" id="{2BA0FF53-C2F3-30C0-F2CF-881C5AC339FA}"/>
              </a:ext>
            </a:extLst>
          </p:cNvPr>
          <p:cNvPicPr>
            <a:picLocks noChangeAspect="1"/>
          </p:cNvPicPr>
          <p:nvPr/>
        </p:nvPicPr>
        <p:blipFill>
          <a:blip r:embed="rId6"/>
          <a:stretch>
            <a:fillRect/>
          </a:stretch>
        </p:blipFill>
        <p:spPr>
          <a:xfrm>
            <a:off x="4301675" y="2675888"/>
            <a:ext cx="2276154" cy="2474281"/>
          </a:xfrm>
          <a:prstGeom prst="rect">
            <a:avLst/>
          </a:prstGeom>
          <a:ln>
            <a:solidFill>
              <a:schemeClr val="dk1">
                <a:shade val="50000"/>
              </a:schemeClr>
            </a:solidFill>
          </a:ln>
        </p:spPr>
      </p:pic>
      <p:pic>
        <p:nvPicPr>
          <p:cNvPr id="25" name="Picture 24">
            <a:extLst>
              <a:ext uri="{FF2B5EF4-FFF2-40B4-BE49-F238E27FC236}">
                <a16:creationId xmlns:a16="http://schemas.microsoft.com/office/drawing/2014/main" id="{034C44C2-0C5D-DE79-43DD-F785F6FE2F18}"/>
              </a:ext>
            </a:extLst>
          </p:cNvPr>
          <p:cNvPicPr>
            <a:picLocks noChangeAspect="1"/>
          </p:cNvPicPr>
          <p:nvPr/>
        </p:nvPicPr>
        <p:blipFill>
          <a:blip r:embed="rId7"/>
          <a:stretch>
            <a:fillRect/>
          </a:stretch>
        </p:blipFill>
        <p:spPr>
          <a:xfrm>
            <a:off x="1096413" y="2972957"/>
            <a:ext cx="2116347" cy="2300582"/>
          </a:xfrm>
          <a:prstGeom prst="rect">
            <a:avLst/>
          </a:prstGeom>
          <a:ln>
            <a:solidFill>
              <a:schemeClr val="tx1"/>
            </a:solidFill>
          </a:ln>
        </p:spPr>
      </p:pic>
      <p:sp>
        <p:nvSpPr>
          <p:cNvPr id="26" name="Arrow: Striped Right 25">
            <a:extLst>
              <a:ext uri="{FF2B5EF4-FFF2-40B4-BE49-F238E27FC236}">
                <a16:creationId xmlns:a16="http://schemas.microsoft.com/office/drawing/2014/main" id="{5837B31B-B19B-606B-DDFC-743702A3F1E7}"/>
              </a:ext>
            </a:extLst>
          </p:cNvPr>
          <p:cNvSpPr/>
          <p:nvPr/>
        </p:nvSpPr>
        <p:spPr>
          <a:xfrm>
            <a:off x="3341098" y="3644617"/>
            <a:ext cx="624304" cy="338554"/>
          </a:xfrm>
          <a:prstGeom prst="striped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p>
        </p:txBody>
      </p:sp>
      <p:sp>
        <p:nvSpPr>
          <p:cNvPr id="27" name="Arrow: Striped Right 26">
            <a:extLst>
              <a:ext uri="{FF2B5EF4-FFF2-40B4-BE49-F238E27FC236}">
                <a16:creationId xmlns:a16="http://schemas.microsoft.com/office/drawing/2014/main" id="{4B7AE5B7-3ABE-60A9-4E67-F14538F492C6}"/>
              </a:ext>
            </a:extLst>
          </p:cNvPr>
          <p:cNvSpPr/>
          <p:nvPr/>
        </p:nvSpPr>
        <p:spPr>
          <a:xfrm>
            <a:off x="6859276" y="3613696"/>
            <a:ext cx="624304" cy="338554"/>
          </a:xfrm>
          <a:prstGeom prst="striped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p>
        </p:txBody>
      </p:sp>
      <p:sp>
        <p:nvSpPr>
          <p:cNvPr id="28" name="Text Placeholder 3">
            <a:extLst>
              <a:ext uri="{FF2B5EF4-FFF2-40B4-BE49-F238E27FC236}">
                <a16:creationId xmlns:a16="http://schemas.microsoft.com/office/drawing/2014/main" id="{FFB0839C-9876-CDE3-4517-AC090AC21B48}"/>
              </a:ext>
            </a:extLst>
          </p:cNvPr>
          <p:cNvSpPr txBox="1">
            <a:spLocks/>
          </p:cNvSpPr>
          <p:nvPr/>
        </p:nvSpPr>
        <p:spPr>
          <a:xfrm>
            <a:off x="3892323" y="2077622"/>
            <a:ext cx="3211756" cy="258541"/>
          </a:xfrm>
          <a:prstGeom prst="rect">
            <a:avLst/>
          </a:prstGeom>
        </p:spPr>
        <p:txBody>
          <a:bodyPr vert="horz" lIns="0" tIns="0" rIns="0" bIns="0" rtlCol="0">
            <a:noAutofit/>
          </a:bodyPr>
          <a:lstStyle>
            <a:lvl1pPr marL="0" indent="0" algn="l" defTabSz="914400" rtl="0" eaLnBrk="1" latinLnBrk="0" hangingPunct="1">
              <a:lnSpc>
                <a:spcPct val="90000"/>
              </a:lnSpc>
              <a:spcBef>
                <a:spcPts val="1000"/>
              </a:spcBef>
              <a:buFont typeface="Arial" panose="020B0604020202020204" pitchFamily="34" charset="0"/>
              <a:buNone/>
              <a:defRPr sz="1800" b="0" i="0" kern="1200">
                <a:solidFill>
                  <a:schemeClr val="tx1"/>
                </a:solidFill>
                <a:latin typeface="Arial" panose="020B0604020202020204" pitchFamily="34" charset="0"/>
                <a:ea typeface="Roboto Medium" panose="02000000000000000000" pitchFamily="2" charset="0"/>
                <a:cs typeface="+mn-cs"/>
              </a:defRPr>
            </a:lvl1pPr>
            <a:lvl2pPr marL="182563" indent="-173038" algn="l" defTabSz="914400" rtl="0" eaLnBrk="1" latinLnBrk="0" hangingPunct="1">
              <a:lnSpc>
                <a:spcPct val="90000"/>
              </a:lnSpc>
              <a:spcBef>
                <a:spcPts val="500"/>
              </a:spcBef>
              <a:buClr>
                <a:schemeClr val="accent1"/>
              </a:buClr>
              <a:buFont typeface="Arial" panose="020B0604020202020204" pitchFamily="34" charset="0"/>
              <a:buChar char="•"/>
              <a:tabLst/>
              <a:defRPr sz="1600" b="0" i="0" kern="1200">
                <a:solidFill>
                  <a:schemeClr val="tx1"/>
                </a:solidFill>
                <a:latin typeface="Arial" panose="020B0604020202020204" pitchFamily="34" charset="0"/>
                <a:ea typeface="Roboto" panose="02000000000000000000" pitchFamily="2" charset="0"/>
                <a:cs typeface="+mn-cs"/>
              </a:defRPr>
            </a:lvl2pPr>
            <a:lvl3pPr marL="365125" indent="-142875" algn="l" defTabSz="914400" rtl="0" eaLnBrk="1" latinLnBrk="0" hangingPunct="1">
              <a:lnSpc>
                <a:spcPct val="90000"/>
              </a:lnSpc>
              <a:spcBef>
                <a:spcPts val="500"/>
              </a:spcBef>
              <a:buClr>
                <a:schemeClr val="accent1"/>
              </a:buClr>
              <a:buFont typeface="Arial" panose="020B0604020202020204" pitchFamily="34" charset="0"/>
              <a:buChar char="•"/>
              <a:tabLst/>
              <a:defRPr sz="1600" b="0" i="0" kern="1200">
                <a:solidFill>
                  <a:schemeClr val="tx1"/>
                </a:solidFill>
                <a:latin typeface="Arial" panose="020B0604020202020204" pitchFamily="34" charset="0"/>
                <a:ea typeface="Roboto" panose="02000000000000000000" pitchFamily="2" charset="0"/>
                <a:cs typeface="+mn-cs"/>
              </a:defRPr>
            </a:lvl3pPr>
            <a:lvl4pPr marL="538163" indent="-131763" algn="l" defTabSz="914400" rtl="0" eaLnBrk="1" latinLnBrk="0" hangingPunct="1">
              <a:lnSpc>
                <a:spcPct val="90000"/>
              </a:lnSpc>
              <a:spcBef>
                <a:spcPts val="500"/>
              </a:spcBef>
              <a:buClr>
                <a:schemeClr val="accent1"/>
              </a:buClr>
              <a:buFont typeface="Arial" panose="020B0604020202020204" pitchFamily="34" charset="0"/>
              <a:buChar char="•"/>
              <a:tabLst/>
              <a:defRPr sz="1600" b="0" i="0" kern="1200">
                <a:solidFill>
                  <a:schemeClr val="tx1"/>
                </a:solidFill>
                <a:latin typeface="Arial" panose="020B0604020202020204" pitchFamily="34" charset="0"/>
                <a:ea typeface="Roboto" panose="02000000000000000000" pitchFamily="2" charset="0"/>
                <a:cs typeface="+mn-cs"/>
              </a:defRPr>
            </a:lvl4pPr>
            <a:lvl5pPr marL="720725" indent="-142875" algn="l" defTabSz="914400" rtl="0" eaLnBrk="1" latinLnBrk="0" hangingPunct="1">
              <a:lnSpc>
                <a:spcPct val="90000"/>
              </a:lnSpc>
              <a:spcBef>
                <a:spcPts val="500"/>
              </a:spcBef>
              <a:buClr>
                <a:schemeClr val="accent1"/>
              </a:buClr>
              <a:buFont typeface="Arial" panose="020B0604020202020204" pitchFamily="34" charset="0"/>
              <a:buChar char="•"/>
              <a:tabLst/>
              <a:defRPr sz="1600" b="0" i="0" kern="1200">
                <a:solidFill>
                  <a:schemeClr val="tx1"/>
                </a:solidFill>
                <a:latin typeface="Arial" panose="020B0604020202020204" pitchFamily="34" charset="0"/>
                <a:ea typeface="Roboto" panose="02000000000000000000"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b="1" dirty="0"/>
              <a:t>Auto-run Python Scripts</a:t>
            </a:r>
          </a:p>
        </p:txBody>
      </p:sp>
      <p:pic>
        <p:nvPicPr>
          <p:cNvPr id="30" name="Picture 29">
            <a:extLst>
              <a:ext uri="{FF2B5EF4-FFF2-40B4-BE49-F238E27FC236}">
                <a16:creationId xmlns:a16="http://schemas.microsoft.com/office/drawing/2014/main" id="{710434A3-15FB-7855-385B-1D01672C4B11}"/>
              </a:ext>
            </a:extLst>
          </p:cNvPr>
          <p:cNvPicPr>
            <a:picLocks noChangeAspect="1"/>
          </p:cNvPicPr>
          <p:nvPr/>
        </p:nvPicPr>
        <p:blipFill>
          <a:blip r:embed="rId8"/>
          <a:stretch>
            <a:fillRect/>
          </a:stretch>
        </p:blipFill>
        <p:spPr>
          <a:xfrm>
            <a:off x="4661104" y="3215929"/>
            <a:ext cx="2115827" cy="2053842"/>
          </a:xfrm>
          <a:prstGeom prst="rect">
            <a:avLst/>
          </a:prstGeom>
          <a:ln>
            <a:solidFill>
              <a:schemeClr val="dk1">
                <a:shade val="50000"/>
              </a:schemeClr>
            </a:solidFill>
          </a:ln>
        </p:spPr>
      </p:pic>
      <p:pic>
        <p:nvPicPr>
          <p:cNvPr id="13" name="Picture 12">
            <a:extLst>
              <a:ext uri="{FF2B5EF4-FFF2-40B4-BE49-F238E27FC236}">
                <a16:creationId xmlns:a16="http://schemas.microsoft.com/office/drawing/2014/main" id="{92B70F90-F390-4DDF-7D6D-316CA13CD7F7}"/>
              </a:ext>
            </a:extLst>
          </p:cNvPr>
          <p:cNvPicPr>
            <a:picLocks noChangeAspect="1"/>
          </p:cNvPicPr>
          <p:nvPr/>
        </p:nvPicPr>
        <p:blipFill>
          <a:blip r:embed="rId9"/>
          <a:stretch>
            <a:fillRect/>
          </a:stretch>
        </p:blipFill>
        <p:spPr>
          <a:xfrm>
            <a:off x="7762246" y="2438171"/>
            <a:ext cx="2800255" cy="1493270"/>
          </a:xfrm>
          <a:prstGeom prst="rect">
            <a:avLst/>
          </a:prstGeom>
          <a:ln>
            <a:solidFill>
              <a:schemeClr val="tx1"/>
            </a:solidFill>
          </a:ln>
        </p:spPr>
      </p:pic>
      <p:pic>
        <p:nvPicPr>
          <p:cNvPr id="34" name="Picture 33">
            <a:extLst>
              <a:ext uri="{FF2B5EF4-FFF2-40B4-BE49-F238E27FC236}">
                <a16:creationId xmlns:a16="http://schemas.microsoft.com/office/drawing/2014/main" id="{E290582E-CB82-AE9C-29F8-9065858BBDFE}"/>
              </a:ext>
            </a:extLst>
          </p:cNvPr>
          <p:cNvPicPr>
            <a:picLocks noChangeAspect="1"/>
          </p:cNvPicPr>
          <p:nvPr/>
        </p:nvPicPr>
        <p:blipFill>
          <a:blip r:embed="rId10"/>
          <a:stretch>
            <a:fillRect/>
          </a:stretch>
        </p:blipFill>
        <p:spPr>
          <a:xfrm>
            <a:off x="9094246" y="2776234"/>
            <a:ext cx="2768104" cy="1455202"/>
          </a:xfrm>
          <a:prstGeom prst="rect">
            <a:avLst/>
          </a:prstGeom>
          <a:noFill/>
          <a:ln>
            <a:solidFill>
              <a:schemeClr val="tx1"/>
            </a:solidFill>
          </a:ln>
        </p:spPr>
      </p:pic>
      <p:sp>
        <p:nvSpPr>
          <p:cNvPr id="14" name="Text Placeholder 3">
            <a:extLst>
              <a:ext uri="{FF2B5EF4-FFF2-40B4-BE49-F238E27FC236}">
                <a16:creationId xmlns:a16="http://schemas.microsoft.com/office/drawing/2014/main" id="{3A584F2D-8400-96AC-8D42-B59664DE7684}"/>
              </a:ext>
            </a:extLst>
          </p:cNvPr>
          <p:cNvSpPr txBox="1">
            <a:spLocks/>
          </p:cNvSpPr>
          <p:nvPr/>
        </p:nvSpPr>
        <p:spPr>
          <a:xfrm>
            <a:off x="744104" y="5310609"/>
            <a:ext cx="2037149" cy="177357"/>
          </a:xfrm>
          <a:prstGeom prst="rect">
            <a:avLst/>
          </a:prstGeom>
        </p:spPr>
        <p:txBody>
          <a:bodyPr vert="horz" lIns="0" tIns="0" rIns="0" bIns="0" rtlCol="0">
            <a:noAutofit/>
          </a:bodyPr>
          <a:lstStyle>
            <a:lvl1pPr marL="0" indent="0" algn="l" defTabSz="914400" rtl="0" eaLnBrk="1" latinLnBrk="0" hangingPunct="1">
              <a:lnSpc>
                <a:spcPct val="90000"/>
              </a:lnSpc>
              <a:spcBef>
                <a:spcPts val="1000"/>
              </a:spcBef>
              <a:buFont typeface="Arial" panose="020B0604020202020204" pitchFamily="34" charset="0"/>
              <a:buNone/>
              <a:defRPr sz="1800" b="0" i="0" kern="1200">
                <a:solidFill>
                  <a:schemeClr val="tx1"/>
                </a:solidFill>
                <a:latin typeface="Arial" panose="020B0604020202020204" pitchFamily="34" charset="0"/>
                <a:ea typeface="Roboto Medium" panose="02000000000000000000" pitchFamily="2" charset="0"/>
                <a:cs typeface="+mn-cs"/>
              </a:defRPr>
            </a:lvl1pPr>
            <a:lvl2pPr marL="182563" indent="-173038" algn="l" defTabSz="914400" rtl="0" eaLnBrk="1" latinLnBrk="0" hangingPunct="1">
              <a:lnSpc>
                <a:spcPct val="90000"/>
              </a:lnSpc>
              <a:spcBef>
                <a:spcPts val="500"/>
              </a:spcBef>
              <a:buClr>
                <a:schemeClr val="accent1"/>
              </a:buClr>
              <a:buFont typeface="Arial" panose="020B0604020202020204" pitchFamily="34" charset="0"/>
              <a:buChar char="•"/>
              <a:tabLst/>
              <a:defRPr sz="1600" b="0" i="0" kern="1200">
                <a:solidFill>
                  <a:schemeClr val="tx1"/>
                </a:solidFill>
                <a:latin typeface="Arial" panose="020B0604020202020204" pitchFamily="34" charset="0"/>
                <a:ea typeface="Roboto" panose="02000000000000000000" pitchFamily="2" charset="0"/>
                <a:cs typeface="+mn-cs"/>
              </a:defRPr>
            </a:lvl2pPr>
            <a:lvl3pPr marL="365125" indent="-142875" algn="l" defTabSz="914400" rtl="0" eaLnBrk="1" latinLnBrk="0" hangingPunct="1">
              <a:lnSpc>
                <a:spcPct val="90000"/>
              </a:lnSpc>
              <a:spcBef>
                <a:spcPts val="500"/>
              </a:spcBef>
              <a:buClr>
                <a:schemeClr val="accent1"/>
              </a:buClr>
              <a:buFont typeface="Arial" panose="020B0604020202020204" pitchFamily="34" charset="0"/>
              <a:buChar char="•"/>
              <a:tabLst/>
              <a:defRPr sz="1600" b="0" i="0" kern="1200">
                <a:solidFill>
                  <a:schemeClr val="tx1"/>
                </a:solidFill>
                <a:latin typeface="Arial" panose="020B0604020202020204" pitchFamily="34" charset="0"/>
                <a:ea typeface="Roboto" panose="02000000000000000000" pitchFamily="2" charset="0"/>
                <a:cs typeface="+mn-cs"/>
              </a:defRPr>
            </a:lvl3pPr>
            <a:lvl4pPr marL="538163" indent="-131763" algn="l" defTabSz="914400" rtl="0" eaLnBrk="1" latinLnBrk="0" hangingPunct="1">
              <a:lnSpc>
                <a:spcPct val="90000"/>
              </a:lnSpc>
              <a:spcBef>
                <a:spcPts val="500"/>
              </a:spcBef>
              <a:buClr>
                <a:schemeClr val="accent1"/>
              </a:buClr>
              <a:buFont typeface="Arial" panose="020B0604020202020204" pitchFamily="34" charset="0"/>
              <a:buChar char="•"/>
              <a:tabLst/>
              <a:defRPr sz="1600" b="0" i="0" kern="1200">
                <a:solidFill>
                  <a:schemeClr val="tx1"/>
                </a:solidFill>
                <a:latin typeface="Arial" panose="020B0604020202020204" pitchFamily="34" charset="0"/>
                <a:ea typeface="Roboto" panose="02000000000000000000" pitchFamily="2" charset="0"/>
                <a:cs typeface="+mn-cs"/>
              </a:defRPr>
            </a:lvl4pPr>
            <a:lvl5pPr marL="720725" indent="-142875" algn="l" defTabSz="914400" rtl="0" eaLnBrk="1" latinLnBrk="0" hangingPunct="1">
              <a:lnSpc>
                <a:spcPct val="90000"/>
              </a:lnSpc>
              <a:spcBef>
                <a:spcPts val="500"/>
              </a:spcBef>
              <a:buClr>
                <a:schemeClr val="accent1"/>
              </a:buClr>
              <a:buFont typeface="Arial" panose="020B0604020202020204" pitchFamily="34" charset="0"/>
              <a:buChar char="•"/>
              <a:tabLst/>
              <a:defRPr sz="1600" b="0" i="0" kern="1200">
                <a:solidFill>
                  <a:schemeClr val="tx1"/>
                </a:solidFill>
                <a:latin typeface="Arial" panose="020B0604020202020204" pitchFamily="34" charset="0"/>
                <a:ea typeface="Roboto" panose="02000000000000000000"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1200" b="1" dirty="0"/>
              <a:t>1,000,000+ Datapoints/week</a:t>
            </a:r>
          </a:p>
        </p:txBody>
      </p:sp>
      <p:pic>
        <p:nvPicPr>
          <p:cNvPr id="18" name="Picture 17">
            <a:extLst>
              <a:ext uri="{FF2B5EF4-FFF2-40B4-BE49-F238E27FC236}">
                <a16:creationId xmlns:a16="http://schemas.microsoft.com/office/drawing/2014/main" id="{AAB46B49-691A-7BE0-D268-2179E95ECDB5}"/>
              </a:ext>
            </a:extLst>
          </p:cNvPr>
          <p:cNvPicPr>
            <a:picLocks noChangeAspect="1"/>
          </p:cNvPicPr>
          <p:nvPr/>
        </p:nvPicPr>
        <p:blipFill>
          <a:blip r:embed="rId11"/>
          <a:stretch>
            <a:fillRect/>
          </a:stretch>
        </p:blipFill>
        <p:spPr>
          <a:xfrm>
            <a:off x="7839201" y="3452275"/>
            <a:ext cx="2981954" cy="1520056"/>
          </a:xfrm>
          <a:prstGeom prst="rect">
            <a:avLst/>
          </a:prstGeom>
          <a:ln>
            <a:solidFill>
              <a:schemeClr val="tx1"/>
            </a:solidFill>
          </a:ln>
        </p:spPr>
      </p:pic>
      <p:sp>
        <p:nvSpPr>
          <p:cNvPr id="19" name="Text Placeholder 3">
            <a:extLst>
              <a:ext uri="{FF2B5EF4-FFF2-40B4-BE49-F238E27FC236}">
                <a16:creationId xmlns:a16="http://schemas.microsoft.com/office/drawing/2014/main" id="{483BA5DE-0391-BACA-082D-3B696DD89151}"/>
              </a:ext>
            </a:extLst>
          </p:cNvPr>
          <p:cNvSpPr txBox="1">
            <a:spLocks/>
          </p:cNvSpPr>
          <p:nvPr/>
        </p:nvSpPr>
        <p:spPr>
          <a:xfrm>
            <a:off x="8004572" y="2148889"/>
            <a:ext cx="3556227" cy="258541"/>
          </a:xfrm>
          <a:prstGeom prst="rect">
            <a:avLst/>
          </a:prstGeom>
        </p:spPr>
        <p:txBody>
          <a:bodyPr vert="horz" lIns="0" tIns="0" rIns="0" bIns="0" rtlCol="0">
            <a:noAutofit/>
          </a:bodyPr>
          <a:lstStyle>
            <a:lvl1pPr marL="0" indent="0" algn="l" defTabSz="914400" rtl="0" eaLnBrk="1" latinLnBrk="0" hangingPunct="1">
              <a:lnSpc>
                <a:spcPct val="90000"/>
              </a:lnSpc>
              <a:spcBef>
                <a:spcPts val="1000"/>
              </a:spcBef>
              <a:buFont typeface="Arial" panose="020B0604020202020204" pitchFamily="34" charset="0"/>
              <a:buNone/>
              <a:defRPr sz="1800" b="0" i="0" kern="1200">
                <a:solidFill>
                  <a:schemeClr val="tx1"/>
                </a:solidFill>
                <a:latin typeface="Arial" panose="020B0604020202020204" pitchFamily="34" charset="0"/>
                <a:ea typeface="Roboto Medium" panose="02000000000000000000" pitchFamily="2" charset="0"/>
                <a:cs typeface="+mn-cs"/>
              </a:defRPr>
            </a:lvl1pPr>
            <a:lvl2pPr marL="182563" indent="-173038" algn="l" defTabSz="914400" rtl="0" eaLnBrk="1" latinLnBrk="0" hangingPunct="1">
              <a:lnSpc>
                <a:spcPct val="90000"/>
              </a:lnSpc>
              <a:spcBef>
                <a:spcPts val="500"/>
              </a:spcBef>
              <a:buClr>
                <a:schemeClr val="accent1"/>
              </a:buClr>
              <a:buFont typeface="Arial" panose="020B0604020202020204" pitchFamily="34" charset="0"/>
              <a:buChar char="•"/>
              <a:tabLst/>
              <a:defRPr sz="1600" b="0" i="0" kern="1200">
                <a:solidFill>
                  <a:schemeClr val="tx1"/>
                </a:solidFill>
                <a:latin typeface="Arial" panose="020B0604020202020204" pitchFamily="34" charset="0"/>
                <a:ea typeface="Roboto" panose="02000000000000000000" pitchFamily="2" charset="0"/>
                <a:cs typeface="+mn-cs"/>
              </a:defRPr>
            </a:lvl2pPr>
            <a:lvl3pPr marL="365125" indent="-142875" algn="l" defTabSz="914400" rtl="0" eaLnBrk="1" latinLnBrk="0" hangingPunct="1">
              <a:lnSpc>
                <a:spcPct val="90000"/>
              </a:lnSpc>
              <a:spcBef>
                <a:spcPts val="500"/>
              </a:spcBef>
              <a:buClr>
                <a:schemeClr val="accent1"/>
              </a:buClr>
              <a:buFont typeface="Arial" panose="020B0604020202020204" pitchFamily="34" charset="0"/>
              <a:buChar char="•"/>
              <a:tabLst/>
              <a:defRPr sz="1600" b="0" i="0" kern="1200">
                <a:solidFill>
                  <a:schemeClr val="tx1"/>
                </a:solidFill>
                <a:latin typeface="Arial" panose="020B0604020202020204" pitchFamily="34" charset="0"/>
                <a:ea typeface="Roboto" panose="02000000000000000000" pitchFamily="2" charset="0"/>
                <a:cs typeface="+mn-cs"/>
              </a:defRPr>
            </a:lvl3pPr>
            <a:lvl4pPr marL="538163" indent="-131763" algn="l" defTabSz="914400" rtl="0" eaLnBrk="1" latinLnBrk="0" hangingPunct="1">
              <a:lnSpc>
                <a:spcPct val="90000"/>
              </a:lnSpc>
              <a:spcBef>
                <a:spcPts val="500"/>
              </a:spcBef>
              <a:buClr>
                <a:schemeClr val="accent1"/>
              </a:buClr>
              <a:buFont typeface="Arial" panose="020B0604020202020204" pitchFamily="34" charset="0"/>
              <a:buChar char="•"/>
              <a:tabLst/>
              <a:defRPr sz="1600" b="0" i="0" kern="1200">
                <a:solidFill>
                  <a:schemeClr val="tx1"/>
                </a:solidFill>
                <a:latin typeface="Arial" panose="020B0604020202020204" pitchFamily="34" charset="0"/>
                <a:ea typeface="Roboto" panose="02000000000000000000" pitchFamily="2" charset="0"/>
                <a:cs typeface="+mn-cs"/>
              </a:defRPr>
            </a:lvl4pPr>
            <a:lvl5pPr marL="720725" indent="-142875" algn="l" defTabSz="914400" rtl="0" eaLnBrk="1" latinLnBrk="0" hangingPunct="1">
              <a:lnSpc>
                <a:spcPct val="90000"/>
              </a:lnSpc>
              <a:spcBef>
                <a:spcPts val="500"/>
              </a:spcBef>
              <a:buClr>
                <a:schemeClr val="accent1"/>
              </a:buClr>
              <a:buFont typeface="Arial" panose="020B0604020202020204" pitchFamily="34" charset="0"/>
              <a:buChar char="•"/>
              <a:tabLst/>
              <a:defRPr sz="1600" b="0" i="0" kern="1200">
                <a:solidFill>
                  <a:schemeClr val="tx1"/>
                </a:solidFill>
                <a:latin typeface="Arial" panose="020B0604020202020204" pitchFamily="34" charset="0"/>
                <a:ea typeface="Roboto" panose="02000000000000000000"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b="1" dirty="0"/>
              <a:t>Realtime Spotfire Visualizations</a:t>
            </a:r>
          </a:p>
        </p:txBody>
      </p:sp>
      <p:pic>
        <p:nvPicPr>
          <p:cNvPr id="29" name="Picture 28">
            <a:extLst>
              <a:ext uri="{FF2B5EF4-FFF2-40B4-BE49-F238E27FC236}">
                <a16:creationId xmlns:a16="http://schemas.microsoft.com/office/drawing/2014/main" id="{AA8A2807-D16F-3A59-8586-1DF4EA47F043}"/>
              </a:ext>
            </a:extLst>
          </p:cNvPr>
          <p:cNvPicPr>
            <a:picLocks noChangeAspect="1"/>
          </p:cNvPicPr>
          <p:nvPr/>
        </p:nvPicPr>
        <p:blipFill>
          <a:blip r:embed="rId12"/>
          <a:stretch>
            <a:fillRect/>
          </a:stretch>
        </p:blipFill>
        <p:spPr>
          <a:xfrm>
            <a:off x="8225275" y="4212303"/>
            <a:ext cx="3431708" cy="1954936"/>
          </a:xfrm>
          <a:prstGeom prst="rect">
            <a:avLst/>
          </a:prstGeom>
          <a:ln>
            <a:solidFill>
              <a:schemeClr val="tx1"/>
            </a:solidFill>
          </a:ln>
        </p:spPr>
      </p:pic>
    </p:spTree>
    <p:extLst>
      <p:ext uri="{BB962C8B-B14F-4D97-AF65-F5344CB8AC3E}">
        <p14:creationId xmlns:p14="http://schemas.microsoft.com/office/powerpoint/2010/main" val="19997821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FADFA4A-C2A0-D7BA-7151-E83461D3BDCA}"/>
              </a:ext>
            </a:extLst>
          </p:cNvPr>
          <p:cNvSpPr>
            <a:spLocks noGrp="1"/>
          </p:cNvSpPr>
          <p:nvPr>
            <p:ph type="title"/>
          </p:nvPr>
        </p:nvSpPr>
        <p:spPr/>
        <p:txBody>
          <a:bodyPr/>
          <a:lstStyle/>
          <a:p>
            <a:r>
              <a:rPr lang="en-US" dirty="0"/>
              <a:t>Post-Stage Pressure Analysis</a:t>
            </a:r>
          </a:p>
        </p:txBody>
      </p:sp>
      <p:sp>
        <p:nvSpPr>
          <p:cNvPr id="5" name="Text Placeholder 4">
            <a:extLst>
              <a:ext uri="{FF2B5EF4-FFF2-40B4-BE49-F238E27FC236}">
                <a16:creationId xmlns:a16="http://schemas.microsoft.com/office/drawing/2014/main" id="{1C6C5C31-E160-15A2-C2A9-E941CB76305D}"/>
              </a:ext>
            </a:extLst>
          </p:cNvPr>
          <p:cNvSpPr>
            <a:spLocks noGrp="1"/>
          </p:cNvSpPr>
          <p:nvPr>
            <p:ph type="body" sz="quarter" idx="11"/>
          </p:nvPr>
        </p:nvSpPr>
        <p:spPr/>
        <p:txBody>
          <a:bodyPr/>
          <a:lstStyle/>
          <a:p>
            <a:r>
              <a:rPr lang="en-US" dirty="0"/>
              <a:t>Frac Spotfire Dashboard</a:t>
            </a:r>
          </a:p>
        </p:txBody>
      </p:sp>
      <p:sp>
        <p:nvSpPr>
          <p:cNvPr id="6" name="Footer Placeholder 5">
            <a:extLst>
              <a:ext uri="{FF2B5EF4-FFF2-40B4-BE49-F238E27FC236}">
                <a16:creationId xmlns:a16="http://schemas.microsoft.com/office/drawing/2014/main" id="{39AC13EC-4837-39A8-CBFF-AB0FB15214E5}"/>
              </a:ext>
            </a:extLst>
          </p:cNvPr>
          <p:cNvSpPr>
            <a:spLocks noGrp="1"/>
          </p:cNvSpPr>
          <p:nvPr>
            <p:ph type="ftr" sz="quarter" idx="3"/>
          </p:nvPr>
        </p:nvSpPr>
        <p:spPr/>
        <p:txBody>
          <a:bodyPr/>
          <a:lstStyle/>
          <a:p>
            <a:r>
              <a:rPr lang="en-US" b="1">
                <a:latin typeface="Arial" panose="020B0604020202020204" pitchFamily="34" charset="0"/>
              </a:rPr>
              <a:t>NuVista Energy Ltd.</a:t>
            </a:r>
            <a:endParaRPr lang="en-US" dirty="0">
              <a:latin typeface="Arial" panose="020B0604020202020204" pitchFamily="34" charset="0"/>
            </a:endParaRPr>
          </a:p>
        </p:txBody>
      </p:sp>
      <p:sp>
        <p:nvSpPr>
          <p:cNvPr id="7" name="Slide Number Placeholder 6">
            <a:extLst>
              <a:ext uri="{FF2B5EF4-FFF2-40B4-BE49-F238E27FC236}">
                <a16:creationId xmlns:a16="http://schemas.microsoft.com/office/drawing/2014/main" id="{7C8D641E-E6D3-4FF7-82A4-0F60E63FB059}"/>
              </a:ext>
            </a:extLst>
          </p:cNvPr>
          <p:cNvSpPr>
            <a:spLocks noGrp="1"/>
          </p:cNvSpPr>
          <p:nvPr>
            <p:ph type="sldNum" sz="quarter" idx="4"/>
          </p:nvPr>
        </p:nvSpPr>
        <p:spPr/>
        <p:txBody>
          <a:bodyPr/>
          <a:lstStyle/>
          <a:p>
            <a:fld id="{D246DD65-7063-5C41-96CC-23CB1F95FA91}" type="slidenum">
              <a:rPr lang="en-US" smtClean="0"/>
              <a:pPr/>
              <a:t>9</a:t>
            </a:fld>
            <a:endParaRPr lang="en-US" dirty="0"/>
          </a:p>
        </p:txBody>
      </p:sp>
      <p:sp>
        <p:nvSpPr>
          <p:cNvPr id="8" name="Text Placeholder 3">
            <a:extLst>
              <a:ext uri="{FF2B5EF4-FFF2-40B4-BE49-F238E27FC236}">
                <a16:creationId xmlns:a16="http://schemas.microsoft.com/office/drawing/2014/main" id="{AE7CC7DD-691B-D0AA-FCE2-10CEAAD1EB49}"/>
              </a:ext>
            </a:extLst>
          </p:cNvPr>
          <p:cNvSpPr txBox="1">
            <a:spLocks/>
          </p:cNvSpPr>
          <p:nvPr/>
        </p:nvSpPr>
        <p:spPr>
          <a:xfrm>
            <a:off x="460374" y="1129472"/>
            <a:ext cx="11271252" cy="315882"/>
          </a:xfrm>
          <a:prstGeom prst="rect">
            <a:avLst/>
          </a:prstGeom>
        </p:spPr>
        <p:txBody>
          <a:bodyPr vert="horz" lIns="0" tIns="0" rIns="0" bIns="0" rtlCol="0">
            <a:noAutofit/>
          </a:bodyPr>
          <a:lstStyle>
            <a:lvl1pPr marL="0" indent="0" algn="l" defTabSz="914400" rtl="0" eaLnBrk="1" latinLnBrk="0" hangingPunct="1">
              <a:lnSpc>
                <a:spcPct val="90000"/>
              </a:lnSpc>
              <a:spcBef>
                <a:spcPts val="1000"/>
              </a:spcBef>
              <a:buFont typeface="Arial" panose="020B0604020202020204" pitchFamily="34" charset="0"/>
              <a:buNone/>
              <a:defRPr sz="1800" b="0" i="0" kern="1200">
                <a:solidFill>
                  <a:schemeClr val="tx1"/>
                </a:solidFill>
                <a:latin typeface="Arial" panose="020B0604020202020204" pitchFamily="34" charset="0"/>
                <a:ea typeface="Roboto Medium" panose="02000000000000000000" pitchFamily="2" charset="0"/>
                <a:cs typeface="+mn-cs"/>
              </a:defRPr>
            </a:lvl1pPr>
            <a:lvl2pPr marL="182563" indent="-173038" algn="l" defTabSz="914400" rtl="0" eaLnBrk="1" latinLnBrk="0" hangingPunct="1">
              <a:lnSpc>
                <a:spcPct val="90000"/>
              </a:lnSpc>
              <a:spcBef>
                <a:spcPts val="500"/>
              </a:spcBef>
              <a:buClr>
                <a:schemeClr val="accent1"/>
              </a:buClr>
              <a:buFont typeface="Arial" panose="020B0604020202020204" pitchFamily="34" charset="0"/>
              <a:buChar char="•"/>
              <a:tabLst/>
              <a:defRPr sz="1600" b="0" i="0" kern="1200">
                <a:solidFill>
                  <a:schemeClr val="tx1"/>
                </a:solidFill>
                <a:latin typeface="Arial" panose="020B0604020202020204" pitchFamily="34" charset="0"/>
                <a:ea typeface="Roboto" panose="02000000000000000000" pitchFamily="2" charset="0"/>
                <a:cs typeface="+mn-cs"/>
              </a:defRPr>
            </a:lvl2pPr>
            <a:lvl3pPr marL="365125" indent="-142875" algn="l" defTabSz="914400" rtl="0" eaLnBrk="1" latinLnBrk="0" hangingPunct="1">
              <a:lnSpc>
                <a:spcPct val="90000"/>
              </a:lnSpc>
              <a:spcBef>
                <a:spcPts val="500"/>
              </a:spcBef>
              <a:buClr>
                <a:schemeClr val="accent1"/>
              </a:buClr>
              <a:buFont typeface="Arial" panose="020B0604020202020204" pitchFamily="34" charset="0"/>
              <a:buChar char="•"/>
              <a:tabLst/>
              <a:defRPr sz="1600" b="0" i="0" kern="1200">
                <a:solidFill>
                  <a:schemeClr val="tx1"/>
                </a:solidFill>
                <a:latin typeface="Arial" panose="020B0604020202020204" pitchFamily="34" charset="0"/>
                <a:ea typeface="Roboto" panose="02000000000000000000" pitchFamily="2" charset="0"/>
                <a:cs typeface="+mn-cs"/>
              </a:defRPr>
            </a:lvl3pPr>
            <a:lvl4pPr marL="538163" indent="-131763" algn="l" defTabSz="914400" rtl="0" eaLnBrk="1" latinLnBrk="0" hangingPunct="1">
              <a:lnSpc>
                <a:spcPct val="90000"/>
              </a:lnSpc>
              <a:spcBef>
                <a:spcPts val="500"/>
              </a:spcBef>
              <a:buClr>
                <a:schemeClr val="accent1"/>
              </a:buClr>
              <a:buFont typeface="Arial" panose="020B0604020202020204" pitchFamily="34" charset="0"/>
              <a:buChar char="•"/>
              <a:tabLst/>
              <a:defRPr sz="1600" b="0" i="0" kern="1200">
                <a:solidFill>
                  <a:schemeClr val="tx1"/>
                </a:solidFill>
                <a:latin typeface="Arial" panose="020B0604020202020204" pitchFamily="34" charset="0"/>
                <a:ea typeface="Roboto" panose="02000000000000000000" pitchFamily="2" charset="0"/>
                <a:cs typeface="+mn-cs"/>
              </a:defRPr>
            </a:lvl4pPr>
            <a:lvl5pPr marL="720725" indent="-142875" algn="l" defTabSz="914400" rtl="0" eaLnBrk="1" latinLnBrk="0" hangingPunct="1">
              <a:lnSpc>
                <a:spcPct val="90000"/>
              </a:lnSpc>
              <a:spcBef>
                <a:spcPts val="500"/>
              </a:spcBef>
              <a:buClr>
                <a:schemeClr val="accent1"/>
              </a:buClr>
              <a:buFont typeface="Arial" panose="020B0604020202020204" pitchFamily="34" charset="0"/>
              <a:buChar char="•"/>
              <a:tabLst/>
              <a:defRPr sz="1600" b="0" i="0" kern="1200">
                <a:solidFill>
                  <a:schemeClr val="tx1"/>
                </a:solidFill>
                <a:latin typeface="Arial" panose="020B0604020202020204" pitchFamily="34" charset="0"/>
                <a:ea typeface="Roboto" panose="02000000000000000000"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Python code extracts the slope of the pressure 10 minutes before the next stage, alongside the pressure. A new automated metric that can be used to validate parent-child behavior, shown clearly on Gold Creek 14-30.</a:t>
            </a:r>
          </a:p>
        </p:txBody>
      </p:sp>
      <p:pic>
        <p:nvPicPr>
          <p:cNvPr id="9" name="Content Placeholder 8">
            <a:extLst>
              <a:ext uri="{FF2B5EF4-FFF2-40B4-BE49-F238E27FC236}">
                <a16:creationId xmlns:a16="http://schemas.microsoft.com/office/drawing/2014/main" id="{FE17448E-9B7A-7861-F07F-30771499AC81}"/>
              </a:ext>
            </a:extLst>
          </p:cNvPr>
          <p:cNvPicPr>
            <a:picLocks noGrp="1" noChangeAspect="1"/>
          </p:cNvPicPr>
          <p:nvPr>
            <p:ph idx="1"/>
          </p:nvPr>
        </p:nvPicPr>
        <p:blipFill>
          <a:blip r:embed="rId3"/>
          <a:stretch>
            <a:fillRect/>
          </a:stretch>
        </p:blipFill>
        <p:spPr>
          <a:xfrm>
            <a:off x="7518947" y="1732015"/>
            <a:ext cx="2958841" cy="3361773"/>
          </a:xfrm>
          <a:prstGeom prst="rect">
            <a:avLst/>
          </a:prstGeom>
        </p:spPr>
      </p:pic>
      <p:pic>
        <p:nvPicPr>
          <p:cNvPr id="2" name="Picture 1">
            <a:extLst>
              <a:ext uri="{FF2B5EF4-FFF2-40B4-BE49-F238E27FC236}">
                <a16:creationId xmlns:a16="http://schemas.microsoft.com/office/drawing/2014/main" id="{98E7FE71-B089-F77D-A384-ED8801317B33}"/>
              </a:ext>
            </a:extLst>
          </p:cNvPr>
          <p:cNvPicPr>
            <a:picLocks noChangeAspect="1"/>
          </p:cNvPicPr>
          <p:nvPr/>
        </p:nvPicPr>
        <p:blipFill>
          <a:blip r:embed="rId4"/>
          <a:stretch>
            <a:fillRect/>
          </a:stretch>
        </p:blipFill>
        <p:spPr>
          <a:xfrm>
            <a:off x="309643" y="3657186"/>
            <a:ext cx="4950788" cy="2577274"/>
          </a:xfrm>
          <a:prstGeom prst="rect">
            <a:avLst/>
          </a:prstGeom>
        </p:spPr>
      </p:pic>
      <p:graphicFrame>
        <p:nvGraphicFramePr>
          <p:cNvPr id="10" name="Table 9">
            <a:extLst>
              <a:ext uri="{FF2B5EF4-FFF2-40B4-BE49-F238E27FC236}">
                <a16:creationId xmlns:a16="http://schemas.microsoft.com/office/drawing/2014/main" id="{1FC8AB44-7FB5-DE7F-9037-73BFA407DC8A}"/>
              </a:ext>
            </a:extLst>
          </p:cNvPr>
          <p:cNvGraphicFramePr>
            <a:graphicFrameLocks noGrp="1"/>
          </p:cNvGraphicFramePr>
          <p:nvPr>
            <p:extLst>
              <p:ext uri="{D42A27DB-BD31-4B8C-83A1-F6EECF244321}">
                <p14:modId xmlns:p14="http://schemas.microsoft.com/office/powerpoint/2010/main" val="787011572"/>
              </p:ext>
            </p:extLst>
          </p:nvPr>
        </p:nvGraphicFramePr>
        <p:xfrm>
          <a:off x="309643" y="2102706"/>
          <a:ext cx="4950788" cy="1554480"/>
        </p:xfrm>
        <a:graphic>
          <a:graphicData uri="http://schemas.openxmlformats.org/drawingml/2006/table">
            <a:tbl>
              <a:tblPr firstRow="1" bandRow="1">
                <a:tableStyleId>{5C22544A-7EE6-4342-B048-85BDC9FD1C3A}</a:tableStyleId>
              </a:tblPr>
              <a:tblGrid>
                <a:gridCol w="1564359">
                  <a:extLst>
                    <a:ext uri="{9D8B030D-6E8A-4147-A177-3AD203B41FA5}">
                      <a16:colId xmlns:a16="http://schemas.microsoft.com/office/drawing/2014/main" val="115429135"/>
                    </a:ext>
                  </a:extLst>
                </a:gridCol>
                <a:gridCol w="1986877">
                  <a:extLst>
                    <a:ext uri="{9D8B030D-6E8A-4147-A177-3AD203B41FA5}">
                      <a16:colId xmlns:a16="http://schemas.microsoft.com/office/drawing/2014/main" val="1624968744"/>
                    </a:ext>
                  </a:extLst>
                </a:gridCol>
                <a:gridCol w="1399552">
                  <a:extLst>
                    <a:ext uri="{9D8B030D-6E8A-4147-A177-3AD203B41FA5}">
                      <a16:colId xmlns:a16="http://schemas.microsoft.com/office/drawing/2014/main" val="2300291894"/>
                    </a:ext>
                  </a:extLst>
                </a:gridCol>
              </a:tblGrid>
              <a:tr h="362168">
                <a:tc>
                  <a:txBody>
                    <a:bodyPr/>
                    <a:lstStyle/>
                    <a:p>
                      <a:pPr algn="ctr"/>
                      <a:r>
                        <a:rPr lang="en-CA" sz="1200" baseline="0" dirty="0"/>
                        <a:t>Well</a:t>
                      </a:r>
                      <a:endParaRPr lang="en-US" sz="1200" baseline="0" dirty="0"/>
                    </a:p>
                  </a:txBody>
                  <a:tcPr/>
                </a:tc>
                <a:tc>
                  <a:txBody>
                    <a:bodyPr/>
                    <a:lstStyle/>
                    <a:p>
                      <a:pPr algn="ctr"/>
                      <a:r>
                        <a:rPr lang="en-CA" sz="1200" baseline="0" dirty="0"/>
                        <a:t>Average Final Slope </a:t>
                      </a:r>
                    </a:p>
                    <a:p>
                      <a:pPr algn="ctr"/>
                      <a:r>
                        <a:rPr lang="en-CA" sz="1200" baseline="0" dirty="0"/>
                        <a:t>(-kPa/min)</a:t>
                      </a:r>
                      <a:endParaRPr lang="en-US" sz="1200" baseline="0" dirty="0"/>
                    </a:p>
                  </a:txBody>
                  <a:tcPr/>
                </a:tc>
                <a:tc>
                  <a:txBody>
                    <a:bodyPr/>
                    <a:lstStyle/>
                    <a:p>
                      <a:r>
                        <a:rPr lang="en-CA" sz="1200" baseline="0" dirty="0"/>
                        <a:t>Average Final Pressure (MPa)</a:t>
                      </a:r>
                      <a:endParaRPr lang="en-US" sz="1200" baseline="0" dirty="0"/>
                    </a:p>
                  </a:txBody>
                  <a:tcPr/>
                </a:tc>
                <a:extLst>
                  <a:ext uri="{0D108BD9-81ED-4DB2-BD59-A6C34878D82A}">
                    <a16:rowId xmlns:a16="http://schemas.microsoft.com/office/drawing/2014/main" val="1078746752"/>
                  </a:ext>
                </a:extLst>
              </a:tr>
              <a:tr h="217301">
                <a:tc>
                  <a:txBody>
                    <a:bodyPr/>
                    <a:lstStyle/>
                    <a:p>
                      <a:r>
                        <a:rPr lang="en-CA" sz="1200" baseline="0" dirty="0"/>
                        <a:t>A-Well</a:t>
                      </a:r>
                      <a:endParaRPr lang="en-US" sz="1200" baseline="0" dirty="0"/>
                    </a:p>
                  </a:txBody>
                  <a:tcPr/>
                </a:tc>
                <a:tc>
                  <a:txBody>
                    <a:bodyPr/>
                    <a:lstStyle/>
                    <a:p>
                      <a:r>
                        <a:rPr lang="en-CA" sz="1200" baseline="0" dirty="0"/>
                        <a:t>12.7</a:t>
                      </a:r>
                      <a:endParaRPr lang="en-US" sz="1200" baseline="0" dirty="0"/>
                    </a:p>
                  </a:txBody>
                  <a:tcPr/>
                </a:tc>
                <a:tc>
                  <a:txBody>
                    <a:bodyPr/>
                    <a:lstStyle/>
                    <a:p>
                      <a:r>
                        <a:rPr lang="en-CA" sz="1200" baseline="0" dirty="0"/>
                        <a:t>24.3</a:t>
                      </a:r>
                      <a:endParaRPr lang="en-US" sz="1200" baseline="0" dirty="0"/>
                    </a:p>
                  </a:txBody>
                  <a:tcPr/>
                </a:tc>
                <a:extLst>
                  <a:ext uri="{0D108BD9-81ED-4DB2-BD59-A6C34878D82A}">
                    <a16:rowId xmlns:a16="http://schemas.microsoft.com/office/drawing/2014/main" val="2927689457"/>
                  </a:ext>
                </a:extLst>
              </a:tr>
              <a:tr h="217301">
                <a:tc>
                  <a:txBody>
                    <a:bodyPr/>
                    <a:lstStyle/>
                    <a:p>
                      <a:r>
                        <a:rPr lang="en-CA" sz="1200" baseline="0" dirty="0"/>
                        <a:t>B-Well</a:t>
                      </a:r>
                      <a:endParaRPr lang="en-US" sz="1200" baseline="0" dirty="0"/>
                    </a:p>
                  </a:txBody>
                  <a:tcPr/>
                </a:tc>
                <a:tc>
                  <a:txBody>
                    <a:bodyPr/>
                    <a:lstStyle/>
                    <a:p>
                      <a:r>
                        <a:rPr lang="en-CA" sz="1200" baseline="0" dirty="0"/>
                        <a:t>13.6</a:t>
                      </a:r>
                      <a:endParaRPr lang="en-US" sz="1200" baseline="0" dirty="0"/>
                    </a:p>
                  </a:txBody>
                  <a:tcPr/>
                </a:tc>
                <a:tc>
                  <a:txBody>
                    <a:bodyPr/>
                    <a:lstStyle/>
                    <a:p>
                      <a:r>
                        <a:rPr lang="en-CA" sz="1200" baseline="0" dirty="0"/>
                        <a:t>24.2</a:t>
                      </a:r>
                      <a:endParaRPr lang="en-US" sz="1200" baseline="0" dirty="0"/>
                    </a:p>
                  </a:txBody>
                  <a:tcPr/>
                </a:tc>
                <a:extLst>
                  <a:ext uri="{0D108BD9-81ED-4DB2-BD59-A6C34878D82A}">
                    <a16:rowId xmlns:a16="http://schemas.microsoft.com/office/drawing/2014/main" val="3175879416"/>
                  </a:ext>
                </a:extLst>
              </a:tr>
              <a:tr h="217301">
                <a:tc>
                  <a:txBody>
                    <a:bodyPr/>
                    <a:lstStyle/>
                    <a:p>
                      <a:r>
                        <a:rPr lang="en-CA" sz="1200" b="0" baseline="0" dirty="0">
                          <a:highlight>
                            <a:srgbClr val="FFFF00"/>
                          </a:highlight>
                        </a:rPr>
                        <a:t>C-Well</a:t>
                      </a:r>
                      <a:endParaRPr lang="en-US" sz="1200" b="0" baseline="0" dirty="0">
                        <a:highlight>
                          <a:srgbClr val="FFFF00"/>
                        </a:highlight>
                      </a:endParaRPr>
                    </a:p>
                  </a:txBody>
                  <a:tcPr/>
                </a:tc>
                <a:tc>
                  <a:txBody>
                    <a:bodyPr/>
                    <a:lstStyle/>
                    <a:p>
                      <a:r>
                        <a:rPr lang="en-CA" sz="1200" b="0" baseline="0" dirty="0">
                          <a:highlight>
                            <a:srgbClr val="FFFF00"/>
                          </a:highlight>
                        </a:rPr>
                        <a:t>17.4</a:t>
                      </a:r>
                      <a:endParaRPr lang="en-US" sz="1200" b="0" baseline="0" dirty="0">
                        <a:highlight>
                          <a:srgbClr val="FFFF00"/>
                        </a:highlight>
                      </a:endParaRPr>
                    </a:p>
                  </a:txBody>
                  <a:tcPr/>
                </a:tc>
                <a:tc>
                  <a:txBody>
                    <a:bodyPr/>
                    <a:lstStyle/>
                    <a:p>
                      <a:r>
                        <a:rPr lang="en-CA" sz="1200" b="0" baseline="0" dirty="0">
                          <a:solidFill>
                            <a:schemeClr val="bg2">
                              <a:lumMod val="10000"/>
                            </a:schemeClr>
                          </a:solidFill>
                          <a:highlight>
                            <a:srgbClr val="FFFF00"/>
                          </a:highlight>
                        </a:rPr>
                        <a:t>22.5</a:t>
                      </a:r>
                      <a:endParaRPr lang="en-US" sz="1200" b="0" baseline="0" dirty="0">
                        <a:solidFill>
                          <a:schemeClr val="bg2">
                            <a:lumMod val="10000"/>
                          </a:schemeClr>
                        </a:solidFill>
                        <a:highlight>
                          <a:srgbClr val="FFFF00"/>
                        </a:highlight>
                      </a:endParaRPr>
                    </a:p>
                  </a:txBody>
                  <a:tcPr/>
                </a:tc>
                <a:extLst>
                  <a:ext uri="{0D108BD9-81ED-4DB2-BD59-A6C34878D82A}">
                    <a16:rowId xmlns:a16="http://schemas.microsoft.com/office/drawing/2014/main" val="109312216"/>
                  </a:ext>
                </a:extLst>
              </a:tr>
              <a:tr h="217301">
                <a:tc>
                  <a:txBody>
                    <a:bodyPr/>
                    <a:lstStyle/>
                    <a:p>
                      <a:r>
                        <a:rPr lang="en-CA" sz="1200" baseline="0" dirty="0"/>
                        <a:t>D-Well</a:t>
                      </a:r>
                      <a:endParaRPr lang="en-US" sz="1200" baseline="0" dirty="0"/>
                    </a:p>
                  </a:txBody>
                  <a:tcPr/>
                </a:tc>
                <a:tc>
                  <a:txBody>
                    <a:bodyPr/>
                    <a:lstStyle/>
                    <a:p>
                      <a:r>
                        <a:rPr lang="en-CA" sz="1200" baseline="0" dirty="0"/>
                        <a:t>14.1</a:t>
                      </a:r>
                      <a:endParaRPr lang="en-US" sz="1200" baseline="0" dirty="0"/>
                    </a:p>
                  </a:txBody>
                  <a:tcPr/>
                </a:tc>
                <a:tc>
                  <a:txBody>
                    <a:bodyPr/>
                    <a:lstStyle/>
                    <a:p>
                      <a:r>
                        <a:rPr lang="en-CA" sz="1200" baseline="0" dirty="0"/>
                        <a:t>23.6</a:t>
                      </a:r>
                      <a:endParaRPr lang="en-US" sz="1200" baseline="0" dirty="0"/>
                    </a:p>
                  </a:txBody>
                  <a:tcPr/>
                </a:tc>
                <a:extLst>
                  <a:ext uri="{0D108BD9-81ED-4DB2-BD59-A6C34878D82A}">
                    <a16:rowId xmlns:a16="http://schemas.microsoft.com/office/drawing/2014/main" val="806289179"/>
                  </a:ext>
                </a:extLst>
              </a:tr>
            </a:tbl>
          </a:graphicData>
        </a:graphic>
      </p:graphicFrame>
      <p:sp>
        <p:nvSpPr>
          <p:cNvPr id="14" name="TextBox 13">
            <a:extLst>
              <a:ext uri="{FF2B5EF4-FFF2-40B4-BE49-F238E27FC236}">
                <a16:creationId xmlns:a16="http://schemas.microsoft.com/office/drawing/2014/main" id="{B6E426D0-B677-81A8-023F-46C48902F1BA}"/>
              </a:ext>
            </a:extLst>
          </p:cNvPr>
          <p:cNvSpPr txBox="1"/>
          <p:nvPr/>
        </p:nvSpPr>
        <p:spPr>
          <a:xfrm>
            <a:off x="6493881" y="5165725"/>
            <a:ext cx="5008971" cy="1538883"/>
          </a:xfrm>
          <a:prstGeom prst="rect">
            <a:avLst/>
          </a:prstGeom>
          <a:solidFill>
            <a:schemeClr val="bg2"/>
          </a:solidFill>
          <a:ln>
            <a:solidFill>
              <a:schemeClr val="tx1">
                <a:lumMod val="40000"/>
                <a:lumOff val="60000"/>
              </a:schemeClr>
            </a:solidFill>
          </a:ln>
        </p:spPr>
        <p:txBody>
          <a:bodyPr wrap="square" rtlCol="0">
            <a:spAutoFit/>
          </a:bodyPr>
          <a:lstStyle/>
          <a:p>
            <a:pPr algn="ctr">
              <a:spcAft>
                <a:spcPts val="1200"/>
              </a:spcAft>
            </a:pPr>
            <a:r>
              <a:rPr lang="en-US" sz="1400" b="1" dirty="0">
                <a:latin typeface="+mj-lt"/>
                <a:cs typeface="Arial" panose="020B0604020202020204" pitchFamily="34" charset="0"/>
              </a:rPr>
              <a:t>Conclusion: </a:t>
            </a:r>
            <a:r>
              <a:rPr lang="en-US" sz="1400" dirty="0">
                <a:latin typeface="+mj-lt"/>
                <a:cs typeface="Arial" panose="020B0604020202020204" pitchFamily="34" charset="0"/>
              </a:rPr>
              <a:t>C-Well (Child well) showed strong traits of depletion - identified by new automated metrics. With pressure decreasing 28% faster than non-child MNTN A Well (B-Well), as well as a relatively lower average final pressure.</a:t>
            </a:r>
          </a:p>
          <a:p>
            <a:pPr algn="ctr">
              <a:spcAft>
                <a:spcPts val="1200"/>
              </a:spcAft>
            </a:pPr>
            <a:r>
              <a:rPr lang="en-US" sz="1400" dirty="0">
                <a:latin typeface="+mj-lt"/>
                <a:cs typeface="Arial" panose="020B0604020202020204" pitchFamily="34" charset="0"/>
              </a:rPr>
              <a:t>The D-Well (MNTN B) showed similar child traits when comparing to the non-child MNTN B Well (A-Well)</a:t>
            </a:r>
          </a:p>
        </p:txBody>
      </p:sp>
      <p:sp>
        <p:nvSpPr>
          <p:cNvPr id="17" name="Rectangle 16">
            <a:extLst>
              <a:ext uri="{FF2B5EF4-FFF2-40B4-BE49-F238E27FC236}">
                <a16:creationId xmlns:a16="http://schemas.microsoft.com/office/drawing/2014/main" id="{8AFB1EF7-E473-0408-AE76-0BA4388A03E8}"/>
              </a:ext>
            </a:extLst>
          </p:cNvPr>
          <p:cNvSpPr/>
          <p:nvPr/>
        </p:nvSpPr>
        <p:spPr>
          <a:xfrm>
            <a:off x="8883650" y="3657185"/>
            <a:ext cx="598488" cy="670339"/>
          </a:xfrm>
          <a:prstGeom prst="rect">
            <a:avLst/>
          </a:prstGeom>
          <a:noFill/>
          <a:ln w="53975">
            <a:solidFill>
              <a:srgbClr val="FFDE5B"/>
            </a:solidFill>
          </a:ln>
          <a:effectLst>
            <a:glow rad="63500">
              <a:schemeClr val="accent6">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00"/>
              </a:solidFill>
            </a:endParaRPr>
          </a:p>
        </p:txBody>
      </p:sp>
      <p:sp>
        <p:nvSpPr>
          <p:cNvPr id="18" name="Rectangle 17">
            <a:extLst>
              <a:ext uri="{FF2B5EF4-FFF2-40B4-BE49-F238E27FC236}">
                <a16:creationId xmlns:a16="http://schemas.microsoft.com/office/drawing/2014/main" id="{74043C01-DD52-6FD8-D7DB-4506597EEA72}"/>
              </a:ext>
            </a:extLst>
          </p:cNvPr>
          <p:cNvSpPr/>
          <p:nvPr/>
        </p:nvSpPr>
        <p:spPr>
          <a:xfrm>
            <a:off x="309642" y="3135705"/>
            <a:ext cx="4950787" cy="217096"/>
          </a:xfrm>
          <a:prstGeom prst="rect">
            <a:avLst/>
          </a:prstGeom>
          <a:noFill/>
          <a:ln w="28575">
            <a:solidFill>
              <a:srgbClr val="FFDE5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72ECA6"/>
              </a:solidFill>
            </a:endParaRPr>
          </a:p>
        </p:txBody>
      </p:sp>
      <p:cxnSp>
        <p:nvCxnSpPr>
          <p:cNvPr id="23" name="Straight Connector 22">
            <a:extLst>
              <a:ext uri="{FF2B5EF4-FFF2-40B4-BE49-F238E27FC236}">
                <a16:creationId xmlns:a16="http://schemas.microsoft.com/office/drawing/2014/main" id="{65A3D1B4-55F4-36BE-8363-2E41244FCB83}"/>
              </a:ext>
            </a:extLst>
          </p:cNvPr>
          <p:cNvCxnSpPr/>
          <p:nvPr/>
        </p:nvCxnSpPr>
        <p:spPr>
          <a:xfrm>
            <a:off x="885266" y="5165725"/>
            <a:ext cx="3616328" cy="0"/>
          </a:xfrm>
          <a:prstGeom prst="line">
            <a:avLst/>
          </a:prstGeom>
          <a:ln w="28575">
            <a:solidFill>
              <a:srgbClr val="FFFF00"/>
            </a:solidFill>
          </a:ln>
        </p:spPr>
        <p:style>
          <a:lnRef idx="3">
            <a:schemeClr val="accent6"/>
          </a:lnRef>
          <a:fillRef idx="0">
            <a:schemeClr val="accent6"/>
          </a:fillRef>
          <a:effectRef idx="2">
            <a:schemeClr val="accent6"/>
          </a:effectRef>
          <a:fontRef idx="minor">
            <a:schemeClr val="tx1"/>
          </a:fontRef>
        </p:style>
      </p:cxnSp>
      <p:cxnSp>
        <p:nvCxnSpPr>
          <p:cNvPr id="24" name="Straight Connector 23">
            <a:extLst>
              <a:ext uri="{FF2B5EF4-FFF2-40B4-BE49-F238E27FC236}">
                <a16:creationId xmlns:a16="http://schemas.microsoft.com/office/drawing/2014/main" id="{4723C103-B0BD-3063-5532-325771A959D2}"/>
              </a:ext>
            </a:extLst>
          </p:cNvPr>
          <p:cNvCxnSpPr/>
          <p:nvPr/>
        </p:nvCxnSpPr>
        <p:spPr>
          <a:xfrm>
            <a:off x="885266" y="4864100"/>
            <a:ext cx="3616328" cy="0"/>
          </a:xfrm>
          <a:prstGeom prst="line">
            <a:avLst/>
          </a:prstGeom>
          <a:ln>
            <a:solidFill>
              <a:srgbClr val="FF0000"/>
            </a:solidFill>
          </a:ln>
        </p:spPr>
        <p:style>
          <a:lnRef idx="3">
            <a:schemeClr val="accent5"/>
          </a:lnRef>
          <a:fillRef idx="0">
            <a:schemeClr val="accent5"/>
          </a:fillRef>
          <a:effectRef idx="2">
            <a:schemeClr val="accent5"/>
          </a:effectRef>
          <a:fontRef idx="minor">
            <a:schemeClr val="tx1"/>
          </a:fontRef>
        </p:style>
      </p:cxnSp>
      <p:cxnSp>
        <p:nvCxnSpPr>
          <p:cNvPr id="26" name="Straight Arrow Connector 25">
            <a:extLst>
              <a:ext uri="{FF2B5EF4-FFF2-40B4-BE49-F238E27FC236}">
                <a16:creationId xmlns:a16="http://schemas.microsoft.com/office/drawing/2014/main" id="{15228B89-57AA-67D9-7E2A-B78B71F0F029}"/>
              </a:ext>
            </a:extLst>
          </p:cNvPr>
          <p:cNvCxnSpPr>
            <a:cxnSpLocks/>
          </p:cNvCxnSpPr>
          <p:nvPr/>
        </p:nvCxnSpPr>
        <p:spPr>
          <a:xfrm>
            <a:off x="4634415" y="4864100"/>
            <a:ext cx="0" cy="301625"/>
          </a:xfrm>
          <a:prstGeom prst="straightConnector1">
            <a:avLst/>
          </a:prstGeom>
          <a:ln>
            <a:headEnd type="oval"/>
            <a:tailEnd type="oval"/>
          </a:ln>
        </p:spPr>
        <p:style>
          <a:lnRef idx="1">
            <a:schemeClr val="dk1"/>
          </a:lnRef>
          <a:fillRef idx="0">
            <a:schemeClr val="dk1"/>
          </a:fillRef>
          <a:effectRef idx="0">
            <a:schemeClr val="dk1"/>
          </a:effectRef>
          <a:fontRef idx="minor">
            <a:schemeClr val="tx1"/>
          </a:fontRef>
        </p:style>
      </p:cxnSp>
      <p:sp>
        <p:nvSpPr>
          <p:cNvPr id="30" name="TextBox 29">
            <a:extLst>
              <a:ext uri="{FF2B5EF4-FFF2-40B4-BE49-F238E27FC236}">
                <a16:creationId xmlns:a16="http://schemas.microsoft.com/office/drawing/2014/main" id="{E8D73B1B-C7C3-EFCF-39D2-06E166B25D53}"/>
              </a:ext>
            </a:extLst>
          </p:cNvPr>
          <p:cNvSpPr txBox="1"/>
          <p:nvPr/>
        </p:nvSpPr>
        <p:spPr>
          <a:xfrm>
            <a:off x="4591842" y="4793706"/>
            <a:ext cx="1714740" cy="738664"/>
          </a:xfrm>
          <a:prstGeom prst="rect">
            <a:avLst/>
          </a:prstGeom>
          <a:noFill/>
        </p:spPr>
        <p:txBody>
          <a:bodyPr wrap="square" rtlCol="0">
            <a:spAutoFit/>
          </a:bodyPr>
          <a:lstStyle/>
          <a:p>
            <a:pPr algn="ctr"/>
            <a:r>
              <a:rPr lang="en-US" sz="1400" b="1" dirty="0"/>
              <a:t>Pressure depletes </a:t>
            </a:r>
          </a:p>
          <a:p>
            <a:pPr algn="ctr"/>
            <a:r>
              <a:rPr lang="en-US" sz="1400" b="1" dirty="0"/>
              <a:t>28% faster</a:t>
            </a:r>
          </a:p>
          <a:p>
            <a:pPr algn="ctr"/>
            <a:endParaRPr lang="en-US" sz="1400" b="1" dirty="0"/>
          </a:p>
        </p:txBody>
      </p:sp>
      <p:sp>
        <p:nvSpPr>
          <p:cNvPr id="32" name="Rectangle 31">
            <a:extLst>
              <a:ext uri="{FF2B5EF4-FFF2-40B4-BE49-F238E27FC236}">
                <a16:creationId xmlns:a16="http://schemas.microsoft.com/office/drawing/2014/main" id="{AD092E6F-A633-1D1F-F091-75D83769B83A}"/>
              </a:ext>
            </a:extLst>
          </p:cNvPr>
          <p:cNvSpPr/>
          <p:nvPr/>
        </p:nvSpPr>
        <p:spPr>
          <a:xfrm>
            <a:off x="7980680" y="3693159"/>
            <a:ext cx="553720" cy="611933"/>
          </a:xfrm>
          <a:prstGeom prst="rect">
            <a:avLst/>
          </a:prstGeom>
          <a:noFill/>
          <a:ln w="53975">
            <a:solidFill>
              <a:srgbClr val="FA786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DE5B"/>
              </a:solidFill>
            </a:endParaRPr>
          </a:p>
        </p:txBody>
      </p:sp>
    </p:spTree>
    <p:extLst>
      <p:ext uri="{BB962C8B-B14F-4D97-AF65-F5344CB8AC3E}">
        <p14:creationId xmlns:p14="http://schemas.microsoft.com/office/powerpoint/2010/main" val="39057744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Picture 20">
            <a:extLst>
              <a:ext uri="{FF2B5EF4-FFF2-40B4-BE49-F238E27FC236}">
                <a16:creationId xmlns:a16="http://schemas.microsoft.com/office/drawing/2014/main" id="{E8177CA9-5913-7086-C842-693BD0931F44}"/>
              </a:ext>
            </a:extLst>
          </p:cNvPr>
          <p:cNvPicPr>
            <a:picLocks noChangeAspect="1"/>
          </p:cNvPicPr>
          <p:nvPr/>
        </p:nvPicPr>
        <p:blipFill>
          <a:blip r:embed="rId3"/>
          <a:stretch>
            <a:fillRect/>
          </a:stretch>
        </p:blipFill>
        <p:spPr>
          <a:xfrm>
            <a:off x="9412165" y="4452713"/>
            <a:ext cx="2511630" cy="2381017"/>
          </a:xfrm>
          <a:prstGeom prst="rect">
            <a:avLst/>
          </a:prstGeom>
        </p:spPr>
      </p:pic>
      <p:sp>
        <p:nvSpPr>
          <p:cNvPr id="3" name="Title 2">
            <a:extLst>
              <a:ext uri="{FF2B5EF4-FFF2-40B4-BE49-F238E27FC236}">
                <a16:creationId xmlns:a16="http://schemas.microsoft.com/office/drawing/2014/main" id="{DBB6EF6D-8BBD-03E7-2617-F2075BDFCE25}"/>
              </a:ext>
            </a:extLst>
          </p:cNvPr>
          <p:cNvSpPr>
            <a:spLocks noGrp="1"/>
          </p:cNvSpPr>
          <p:nvPr>
            <p:ph type="title"/>
          </p:nvPr>
        </p:nvSpPr>
        <p:spPr/>
        <p:txBody>
          <a:bodyPr/>
          <a:lstStyle/>
          <a:p>
            <a:r>
              <a:rPr lang="en-US" dirty="0"/>
              <a:t>Frac Hit Analysis</a:t>
            </a:r>
          </a:p>
        </p:txBody>
      </p:sp>
      <p:sp>
        <p:nvSpPr>
          <p:cNvPr id="4" name="Text Placeholder 3">
            <a:extLst>
              <a:ext uri="{FF2B5EF4-FFF2-40B4-BE49-F238E27FC236}">
                <a16:creationId xmlns:a16="http://schemas.microsoft.com/office/drawing/2014/main" id="{A1FB83B0-0901-B0C2-610B-5329547E2606}"/>
              </a:ext>
            </a:extLst>
          </p:cNvPr>
          <p:cNvSpPr>
            <a:spLocks noGrp="1"/>
          </p:cNvSpPr>
          <p:nvPr>
            <p:ph type="body" sz="quarter" idx="10"/>
          </p:nvPr>
        </p:nvSpPr>
        <p:spPr>
          <a:xfrm>
            <a:off x="838200" y="1214778"/>
            <a:ext cx="10515600" cy="229704"/>
          </a:xfrm>
        </p:spPr>
        <p:txBody>
          <a:bodyPr/>
          <a:lstStyle/>
          <a:p>
            <a:r>
              <a:rPr lang="en-US" dirty="0"/>
              <a:t>Gauge data monitoring with the dashboard allows for easy identification of frac hits, both through auto-detection and easy visual flagging. Showcased on BIL 10-29 parent well, identifying that majority of sizeable hits occurred from the B-Well (same zone), rather than the child-well.</a:t>
            </a:r>
          </a:p>
        </p:txBody>
      </p:sp>
      <p:sp>
        <p:nvSpPr>
          <p:cNvPr id="5" name="Text Placeholder 4">
            <a:extLst>
              <a:ext uri="{FF2B5EF4-FFF2-40B4-BE49-F238E27FC236}">
                <a16:creationId xmlns:a16="http://schemas.microsoft.com/office/drawing/2014/main" id="{0B7DB29B-53FA-72EC-5496-2CFF3768D584}"/>
              </a:ext>
            </a:extLst>
          </p:cNvPr>
          <p:cNvSpPr>
            <a:spLocks noGrp="1"/>
          </p:cNvSpPr>
          <p:nvPr>
            <p:ph type="body" sz="quarter" idx="11"/>
          </p:nvPr>
        </p:nvSpPr>
        <p:spPr/>
        <p:txBody>
          <a:bodyPr/>
          <a:lstStyle/>
          <a:p>
            <a:r>
              <a:rPr lang="en-US" dirty="0"/>
              <a:t>Frac Spotfire Dashboard</a:t>
            </a:r>
          </a:p>
        </p:txBody>
      </p:sp>
      <p:sp>
        <p:nvSpPr>
          <p:cNvPr id="6" name="Footer Placeholder 5">
            <a:extLst>
              <a:ext uri="{FF2B5EF4-FFF2-40B4-BE49-F238E27FC236}">
                <a16:creationId xmlns:a16="http://schemas.microsoft.com/office/drawing/2014/main" id="{50228784-DE37-D0EB-5876-E1DCF6654415}"/>
              </a:ext>
            </a:extLst>
          </p:cNvPr>
          <p:cNvSpPr>
            <a:spLocks noGrp="1"/>
          </p:cNvSpPr>
          <p:nvPr>
            <p:ph type="ftr" sz="quarter" idx="3"/>
          </p:nvPr>
        </p:nvSpPr>
        <p:spPr/>
        <p:txBody>
          <a:bodyPr/>
          <a:lstStyle/>
          <a:p>
            <a:r>
              <a:rPr lang="en-US" b="1">
                <a:latin typeface="Arial" panose="020B0604020202020204" pitchFamily="34" charset="0"/>
              </a:rPr>
              <a:t>NuVista Energy Ltd.</a:t>
            </a:r>
            <a:endParaRPr lang="en-US" dirty="0">
              <a:latin typeface="Arial" panose="020B0604020202020204" pitchFamily="34" charset="0"/>
            </a:endParaRPr>
          </a:p>
        </p:txBody>
      </p:sp>
      <p:sp>
        <p:nvSpPr>
          <p:cNvPr id="7" name="Slide Number Placeholder 6">
            <a:extLst>
              <a:ext uri="{FF2B5EF4-FFF2-40B4-BE49-F238E27FC236}">
                <a16:creationId xmlns:a16="http://schemas.microsoft.com/office/drawing/2014/main" id="{CC1F0A46-CCAC-8AF7-2396-4BF9E819FCF1}"/>
              </a:ext>
            </a:extLst>
          </p:cNvPr>
          <p:cNvSpPr>
            <a:spLocks noGrp="1"/>
          </p:cNvSpPr>
          <p:nvPr>
            <p:ph type="sldNum" sz="quarter" idx="4"/>
          </p:nvPr>
        </p:nvSpPr>
        <p:spPr/>
        <p:txBody>
          <a:bodyPr/>
          <a:lstStyle/>
          <a:p>
            <a:fld id="{D246DD65-7063-5C41-96CC-23CB1F95FA91}" type="slidenum">
              <a:rPr lang="en-US" smtClean="0"/>
              <a:pPr/>
              <a:t>10</a:t>
            </a:fld>
            <a:endParaRPr lang="en-US" dirty="0"/>
          </a:p>
        </p:txBody>
      </p:sp>
      <p:pic>
        <p:nvPicPr>
          <p:cNvPr id="8" name="Picture 7">
            <a:extLst>
              <a:ext uri="{FF2B5EF4-FFF2-40B4-BE49-F238E27FC236}">
                <a16:creationId xmlns:a16="http://schemas.microsoft.com/office/drawing/2014/main" id="{50B13CE0-12A3-7363-9CD5-658BDEF995F5}"/>
              </a:ext>
            </a:extLst>
          </p:cNvPr>
          <p:cNvPicPr>
            <a:picLocks noChangeAspect="1"/>
          </p:cNvPicPr>
          <p:nvPr/>
        </p:nvPicPr>
        <p:blipFill>
          <a:blip r:embed="rId4"/>
          <a:stretch>
            <a:fillRect/>
          </a:stretch>
        </p:blipFill>
        <p:spPr>
          <a:xfrm>
            <a:off x="0" y="2195881"/>
            <a:ext cx="10591087" cy="2232149"/>
          </a:xfrm>
          <a:prstGeom prst="rect">
            <a:avLst/>
          </a:prstGeom>
        </p:spPr>
      </p:pic>
      <p:pic>
        <p:nvPicPr>
          <p:cNvPr id="2" name="Picture 1">
            <a:extLst>
              <a:ext uri="{FF2B5EF4-FFF2-40B4-BE49-F238E27FC236}">
                <a16:creationId xmlns:a16="http://schemas.microsoft.com/office/drawing/2014/main" id="{A1B056C6-7E3D-996B-695C-E7DF159FFDE3}"/>
              </a:ext>
            </a:extLst>
          </p:cNvPr>
          <p:cNvPicPr>
            <a:picLocks noChangeAspect="1"/>
          </p:cNvPicPr>
          <p:nvPr/>
        </p:nvPicPr>
        <p:blipFill>
          <a:blip r:embed="rId5"/>
          <a:stretch>
            <a:fillRect/>
          </a:stretch>
        </p:blipFill>
        <p:spPr>
          <a:xfrm>
            <a:off x="9832851" y="2189155"/>
            <a:ext cx="2359149" cy="2039262"/>
          </a:xfrm>
          <a:prstGeom prst="rect">
            <a:avLst/>
          </a:prstGeom>
        </p:spPr>
      </p:pic>
      <p:sp>
        <p:nvSpPr>
          <p:cNvPr id="12" name="Title 2">
            <a:extLst>
              <a:ext uri="{FF2B5EF4-FFF2-40B4-BE49-F238E27FC236}">
                <a16:creationId xmlns:a16="http://schemas.microsoft.com/office/drawing/2014/main" id="{9053F589-1BD0-6BCF-B1CB-AE7B4BEEBEA8}"/>
              </a:ext>
            </a:extLst>
          </p:cNvPr>
          <p:cNvSpPr txBox="1">
            <a:spLocks/>
          </p:cNvSpPr>
          <p:nvPr/>
        </p:nvSpPr>
        <p:spPr>
          <a:xfrm>
            <a:off x="9300064" y="4384084"/>
            <a:ext cx="2417007" cy="229704"/>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sz="3200" b="0" i="0" kern="1200" spc="40" baseline="0">
                <a:solidFill>
                  <a:schemeClr val="tx1"/>
                </a:solidFill>
                <a:latin typeface="Arial" panose="020B0604020202020204" pitchFamily="34" charset="0"/>
                <a:ea typeface="Roboto Light" panose="02000000000000000000" pitchFamily="2" charset="0"/>
                <a:cs typeface="+mj-cs"/>
              </a:defRPr>
            </a:lvl1pPr>
          </a:lstStyle>
          <a:p>
            <a:r>
              <a:rPr lang="en-US" sz="1400" b="1" u="sng" dirty="0">
                <a:solidFill>
                  <a:schemeClr val="bg2">
                    <a:lumMod val="10000"/>
                  </a:schemeClr>
                </a:solidFill>
              </a:rPr>
              <a:t>Large Frac Hit Distribution</a:t>
            </a:r>
          </a:p>
        </p:txBody>
      </p:sp>
      <p:sp>
        <p:nvSpPr>
          <p:cNvPr id="13" name="TextBox 12">
            <a:extLst>
              <a:ext uri="{FF2B5EF4-FFF2-40B4-BE49-F238E27FC236}">
                <a16:creationId xmlns:a16="http://schemas.microsoft.com/office/drawing/2014/main" id="{FF5F54B8-5C15-6A7E-B6AA-8A588B35FDC3}"/>
              </a:ext>
            </a:extLst>
          </p:cNvPr>
          <p:cNvSpPr txBox="1"/>
          <p:nvPr/>
        </p:nvSpPr>
        <p:spPr>
          <a:xfrm>
            <a:off x="268205" y="5029250"/>
            <a:ext cx="5380852" cy="954107"/>
          </a:xfrm>
          <a:prstGeom prst="rect">
            <a:avLst/>
          </a:prstGeom>
          <a:solidFill>
            <a:schemeClr val="bg2">
              <a:lumMod val="90000"/>
            </a:schemeClr>
          </a:solidFill>
          <a:ln>
            <a:solidFill>
              <a:schemeClr val="tx1"/>
            </a:solidFill>
          </a:ln>
        </p:spPr>
        <p:txBody>
          <a:bodyPr wrap="square" rtlCol="0">
            <a:spAutoFit/>
          </a:bodyPr>
          <a:lstStyle/>
          <a:p>
            <a:r>
              <a:rPr lang="en-US" sz="1400" b="1" dirty="0"/>
              <a:t>Conclusion: </a:t>
            </a:r>
            <a:r>
              <a:rPr lang="en-US" sz="1400" dirty="0"/>
              <a:t>Identifying the pumping well with cleaned gauge data showcases the dashboard’s power to reveal reservoir dynamics, improve well-to-well communication insights, and optimize future zone selection. </a:t>
            </a:r>
            <a:r>
              <a:rPr lang="en-US" sz="1400" i="1" dirty="0"/>
              <a:t>Helped inform 10-29 Phase 2 layout</a:t>
            </a:r>
            <a:r>
              <a:rPr lang="en-US" sz="1400" dirty="0"/>
              <a:t>.</a:t>
            </a:r>
          </a:p>
        </p:txBody>
      </p:sp>
      <p:sp>
        <p:nvSpPr>
          <p:cNvPr id="18" name="Title 2">
            <a:extLst>
              <a:ext uri="{FF2B5EF4-FFF2-40B4-BE49-F238E27FC236}">
                <a16:creationId xmlns:a16="http://schemas.microsoft.com/office/drawing/2014/main" id="{C3C59D94-6ADC-B2BD-8538-FD8B6B6A5DEF}"/>
              </a:ext>
            </a:extLst>
          </p:cNvPr>
          <p:cNvSpPr txBox="1">
            <a:spLocks/>
          </p:cNvSpPr>
          <p:nvPr/>
        </p:nvSpPr>
        <p:spPr>
          <a:xfrm>
            <a:off x="727210" y="2214045"/>
            <a:ext cx="3501890" cy="173555"/>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sz="3200" b="0" i="0" kern="1200" spc="40" baseline="0">
                <a:solidFill>
                  <a:schemeClr val="tx1"/>
                </a:solidFill>
                <a:latin typeface="Arial" panose="020B0604020202020204" pitchFamily="34" charset="0"/>
                <a:ea typeface="Roboto Light" panose="02000000000000000000" pitchFamily="2" charset="0"/>
                <a:cs typeface="+mj-cs"/>
              </a:defRPr>
            </a:lvl1pPr>
          </a:lstStyle>
          <a:p>
            <a:r>
              <a:rPr lang="en-US" sz="1400" b="1" u="sng" dirty="0">
                <a:solidFill>
                  <a:schemeClr val="bg2">
                    <a:lumMod val="10000"/>
                  </a:schemeClr>
                </a:solidFill>
              </a:rPr>
              <a:t>04-27 Gauge Data – Frac Hits Identified</a:t>
            </a:r>
          </a:p>
        </p:txBody>
      </p:sp>
      <p:pic>
        <p:nvPicPr>
          <p:cNvPr id="23" name="Picture 22">
            <a:extLst>
              <a:ext uri="{FF2B5EF4-FFF2-40B4-BE49-F238E27FC236}">
                <a16:creationId xmlns:a16="http://schemas.microsoft.com/office/drawing/2014/main" id="{0C0C2A2E-FAF2-92D8-31E5-D292AD843542}"/>
              </a:ext>
            </a:extLst>
          </p:cNvPr>
          <p:cNvPicPr>
            <a:picLocks noChangeAspect="1"/>
          </p:cNvPicPr>
          <p:nvPr/>
        </p:nvPicPr>
        <p:blipFill>
          <a:blip r:embed="rId6"/>
          <a:stretch>
            <a:fillRect/>
          </a:stretch>
        </p:blipFill>
        <p:spPr>
          <a:xfrm>
            <a:off x="5863841" y="4428617"/>
            <a:ext cx="3347490" cy="2155371"/>
          </a:xfrm>
          <a:prstGeom prst="rect">
            <a:avLst/>
          </a:prstGeom>
        </p:spPr>
      </p:pic>
      <p:sp>
        <p:nvSpPr>
          <p:cNvPr id="24" name="Rectangle 23">
            <a:extLst>
              <a:ext uri="{FF2B5EF4-FFF2-40B4-BE49-F238E27FC236}">
                <a16:creationId xmlns:a16="http://schemas.microsoft.com/office/drawing/2014/main" id="{C9D710C8-67EB-196B-6DFC-B3B0EED7A682}"/>
              </a:ext>
            </a:extLst>
          </p:cNvPr>
          <p:cNvSpPr/>
          <p:nvPr/>
        </p:nvSpPr>
        <p:spPr>
          <a:xfrm>
            <a:off x="8766664" y="5643221"/>
            <a:ext cx="408842" cy="272753"/>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0000"/>
              </a:solidFill>
            </a:endParaRPr>
          </a:p>
        </p:txBody>
      </p:sp>
    </p:spTree>
    <p:extLst>
      <p:ext uri="{BB962C8B-B14F-4D97-AF65-F5344CB8AC3E}">
        <p14:creationId xmlns:p14="http://schemas.microsoft.com/office/powerpoint/2010/main" val="3741669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E59F5A7-19C3-2B37-AB8B-719D6C68F908}"/>
              </a:ext>
            </a:extLst>
          </p:cNvPr>
          <p:cNvSpPr>
            <a:spLocks noGrp="1"/>
          </p:cNvSpPr>
          <p:nvPr>
            <p:ph type="title"/>
          </p:nvPr>
        </p:nvSpPr>
        <p:spPr>
          <a:xfrm>
            <a:off x="838200" y="658842"/>
            <a:ext cx="10515600" cy="541308"/>
          </a:xfrm>
        </p:spPr>
        <p:txBody>
          <a:bodyPr/>
          <a:lstStyle/>
          <a:p>
            <a:r>
              <a:rPr lang="en-US" dirty="0"/>
              <a:t>Additional Projects</a:t>
            </a:r>
          </a:p>
        </p:txBody>
      </p:sp>
      <p:sp>
        <p:nvSpPr>
          <p:cNvPr id="4" name="Text Placeholder 3">
            <a:extLst>
              <a:ext uri="{FF2B5EF4-FFF2-40B4-BE49-F238E27FC236}">
                <a16:creationId xmlns:a16="http://schemas.microsoft.com/office/drawing/2014/main" id="{44BCE361-2932-DF86-76CD-40866E65F4A6}"/>
              </a:ext>
            </a:extLst>
          </p:cNvPr>
          <p:cNvSpPr>
            <a:spLocks noGrp="1"/>
          </p:cNvSpPr>
          <p:nvPr>
            <p:ph type="body" sz="quarter" idx="10"/>
          </p:nvPr>
        </p:nvSpPr>
        <p:spPr>
          <a:xfrm>
            <a:off x="838200" y="1247167"/>
            <a:ext cx="10991850" cy="228164"/>
          </a:xfrm>
        </p:spPr>
        <p:txBody>
          <a:bodyPr/>
          <a:lstStyle/>
          <a:p>
            <a:pPr marL="285750" indent="-285750">
              <a:buFont typeface="Arial" panose="020B0604020202020204" pitchFamily="34" charset="0"/>
              <a:buChar char="•"/>
            </a:pPr>
            <a:r>
              <a:rPr lang="en-US" dirty="0"/>
              <a:t>Technical Data Analysis: </a:t>
            </a:r>
          </a:p>
          <a:p>
            <a:pPr marL="468313" lvl="1" indent="-285750"/>
            <a:r>
              <a:rPr lang="en-US" dirty="0"/>
              <a:t>ExpressFiber Dashboard, 07-31 </a:t>
            </a:r>
            <a:r>
              <a:rPr lang="en-US" dirty="0" err="1"/>
              <a:t>Clearvision</a:t>
            </a:r>
            <a:r>
              <a:rPr lang="en-US" dirty="0"/>
              <a:t>, BIR Darkvision Completions, Seismic Array (PSN 16-33 &amp; GC 14-30)</a:t>
            </a:r>
          </a:p>
          <a:p>
            <a:pPr marL="285750" indent="-285750">
              <a:buFont typeface="Arial" panose="020B0604020202020204" pitchFamily="34" charset="0"/>
              <a:buChar char="•"/>
            </a:pPr>
            <a:r>
              <a:rPr lang="en-US" dirty="0"/>
              <a:t>Operations Planning </a:t>
            </a:r>
          </a:p>
          <a:p>
            <a:pPr marL="468313" lvl="1" indent="-285750"/>
            <a:r>
              <a:rPr lang="en-US" dirty="0"/>
              <a:t>Perforation Planning, Frac Design, Sequencing, Data Surveillance</a:t>
            </a:r>
          </a:p>
          <a:p>
            <a:pPr marL="285750" indent="-285750">
              <a:buFont typeface="Arial" panose="020B0604020202020204" pitchFamily="34" charset="0"/>
              <a:buChar char="•"/>
            </a:pPr>
            <a:r>
              <a:rPr lang="en-US" dirty="0"/>
              <a:t>Single-use Economic Analyses </a:t>
            </a:r>
          </a:p>
          <a:p>
            <a:pPr marL="468313" lvl="1" indent="-285750"/>
            <a:r>
              <a:rPr lang="en-US" dirty="0"/>
              <a:t>L-Block, GORR, Individual Sections</a:t>
            </a:r>
          </a:p>
          <a:p>
            <a:pPr marL="285750" indent="-285750">
              <a:buFont typeface="Arial" panose="020B0604020202020204" pitchFamily="34" charset="0"/>
              <a:buChar char="•"/>
            </a:pPr>
            <a:r>
              <a:rPr lang="en-US" dirty="0"/>
              <a:t>Data Archiving</a:t>
            </a:r>
          </a:p>
          <a:p>
            <a:pPr marL="468313" lvl="1" indent="-285750"/>
            <a:r>
              <a:rPr lang="en-US" dirty="0"/>
              <a:t>CGR Database, Legacy Flowback Model, Frac Gauge and Pumping Data</a:t>
            </a:r>
          </a:p>
          <a:p>
            <a:pPr marL="285750" indent="-285750">
              <a:buFont typeface="Arial" panose="020B0604020202020204" pitchFamily="34" charset="0"/>
              <a:buChar char="•"/>
            </a:pPr>
            <a:endParaRPr lang="en-US" dirty="0"/>
          </a:p>
        </p:txBody>
      </p:sp>
      <p:sp>
        <p:nvSpPr>
          <p:cNvPr id="5" name="Text Placeholder 4">
            <a:extLst>
              <a:ext uri="{FF2B5EF4-FFF2-40B4-BE49-F238E27FC236}">
                <a16:creationId xmlns:a16="http://schemas.microsoft.com/office/drawing/2014/main" id="{0CC8B345-EDCB-B47D-8F15-C63C7E0B5687}"/>
              </a:ext>
            </a:extLst>
          </p:cNvPr>
          <p:cNvSpPr>
            <a:spLocks noGrp="1"/>
          </p:cNvSpPr>
          <p:nvPr>
            <p:ph type="body" sz="quarter" idx="11"/>
          </p:nvPr>
        </p:nvSpPr>
        <p:spPr/>
        <p:txBody>
          <a:bodyPr/>
          <a:lstStyle/>
          <a:p>
            <a:r>
              <a:rPr lang="en-US" dirty="0"/>
              <a:t>Conclusion</a:t>
            </a:r>
          </a:p>
        </p:txBody>
      </p:sp>
      <p:sp>
        <p:nvSpPr>
          <p:cNvPr id="6" name="Footer Placeholder 5">
            <a:extLst>
              <a:ext uri="{FF2B5EF4-FFF2-40B4-BE49-F238E27FC236}">
                <a16:creationId xmlns:a16="http://schemas.microsoft.com/office/drawing/2014/main" id="{690E015F-399B-AD7C-0854-384AC8875205}"/>
              </a:ext>
            </a:extLst>
          </p:cNvPr>
          <p:cNvSpPr>
            <a:spLocks noGrp="1"/>
          </p:cNvSpPr>
          <p:nvPr>
            <p:ph type="ftr" sz="quarter" idx="3"/>
          </p:nvPr>
        </p:nvSpPr>
        <p:spPr/>
        <p:txBody>
          <a:bodyPr/>
          <a:lstStyle/>
          <a:p>
            <a:r>
              <a:rPr lang="en-US" b="1">
                <a:latin typeface="Arial" panose="020B0604020202020204" pitchFamily="34" charset="0"/>
              </a:rPr>
              <a:t>NuVista Energy Ltd.</a:t>
            </a:r>
            <a:endParaRPr lang="en-US" dirty="0">
              <a:latin typeface="Arial" panose="020B0604020202020204" pitchFamily="34" charset="0"/>
            </a:endParaRPr>
          </a:p>
        </p:txBody>
      </p:sp>
      <p:sp>
        <p:nvSpPr>
          <p:cNvPr id="7" name="Slide Number Placeholder 6">
            <a:extLst>
              <a:ext uri="{FF2B5EF4-FFF2-40B4-BE49-F238E27FC236}">
                <a16:creationId xmlns:a16="http://schemas.microsoft.com/office/drawing/2014/main" id="{E341D158-AB32-3DF4-ADCE-0F894CE6DA42}"/>
              </a:ext>
            </a:extLst>
          </p:cNvPr>
          <p:cNvSpPr>
            <a:spLocks noGrp="1"/>
          </p:cNvSpPr>
          <p:nvPr>
            <p:ph type="sldNum" sz="quarter" idx="4"/>
          </p:nvPr>
        </p:nvSpPr>
        <p:spPr/>
        <p:txBody>
          <a:bodyPr/>
          <a:lstStyle/>
          <a:p>
            <a:fld id="{D246DD65-7063-5C41-96CC-23CB1F95FA91}" type="slidenum">
              <a:rPr lang="en-US" smtClean="0"/>
              <a:pPr/>
              <a:t>11</a:t>
            </a:fld>
            <a:endParaRPr lang="en-US" dirty="0"/>
          </a:p>
        </p:txBody>
      </p:sp>
      <p:sp>
        <p:nvSpPr>
          <p:cNvPr id="9" name="Title 2">
            <a:extLst>
              <a:ext uri="{FF2B5EF4-FFF2-40B4-BE49-F238E27FC236}">
                <a16:creationId xmlns:a16="http://schemas.microsoft.com/office/drawing/2014/main" id="{AB369BD9-38AE-7462-D040-C3C501FCC75E}"/>
              </a:ext>
            </a:extLst>
          </p:cNvPr>
          <p:cNvSpPr txBox="1">
            <a:spLocks/>
          </p:cNvSpPr>
          <p:nvPr/>
        </p:nvSpPr>
        <p:spPr>
          <a:xfrm>
            <a:off x="838197" y="3991533"/>
            <a:ext cx="10515600" cy="1033508"/>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sz="3200" b="0" i="0" kern="1200" spc="40" baseline="0">
                <a:solidFill>
                  <a:schemeClr val="tx1"/>
                </a:solidFill>
                <a:latin typeface="Arial" panose="020B0604020202020204" pitchFamily="34" charset="0"/>
                <a:ea typeface="Roboto Light" panose="02000000000000000000" pitchFamily="2" charset="0"/>
                <a:cs typeface="+mj-cs"/>
              </a:defRPr>
            </a:lvl1pPr>
          </a:lstStyle>
          <a:p>
            <a:r>
              <a:rPr lang="en-US" dirty="0"/>
              <a:t>What’s Next</a:t>
            </a:r>
          </a:p>
        </p:txBody>
      </p:sp>
      <p:sp>
        <p:nvSpPr>
          <p:cNvPr id="10" name="Text Placeholder 3">
            <a:extLst>
              <a:ext uri="{FF2B5EF4-FFF2-40B4-BE49-F238E27FC236}">
                <a16:creationId xmlns:a16="http://schemas.microsoft.com/office/drawing/2014/main" id="{03CD0F5D-3E97-2E6B-7ED9-B968AD060261}"/>
              </a:ext>
            </a:extLst>
          </p:cNvPr>
          <p:cNvSpPr txBox="1">
            <a:spLocks/>
          </p:cNvSpPr>
          <p:nvPr/>
        </p:nvSpPr>
        <p:spPr>
          <a:xfrm>
            <a:off x="838200" y="4598146"/>
            <a:ext cx="10991850" cy="228164"/>
          </a:xfrm>
          <a:prstGeom prst="rect">
            <a:avLst/>
          </a:prstGeom>
        </p:spPr>
        <p:txBody>
          <a:bodyPr vert="horz" lIns="0" tIns="0" rIns="0" bIns="0" rtlCol="0">
            <a:noAutofit/>
          </a:bodyPr>
          <a:lstStyle>
            <a:lvl1pPr marL="0" indent="0" algn="l" defTabSz="914400" rtl="0" eaLnBrk="1" latinLnBrk="0" hangingPunct="1">
              <a:lnSpc>
                <a:spcPct val="90000"/>
              </a:lnSpc>
              <a:spcBef>
                <a:spcPts val="1000"/>
              </a:spcBef>
              <a:buFont typeface="Arial" panose="020B0604020202020204" pitchFamily="34" charset="0"/>
              <a:buNone/>
              <a:defRPr sz="1800" b="0" i="0" kern="1200">
                <a:solidFill>
                  <a:schemeClr val="tx1"/>
                </a:solidFill>
                <a:latin typeface="Arial" panose="020B0604020202020204" pitchFamily="34" charset="0"/>
                <a:ea typeface="Roboto Medium" panose="02000000000000000000" pitchFamily="2" charset="0"/>
                <a:cs typeface="+mn-cs"/>
              </a:defRPr>
            </a:lvl1pPr>
            <a:lvl2pPr marL="182563" indent="-173038" algn="l" defTabSz="914400" rtl="0" eaLnBrk="1" latinLnBrk="0" hangingPunct="1">
              <a:lnSpc>
                <a:spcPct val="90000"/>
              </a:lnSpc>
              <a:spcBef>
                <a:spcPts val="500"/>
              </a:spcBef>
              <a:buClr>
                <a:schemeClr val="accent1"/>
              </a:buClr>
              <a:buFont typeface="Arial" panose="020B0604020202020204" pitchFamily="34" charset="0"/>
              <a:buChar char="•"/>
              <a:tabLst/>
              <a:defRPr sz="1600" b="0" i="0" kern="1200">
                <a:solidFill>
                  <a:schemeClr val="tx1"/>
                </a:solidFill>
                <a:latin typeface="Arial" panose="020B0604020202020204" pitchFamily="34" charset="0"/>
                <a:ea typeface="Roboto" panose="02000000000000000000" pitchFamily="2" charset="0"/>
                <a:cs typeface="+mn-cs"/>
              </a:defRPr>
            </a:lvl2pPr>
            <a:lvl3pPr marL="365125" indent="-142875" algn="l" defTabSz="914400" rtl="0" eaLnBrk="1" latinLnBrk="0" hangingPunct="1">
              <a:lnSpc>
                <a:spcPct val="90000"/>
              </a:lnSpc>
              <a:spcBef>
                <a:spcPts val="500"/>
              </a:spcBef>
              <a:buClr>
                <a:schemeClr val="accent1"/>
              </a:buClr>
              <a:buFont typeface="Arial" panose="020B0604020202020204" pitchFamily="34" charset="0"/>
              <a:buChar char="•"/>
              <a:tabLst/>
              <a:defRPr sz="1600" b="0" i="0" kern="1200">
                <a:solidFill>
                  <a:schemeClr val="tx1"/>
                </a:solidFill>
                <a:latin typeface="Arial" panose="020B0604020202020204" pitchFamily="34" charset="0"/>
                <a:ea typeface="Roboto" panose="02000000000000000000" pitchFamily="2" charset="0"/>
                <a:cs typeface="+mn-cs"/>
              </a:defRPr>
            </a:lvl3pPr>
            <a:lvl4pPr marL="538163" indent="-131763" algn="l" defTabSz="914400" rtl="0" eaLnBrk="1" latinLnBrk="0" hangingPunct="1">
              <a:lnSpc>
                <a:spcPct val="90000"/>
              </a:lnSpc>
              <a:spcBef>
                <a:spcPts val="500"/>
              </a:spcBef>
              <a:buClr>
                <a:schemeClr val="accent1"/>
              </a:buClr>
              <a:buFont typeface="Arial" panose="020B0604020202020204" pitchFamily="34" charset="0"/>
              <a:buChar char="•"/>
              <a:tabLst/>
              <a:defRPr sz="1600" b="0" i="0" kern="1200">
                <a:solidFill>
                  <a:schemeClr val="tx1"/>
                </a:solidFill>
                <a:latin typeface="Arial" panose="020B0604020202020204" pitchFamily="34" charset="0"/>
                <a:ea typeface="Roboto" panose="02000000000000000000" pitchFamily="2" charset="0"/>
                <a:cs typeface="+mn-cs"/>
              </a:defRPr>
            </a:lvl4pPr>
            <a:lvl5pPr marL="720725" indent="-142875" algn="l" defTabSz="914400" rtl="0" eaLnBrk="1" latinLnBrk="0" hangingPunct="1">
              <a:lnSpc>
                <a:spcPct val="90000"/>
              </a:lnSpc>
              <a:spcBef>
                <a:spcPts val="500"/>
              </a:spcBef>
              <a:buClr>
                <a:schemeClr val="accent1"/>
              </a:buClr>
              <a:buFont typeface="Arial" panose="020B0604020202020204" pitchFamily="34" charset="0"/>
              <a:buChar char="•"/>
              <a:tabLst/>
              <a:defRPr sz="1600" b="0" i="0" kern="1200">
                <a:solidFill>
                  <a:schemeClr val="tx1"/>
                </a:solidFill>
                <a:latin typeface="Arial" panose="020B0604020202020204" pitchFamily="34" charset="0"/>
                <a:ea typeface="Roboto" panose="02000000000000000000"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buFont typeface="Arial" panose="020B0604020202020204" pitchFamily="34" charset="0"/>
              <a:buChar char="•"/>
            </a:pPr>
            <a:r>
              <a:rPr lang="en-US" dirty="0"/>
              <a:t>Back to school in September for last year of Software Engineering, graduation May 2026	</a:t>
            </a:r>
          </a:p>
          <a:p>
            <a:pPr marL="468313" lvl="1" indent="-285750"/>
            <a:r>
              <a:rPr lang="en-US" dirty="0"/>
              <a:t>Some Courses Include: Capstone (Team Design), Scalable Data Analytics, Quantum Theory/Computation</a:t>
            </a:r>
          </a:p>
          <a:p>
            <a:pPr marL="285750" indent="-285750">
              <a:buFont typeface="Arial" panose="020B0604020202020204" pitchFamily="34" charset="0"/>
              <a:buChar char="•"/>
            </a:pPr>
            <a:r>
              <a:rPr lang="en-US" dirty="0"/>
              <a:t>Work part-time during school with </a:t>
            </a:r>
            <a:r>
              <a:rPr lang="en-US" dirty="0" err="1"/>
              <a:t>NuVista</a:t>
            </a:r>
            <a:r>
              <a:rPr lang="en-US" dirty="0"/>
              <a:t> </a:t>
            </a:r>
          </a:p>
          <a:p>
            <a:pPr marL="285750" indent="-285750">
              <a:buFont typeface="Arial" panose="020B0604020202020204" pitchFamily="34" charset="0"/>
              <a:buChar char="•"/>
            </a:pPr>
            <a:endParaRPr lang="en-US" dirty="0"/>
          </a:p>
          <a:p>
            <a:r>
              <a:rPr lang="en-US" dirty="0"/>
              <a:t>	</a:t>
            </a:r>
          </a:p>
          <a:p>
            <a:pPr marL="468313" lvl="1" indent="-285750"/>
            <a:endParaRPr lang="en-US" dirty="0"/>
          </a:p>
          <a:p>
            <a:pPr lvl="1" indent="0">
              <a:buNone/>
            </a:pPr>
            <a:endParaRPr lang="en-US" dirty="0"/>
          </a:p>
          <a:p>
            <a:pPr marL="468313" lvl="1" indent="-285750"/>
            <a:endParaRPr lang="en-US" dirty="0"/>
          </a:p>
        </p:txBody>
      </p:sp>
    </p:spTree>
    <p:extLst>
      <p:ext uri="{BB962C8B-B14F-4D97-AF65-F5344CB8AC3E}">
        <p14:creationId xmlns:p14="http://schemas.microsoft.com/office/powerpoint/2010/main" val="329989762"/>
      </p:ext>
    </p:extLst>
  </p:cSld>
  <p:clrMapOvr>
    <a:masterClrMapping/>
  </p:clrMapOvr>
</p:sld>
</file>

<file path=ppt/theme/theme1.xml><?xml version="1.0" encoding="utf-8"?>
<a:theme xmlns:a="http://schemas.openxmlformats.org/drawingml/2006/main" name="1_Office Theme">
  <a:themeElements>
    <a:clrScheme name="NuVista 1">
      <a:dk1>
        <a:srgbClr val="013E6A"/>
      </a:dk1>
      <a:lt1>
        <a:srgbClr val="FFFFFF"/>
      </a:lt1>
      <a:dk2>
        <a:srgbClr val="007FC5"/>
      </a:dk2>
      <a:lt2>
        <a:srgbClr val="EEEEEE"/>
      </a:lt2>
      <a:accent1>
        <a:srgbClr val="00B3EC"/>
      </a:accent1>
      <a:accent2>
        <a:srgbClr val="2BA73B"/>
      </a:accent2>
      <a:accent3>
        <a:srgbClr val="8093A2"/>
      </a:accent3>
      <a:accent4>
        <a:srgbClr val="008C72"/>
      </a:accent4>
      <a:accent5>
        <a:srgbClr val="D86D00"/>
      </a:accent5>
      <a:accent6>
        <a:srgbClr val="FFD145"/>
      </a:accent6>
      <a:hlink>
        <a:srgbClr val="00B4EC"/>
      </a:hlink>
      <a:folHlink>
        <a:srgbClr val="013E6A"/>
      </a:folHlink>
    </a:clrScheme>
    <a:fontScheme name="NuVista">
      <a:majorFont>
        <a:latin typeface="Roboto Medium"/>
        <a:ea typeface=""/>
        <a:cs typeface=""/>
      </a:majorFont>
      <a:minorFont>
        <a:latin typeface="Robot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ardinal" id="{E097D04B-40D9-2E4A-9293-9D4A30648264}" vid="{F0E31ECF-BAC4-FB41-9B86-D1547383E27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9595</TotalTime>
  <Words>1139</Words>
  <Application>Microsoft Office PowerPoint</Application>
  <PresentationFormat>Widescreen</PresentationFormat>
  <Paragraphs>175</Paragraphs>
  <Slides>11</Slides>
  <Notes>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Calibri</vt:lpstr>
      <vt:lpstr>Roboto</vt:lpstr>
      <vt:lpstr>Roboto Light</vt:lpstr>
      <vt:lpstr>1_Office Theme</vt:lpstr>
      <vt:lpstr>Field Development Plan  &amp; Frac Metric Automation</vt:lpstr>
      <vt:lpstr>Presentation Overview</vt:lpstr>
      <vt:lpstr>FDP Workflow </vt:lpstr>
      <vt:lpstr>FDP Algorithm: Completable Length Calculation</vt:lpstr>
      <vt:lpstr>FDP Algorithm: Auto-assignment of UWI &amp; Pad Location</vt:lpstr>
      <vt:lpstr>FDP Dynamic Dashboard</vt:lpstr>
      <vt:lpstr>FDP Workflow – Applications</vt:lpstr>
      <vt:lpstr>Frac Spotfire Dashboard</vt:lpstr>
      <vt:lpstr>Post-Stage Pressure Analysis</vt:lpstr>
      <vt:lpstr>Frac Hit Analysis</vt:lpstr>
      <vt:lpstr>Additional Projects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Wapiti FDP Gold Creek and Elmworth Infrastructure Considerations</dc:title>
  <dc:creator>Thomas Litchfield</dc:creator>
  <cp:lastModifiedBy>Marcus Kittelson</cp:lastModifiedBy>
  <cp:revision>647</cp:revision>
  <cp:lastPrinted>2025-08-13T17:07:59Z</cp:lastPrinted>
  <dcterms:created xsi:type="dcterms:W3CDTF">2022-02-01T19:15:29Z</dcterms:created>
  <dcterms:modified xsi:type="dcterms:W3CDTF">2025-08-13T17:17:21Z</dcterms:modified>
</cp:coreProperties>
</file>