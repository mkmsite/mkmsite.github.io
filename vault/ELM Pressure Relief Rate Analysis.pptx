
<file path=[Content_Types].xml><?xml version="1.0" encoding="utf-8"?>
<Types xmlns="http://schemas.openxmlformats.org/package/2006/content-types">
  <Default Extension="png" ContentType="image/png"/>
  <Default Extension="svg" ContentType="image/svg+xml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7"/>
  </p:notesMasterIdLst>
  <p:sldIdLst>
    <p:sldId id="314" r:id="rId2"/>
    <p:sldId id="752" r:id="rId3"/>
    <p:sldId id="753" r:id="rId4"/>
    <p:sldId id="754" r:id="rId5"/>
    <p:sldId id="755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Marcus Kittelson" initials="MK" lastIdx="0" clrIdx="0">
    <p:extLst>
      <p:ext uri="{19B8F6BF-5375-455C-9EA6-DF929625EA0E}">
        <p15:presenceInfo xmlns:p15="http://schemas.microsoft.com/office/powerpoint/2012/main" userId="S-1-5-21-3188596277-436205732-2179202570-13162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87" autoAdjust="0"/>
    <p:restoredTop sz="86901" autoAdjust="0"/>
  </p:normalViewPr>
  <p:slideViewPr>
    <p:cSldViewPr snapToGrid="0">
      <p:cViewPr varScale="1">
        <p:scale>
          <a:sx n="144" d="100"/>
          <a:sy n="144" d="100"/>
        </p:scale>
        <p:origin x="872" y="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commentAuthors" Target="commentAuthor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82B71AC-A0D8-4729-8BDF-1C6A319ECCB9}" type="datetimeFigureOut">
              <a:rPr lang="en-US" smtClean="0"/>
              <a:t>9/3/2024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7AF64DE-67DF-4D4C-916D-CA185299969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093792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6.svg"/><Relationship Id="rId4" Type="http://schemas.openxmlformats.org/officeDocument/2006/relationships/image" Target="../media/image5.pn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8.svg"/><Relationship Id="rId4" Type="http://schemas.openxmlformats.org/officeDocument/2006/relationships/image" Target="../media/image7.pn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6.svg"/><Relationship Id="rId4" Type="http://schemas.openxmlformats.org/officeDocument/2006/relationships/image" Target="../media/image5.png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6.svg"/><Relationship Id="rId4" Type="http://schemas.openxmlformats.org/officeDocument/2006/relationships/image" Target="../media/image5.png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6.svg"/><Relationship Id="rId4" Type="http://schemas.openxmlformats.org/officeDocument/2006/relationships/image" Target="../media/image5.png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6.svg"/><Relationship Id="rId4" Type="http://schemas.openxmlformats.org/officeDocument/2006/relationships/image" Target="../media/image5.png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6.svg"/><Relationship Id="rId4" Type="http://schemas.openxmlformats.org/officeDocument/2006/relationships/image" Target="../media/image5.png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6.svg"/><Relationship Id="rId4" Type="http://schemas.openxmlformats.org/officeDocument/2006/relationships/image" Target="../media/image5.png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6.svg"/><Relationship Id="rId4" Type="http://schemas.openxmlformats.org/officeDocument/2006/relationships/image" Target="../media/image5.png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bg>
      <p:bgPr>
        <a:gradFill>
          <a:gsLst>
            <a:gs pos="61000">
              <a:schemeClr val="accent2"/>
            </a:gs>
            <a:gs pos="0">
              <a:schemeClr val="tx1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4BFB67-BD8B-2F46-BAA9-8CF50A85721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38200" y="1421995"/>
            <a:ext cx="10341864" cy="2105723"/>
          </a:xfrm>
        </p:spPr>
        <p:txBody>
          <a:bodyPr anchor="b"/>
          <a:lstStyle>
            <a:lvl1pPr algn="l">
              <a:lnSpc>
                <a:spcPct val="95000"/>
              </a:lnSpc>
              <a:defRPr sz="5200" b="0" i="0">
                <a:solidFill>
                  <a:schemeClr val="bg1"/>
                </a:solidFill>
                <a:latin typeface="Arial" panose="020B0604020202020204" pitchFamily="34" charset="0"/>
                <a:ea typeface="Roboto Medium" panose="02000000000000000000" pitchFamily="2" charset="0"/>
              </a:defRPr>
            </a:lvl1pPr>
          </a:lstStyle>
          <a:p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1431A88-9057-D447-B807-2E546697797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38200" y="5930284"/>
            <a:ext cx="9829800" cy="230819"/>
          </a:xfrm>
        </p:spPr>
        <p:txBody>
          <a:bodyPr/>
          <a:lstStyle>
            <a:lvl1pPr marL="0" indent="0" algn="l">
              <a:buNone/>
              <a:defRPr sz="1600" b="0" i="0">
                <a:solidFill>
                  <a:schemeClr val="bg1"/>
                </a:solidFill>
                <a:latin typeface="Arial" panose="020B0604020202020204" pitchFamily="34" charset="0"/>
                <a:ea typeface="Roboto Medium" panose="02000000000000000000" pitchFamily="2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pic>
        <p:nvPicPr>
          <p:cNvPr id="6" name="Graphic 12">
            <a:extLst>
              <a:ext uri="{FF2B5EF4-FFF2-40B4-BE49-F238E27FC236}">
                <a16:creationId xmlns:a16="http://schemas.microsoft.com/office/drawing/2014/main" id="{941B6592-629D-784C-80B7-6283B6801E2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852996" y="696897"/>
            <a:ext cx="1384634" cy="6742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357181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Pr>
        <a:solidFill>
          <a:srgbClr val="FDFD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705D95-4537-EB40-9FCC-C9389FD0B8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1E12D98-80BF-4D4F-8979-784C42B732B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89026197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bg>
      <p:bgPr>
        <a:solidFill>
          <a:srgbClr val="FDFD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raphic 9">
            <a:extLst>
              <a:ext uri="{FF2B5EF4-FFF2-40B4-BE49-F238E27FC236}">
                <a16:creationId xmlns:a16="http://schemas.microsoft.com/office/drawing/2014/main" id="{42057947-537C-1747-9E5C-A481123CE84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-699626" y="2099188"/>
            <a:ext cx="3072478" cy="3912973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681B710-B6DC-6643-A3D7-14913FD0D07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067697"/>
            <a:ext cx="10515600" cy="3912973"/>
          </a:xfrm>
        </p:spPr>
        <p:txBody>
          <a:bodyPr/>
          <a:lstStyle>
            <a:lvl1pPr>
              <a:lnSpc>
                <a:spcPts val="1400"/>
              </a:lnSpc>
              <a:spcBef>
                <a:spcPts val="0"/>
              </a:spcBef>
              <a:spcAft>
                <a:spcPts val="1400"/>
              </a:spcAft>
              <a:defRPr sz="1000" b="0" i="0">
                <a:solidFill>
                  <a:schemeClr val="tx1"/>
                </a:solidFill>
                <a:latin typeface="Arial" panose="020B0604020202020204" pitchFamily="34" charset="0"/>
                <a:ea typeface="Roboto" panose="02000000000000000000" pitchFamily="2" charset="0"/>
              </a:defRPr>
            </a:lvl1pPr>
            <a:lvl2pPr>
              <a:lnSpc>
                <a:spcPts val="1400"/>
              </a:lnSpc>
              <a:spcBef>
                <a:spcPts val="0"/>
              </a:spcBef>
              <a:spcAft>
                <a:spcPts val="1400"/>
              </a:spcAft>
              <a:defRPr sz="1000">
                <a:solidFill>
                  <a:schemeClr val="tx1"/>
                </a:solidFill>
                <a:latin typeface="Arial" panose="020B0604020202020204" pitchFamily="34" charset="0"/>
                <a:ea typeface="Roboto" panose="02000000000000000000" pitchFamily="2" charset="0"/>
              </a:defRPr>
            </a:lvl2pPr>
            <a:lvl3pPr>
              <a:lnSpc>
                <a:spcPts val="1400"/>
              </a:lnSpc>
              <a:spcBef>
                <a:spcPts val="0"/>
              </a:spcBef>
              <a:spcAft>
                <a:spcPts val="1400"/>
              </a:spcAft>
              <a:defRPr sz="1000">
                <a:solidFill>
                  <a:schemeClr val="tx1"/>
                </a:solidFill>
                <a:latin typeface="Arial" panose="020B0604020202020204" pitchFamily="34" charset="0"/>
                <a:ea typeface="Roboto" panose="02000000000000000000" pitchFamily="2" charset="0"/>
              </a:defRPr>
            </a:lvl3pPr>
            <a:lvl4pPr>
              <a:lnSpc>
                <a:spcPts val="1400"/>
              </a:lnSpc>
              <a:spcBef>
                <a:spcPts val="0"/>
              </a:spcBef>
              <a:spcAft>
                <a:spcPts val="1400"/>
              </a:spcAft>
              <a:defRPr sz="1000">
                <a:solidFill>
                  <a:schemeClr val="tx1"/>
                </a:solidFill>
                <a:latin typeface="Arial" panose="020B0604020202020204" pitchFamily="34" charset="0"/>
                <a:ea typeface="Roboto" panose="02000000000000000000" pitchFamily="2" charset="0"/>
              </a:defRPr>
            </a:lvl4pPr>
            <a:lvl5pPr>
              <a:lnSpc>
                <a:spcPts val="1400"/>
              </a:lnSpc>
              <a:spcBef>
                <a:spcPts val="0"/>
              </a:spcBef>
              <a:spcAft>
                <a:spcPts val="1400"/>
              </a:spcAft>
              <a:defRPr sz="1000">
                <a:solidFill>
                  <a:schemeClr val="tx1"/>
                </a:solidFill>
                <a:latin typeface="Arial" panose="020B0604020202020204" pitchFamily="34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3" name="Title Placeholder 1">
            <a:extLst>
              <a:ext uri="{FF2B5EF4-FFF2-40B4-BE49-F238E27FC236}">
                <a16:creationId xmlns:a16="http://schemas.microsoft.com/office/drawing/2014/main" id="{29EA6210-5372-F44A-BAFF-E6D0C7F2C7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58842"/>
            <a:ext cx="10515600" cy="1033508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lnSpc>
                <a:spcPct val="90000"/>
              </a:lnSpc>
              <a:defRPr b="0" i="0" spc="40" baseline="0">
                <a:solidFill>
                  <a:schemeClr val="tx1"/>
                </a:solidFill>
                <a:latin typeface="Arial" panose="020B0604020202020204" pitchFamily="34" charset="0"/>
                <a:ea typeface="Roboto Light" panose="02000000000000000000" pitchFamily="2" charset="0"/>
              </a:defRPr>
            </a:lvl1pPr>
          </a:lstStyle>
          <a:p>
            <a:endParaRPr lang="en-US" dirty="0"/>
          </a:p>
        </p:txBody>
      </p:sp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226F1068-89AF-344A-B083-2A76BF0DD01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838199" y="1717565"/>
            <a:ext cx="10515600" cy="229704"/>
          </a:xfrm>
        </p:spPr>
        <p:txBody>
          <a:bodyPr/>
          <a:lstStyle>
            <a:lvl1pPr>
              <a:defRPr sz="1800" b="0" i="0">
                <a:solidFill>
                  <a:schemeClr val="tx1"/>
                </a:solidFill>
                <a:latin typeface="Arial" panose="020B0604020202020204" pitchFamily="34" charset="0"/>
                <a:ea typeface="Roboto Medium" panose="02000000000000000000" pitchFamily="2" charset="0"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BB6ED69-460B-FA45-B956-165C4C0408F2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838197" y="466818"/>
            <a:ext cx="4212859" cy="173736"/>
          </a:xfrm>
        </p:spPr>
        <p:txBody>
          <a:bodyPr/>
          <a:lstStyle>
            <a:lvl1pPr marL="0" indent="0">
              <a:buFont typeface="Arial" panose="020B0604020202020204" pitchFamily="34" charset="0"/>
              <a:buNone/>
              <a:defRPr sz="1000" b="1" i="0">
                <a:solidFill>
                  <a:schemeClr val="tx1"/>
                </a:solidFill>
                <a:latin typeface="Arial" panose="020B0604020202020204" pitchFamily="34" charset="0"/>
                <a:ea typeface="Roboto" panose="02000000000000000000" pitchFamily="2" charset="0"/>
              </a:defRPr>
            </a:lvl1pPr>
            <a:lvl2pPr marL="9525" indent="0">
              <a:buNone/>
              <a:defRPr sz="1000" b="1" i="0">
                <a:latin typeface="Roboto" panose="02000000000000000000" pitchFamily="2" charset="0"/>
                <a:ea typeface="Roboto" panose="02000000000000000000" pitchFamily="2" charset="0"/>
              </a:defRPr>
            </a:lvl2pPr>
            <a:lvl3pPr marL="222250" indent="0">
              <a:buNone/>
              <a:defRPr sz="1000" b="1" i="0">
                <a:latin typeface="Roboto" panose="02000000000000000000" pitchFamily="2" charset="0"/>
                <a:ea typeface="Roboto" panose="02000000000000000000" pitchFamily="2" charset="0"/>
              </a:defRPr>
            </a:lvl3pPr>
            <a:lvl4pPr marL="406400" indent="0">
              <a:buNone/>
              <a:defRPr sz="1000" b="1" i="0">
                <a:latin typeface="Roboto" panose="02000000000000000000" pitchFamily="2" charset="0"/>
                <a:ea typeface="Roboto" panose="02000000000000000000" pitchFamily="2" charset="0"/>
              </a:defRPr>
            </a:lvl4pPr>
            <a:lvl5pPr marL="577850" indent="0">
              <a:buNone/>
              <a:defRPr sz="1000" b="1" i="0"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pic>
        <p:nvPicPr>
          <p:cNvPr id="11" name="Graphic 10">
            <a:extLst>
              <a:ext uri="{FF2B5EF4-FFF2-40B4-BE49-F238E27FC236}">
                <a16:creationId xmlns:a16="http://schemas.microsoft.com/office/drawing/2014/main" id="{4B83B254-AC64-B647-A844-80DA01F49274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69456" y="6392200"/>
            <a:ext cx="198715" cy="253075"/>
          </a:xfrm>
          <a:prstGeom prst="rect">
            <a:avLst/>
          </a:prstGeom>
        </p:spPr>
      </p:pic>
      <p:sp>
        <p:nvSpPr>
          <p:cNvPr id="12" name="Footer Placeholder 6">
            <a:extLst>
              <a:ext uri="{FF2B5EF4-FFF2-40B4-BE49-F238E27FC236}">
                <a16:creationId xmlns:a16="http://schemas.microsoft.com/office/drawing/2014/main" id="{2CF1CDE8-7229-A84D-862B-8F2083C76EE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383401" y="6426616"/>
            <a:ext cx="4114800" cy="138499"/>
          </a:xfrm>
          <a:prstGeom prst="rect">
            <a:avLst/>
          </a:prstGeom>
        </p:spPr>
        <p:txBody>
          <a:bodyPr vert="horz" lIns="0" tIns="0" rIns="0" bIns="0" rtlCol="0" anchor="t" anchorCtr="0">
            <a:spAutoFit/>
          </a:bodyPr>
          <a:lstStyle>
            <a:lvl1pPr algn="l">
              <a:defRPr sz="9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</a:lstStyle>
          <a:p>
            <a:r>
              <a:rPr lang="en-US" b="1">
                <a:latin typeface="Arial" panose="020B0604020202020204" pitchFamily="34" charset="0"/>
              </a:rPr>
              <a:t>NuVista Energy Ltd.</a:t>
            </a:r>
            <a:endParaRPr lang="en-US" dirty="0">
              <a:latin typeface="Arial" panose="020B0604020202020204" pitchFamily="34" charset="0"/>
            </a:endParaRPr>
          </a:p>
        </p:txBody>
      </p:sp>
      <p:sp>
        <p:nvSpPr>
          <p:cNvPr id="15" name="Slide Number Placeholder 5">
            <a:extLst>
              <a:ext uri="{FF2B5EF4-FFF2-40B4-BE49-F238E27FC236}">
                <a16:creationId xmlns:a16="http://schemas.microsoft.com/office/drawing/2014/main" id="{B2E516B4-73C8-174D-BE93-D888D75ABAF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38199" y="6313304"/>
            <a:ext cx="304801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900" b="0" i="0">
                <a:solidFill>
                  <a:schemeClr val="tx1"/>
                </a:solidFill>
                <a:latin typeface="Arial" panose="020B0604020202020204" pitchFamily="34" charset="0"/>
                <a:ea typeface="Roboto" panose="02000000000000000000" pitchFamily="2" charset="0"/>
              </a:defRPr>
            </a:lvl1pPr>
          </a:lstStyle>
          <a:p>
            <a:fld id="{D246DD65-7063-5C41-96CC-23CB1F95FA91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2044763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bg>
      <p:bgPr>
        <a:solidFill>
          <a:srgbClr val="FDFD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48843A-554F-D54E-9519-6A59A18F5D6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2067695"/>
            <a:ext cx="5126736" cy="4109267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0F16D07-96F7-6B4D-ABCF-9D5EEB14F16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27064" y="2067695"/>
            <a:ext cx="5126736" cy="4109267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9" name="Text Placeholder 1">
            <a:extLst>
              <a:ext uri="{FF2B5EF4-FFF2-40B4-BE49-F238E27FC236}">
                <a16:creationId xmlns:a16="http://schemas.microsoft.com/office/drawing/2014/main" id="{C36C2F34-1E94-C949-B3BB-8E0144913ED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838199" y="1717565"/>
            <a:ext cx="10526926" cy="229704"/>
          </a:xfrm>
        </p:spPr>
        <p:txBody>
          <a:bodyPr/>
          <a:lstStyle>
            <a:lvl1pPr>
              <a:defRPr sz="1800" b="0" i="0">
                <a:solidFill>
                  <a:schemeClr val="tx1"/>
                </a:solidFill>
                <a:latin typeface="Arial" panose="020B0604020202020204" pitchFamily="34" charset="0"/>
                <a:ea typeface="Roboto Medium" panose="02000000000000000000" pitchFamily="2" charset="0"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9" name="Title Placeholder 1">
            <a:extLst>
              <a:ext uri="{FF2B5EF4-FFF2-40B4-BE49-F238E27FC236}">
                <a16:creationId xmlns:a16="http://schemas.microsoft.com/office/drawing/2014/main" id="{A491FEF2-01D4-194B-A16C-45B8EE9C3D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58842"/>
            <a:ext cx="10515600" cy="1033508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lnSpc>
                <a:spcPct val="90000"/>
              </a:lnSpc>
              <a:defRPr b="0" i="0" spc="40" baseline="0">
                <a:solidFill>
                  <a:schemeClr val="tx1"/>
                </a:solidFill>
                <a:latin typeface="Arial" panose="020B0604020202020204" pitchFamily="34" charset="0"/>
                <a:ea typeface="Roboto Light" panose="02000000000000000000" pitchFamily="2" charset="0"/>
              </a:defRPr>
            </a:lvl1pPr>
          </a:lstStyle>
          <a:p>
            <a:endParaRPr lang="en-US" dirty="0"/>
          </a:p>
        </p:txBody>
      </p:sp>
      <p:sp>
        <p:nvSpPr>
          <p:cNvPr id="11" name="Text Placeholder 3">
            <a:extLst>
              <a:ext uri="{FF2B5EF4-FFF2-40B4-BE49-F238E27FC236}">
                <a16:creationId xmlns:a16="http://schemas.microsoft.com/office/drawing/2014/main" id="{FB0D7B51-4D49-AD48-9ABF-958F1713A11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838197" y="466818"/>
            <a:ext cx="4212859" cy="173736"/>
          </a:xfrm>
        </p:spPr>
        <p:txBody>
          <a:bodyPr/>
          <a:lstStyle>
            <a:lvl1pPr marL="0" indent="0">
              <a:buFont typeface="Arial" panose="020B0604020202020204" pitchFamily="34" charset="0"/>
              <a:buNone/>
              <a:defRPr sz="1000" b="1" i="0">
                <a:solidFill>
                  <a:schemeClr val="tx1"/>
                </a:solidFill>
                <a:latin typeface="Arial" panose="020B0604020202020204" pitchFamily="34" charset="0"/>
                <a:ea typeface="Roboto" panose="02000000000000000000" pitchFamily="2" charset="0"/>
              </a:defRPr>
            </a:lvl1pPr>
            <a:lvl2pPr marL="9525" indent="0">
              <a:buNone/>
              <a:defRPr sz="1000" b="1" i="0">
                <a:latin typeface="Roboto" panose="02000000000000000000" pitchFamily="2" charset="0"/>
                <a:ea typeface="Roboto" panose="02000000000000000000" pitchFamily="2" charset="0"/>
              </a:defRPr>
            </a:lvl2pPr>
            <a:lvl3pPr marL="222250" indent="0">
              <a:buNone/>
              <a:defRPr sz="1000" b="1" i="0">
                <a:latin typeface="Roboto" panose="02000000000000000000" pitchFamily="2" charset="0"/>
                <a:ea typeface="Roboto" panose="02000000000000000000" pitchFamily="2" charset="0"/>
              </a:defRPr>
            </a:lvl3pPr>
            <a:lvl4pPr marL="406400" indent="0">
              <a:buNone/>
              <a:defRPr sz="1000" b="1" i="0">
                <a:latin typeface="Roboto" panose="02000000000000000000" pitchFamily="2" charset="0"/>
                <a:ea typeface="Roboto" panose="02000000000000000000" pitchFamily="2" charset="0"/>
              </a:defRPr>
            </a:lvl4pPr>
            <a:lvl5pPr marL="577850" indent="0">
              <a:buNone/>
              <a:defRPr sz="1000" b="1" i="0"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pic>
        <p:nvPicPr>
          <p:cNvPr id="13" name="Graphic 12">
            <a:extLst>
              <a:ext uri="{FF2B5EF4-FFF2-40B4-BE49-F238E27FC236}">
                <a16:creationId xmlns:a16="http://schemas.microsoft.com/office/drawing/2014/main" id="{C652E8FF-2A26-9A4B-B5FD-995C2D4A763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69456" y="6392200"/>
            <a:ext cx="198715" cy="253075"/>
          </a:xfrm>
          <a:prstGeom prst="rect">
            <a:avLst/>
          </a:prstGeom>
        </p:spPr>
      </p:pic>
      <p:sp>
        <p:nvSpPr>
          <p:cNvPr id="14" name="Footer Placeholder 6">
            <a:extLst>
              <a:ext uri="{FF2B5EF4-FFF2-40B4-BE49-F238E27FC236}">
                <a16:creationId xmlns:a16="http://schemas.microsoft.com/office/drawing/2014/main" id="{E77D3D50-ABCD-9946-BA54-11C20D30D3D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383401" y="6426616"/>
            <a:ext cx="4114800" cy="138499"/>
          </a:xfrm>
          <a:prstGeom prst="rect">
            <a:avLst/>
          </a:prstGeom>
        </p:spPr>
        <p:txBody>
          <a:bodyPr vert="horz" lIns="0" tIns="0" rIns="0" bIns="0" rtlCol="0" anchor="t" anchorCtr="0">
            <a:spAutoFit/>
          </a:bodyPr>
          <a:lstStyle>
            <a:lvl1pPr algn="l">
              <a:defRPr sz="9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</a:lstStyle>
          <a:p>
            <a:r>
              <a:rPr lang="en-US" b="1">
                <a:latin typeface="Arial" panose="020B0604020202020204" pitchFamily="34" charset="0"/>
              </a:rPr>
              <a:t>NuVista Energy Ltd.</a:t>
            </a:r>
            <a:endParaRPr lang="en-US" dirty="0">
              <a:latin typeface="Arial" panose="020B0604020202020204" pitchFamily="34" charset="0"/>
            </a:endParaRPr>
          </a:p>
        </p:txBody>
      </p:sp>
      <p:sp>
        <p:nvSpPr>
          <p:cNvPr id="15" name="Slide Number Placeholder 5">
            <a:extLst>
              <a:ext uri="{FF2B5EF4-FFF2-40B4-BE49-F238E27FC236}">
                <a16:creationId xmlns:a16="http://schemas.microsoft.com/office/drawing/2014/main" id="{1CB36A6F-C078-A04F-A367-435FDB0A02F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38199" y="6313304"/>
            <a:ext cx="304801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900" b="0" i="0">
                <a:solidFill>
                  <a:schemeClr val="tx1"/>
                </a:solidFill>
                <a:latin typeface="Arial" panose="020B0604020202020204" pitchFamily="34" charset="0"/>
                <a:ea typeface="Roboto" panose="02000000000000000000" pitchFamily="2" charset="0"/>
              </a:defRPr>
            </a:lvl1pPr>
          </a:lstStyle>
          <a:p>
            <a:fld id="{D246DD65-7063-5C41-96CC-23CB1F95FA91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E8A68FED-0E8F-4861-AC42-0064E582B1AC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-699626" y="2099188"/>
            <a:ext cx="3072478" cy="39129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219130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Column">
    <p:bg>
      <p:bgPr>
        <a:solidFill>
          <a:srgbClr val="FDFD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Graphic 19">
            <a:extLst>
              <a:ext uri="{FF2B5EF4-FFF2-40B4-BE49-F238E27FC236}">
                <a16:creationId xmlns:a16="http://schemas.microsoft.com/office/drawing/2014/main" id="{46DB92FE-1ED6-BD4F-8564-6110DD8EE8E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-699626" y="2099188"/>
            <a:ext cx="3072478" cy="3912973"/>
          </a:xfrm>
          <a:prstGeom prst="rect">
            <a:avLst/>
          </a:prstGeom>
        </p:spPr>
      </p:pic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0514D1F-5CA2-FD4A-8111-5C428B8EA2A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9" y="1681163"/>
            <a:ext cx="5112956" cy="823912"/>
          </a:xfrm>
        </p:spPr>
        <p:txBody>
          <a:bodyPr anchor="b"/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D0A67AE-768D-FF47-ADE4-FE6888DC7AE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9" y="2505075"/>
            <a:ext cx="5112956" cy="368458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2365714-2DEC-DB45-B4F8-C84DA01AD44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239256" y="1681163"/>
            <a:ext cx="5116131" cy="823912"/>
          </a:xfrm>
        </p:spPr>
        <p:txBody>
          <a:bodyPr anchor="b"/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849B1B4-FD50-6A4A-94C0-75828986E31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239256" y="2505075"/>
            <a:ext cx="5116131" cy="368458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Title Placeholder 1">
            <a:extLst>
              <a:ext uri="{FF2B5EF4-FFF2-40B4-BE49-F238E27FC236}">
                <a16:creationId xmlns:a16="http://schemas.microsoft.com/office/drawing/2014/main" id="{465DEF1C-B957-0C45-AF3A-C80FCB7861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58842"/>
            <a:ext cx="10515600" cy="1033508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lnSpc>
                <a:spcPct val="90000"/>
              </a:lnSpc>
              <a:defRPr b="0" i="0" spc="40" baseline="0">
                <a:solidFill>
                  <a:schemeClr val="tx1"/>
                </a:solidFill>
                <a:latin typeface="Arial" panose="020B0604020202020204" pitchFamily="34" charset="0"/>
                <a:ea typeface="Roboto Light" panose="02000000000000000000" pitchFamily="2" charset="0"/>
              </a:defRPr>
            </a:lvl1pPr>
          </a:lstStyle>
          <a:p>
            <a:endParaRPr lang="en-US" dirty="0"/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6837C80E-7584-0F41-9E77-45AA622281E9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838197" y="466818"/>
            <a:ext cx="4212859" cy="173736"/>
          </a:xfrm>
        </p:spPr>
        <p:txBody>
          <a:bodyPr/>
          <a:lstStyle>
            <a:lvl1pPr marL="0" indent="0">
              <a:buFont typeface="Arial" panose="020B0604020202020204" pitchFamily="34" charset="0"/>
              <a:buNone/>
              <a:defRPr sz="1000" b="1" i="0">
                <a:solidFill>
                  <a:schemeClr val="tx1"/>
                </a:solidFill>
                <a:latin typeface="Arial" panose="020B0604020202020204" pitchFamily="34" charset="0"/>
                <a:ea typeface="Roboto" panose="02000000000000000000" pitchFamily="2" charset="0"/>
              </a:defRPr>
            </a:lvl1pPr>
            <a:lvl2pPr marL="9525" indent="0">
              <a:buNone/>
              <a:defRPr sz="1000" b="1" i="0">
                <a:latin typeface="Roboto" panose="02000000000000000000" pitchFamily="2" charset="0"/>
                <a:ea typeface="Roboto" panose="02000000000000000000" pitchFamily="2" charset="0"/>
              </a:defRPr>
            </a:lvl2pPr>
            <a:lvl3pPr marL="222250" indent="0">
              <a:buNone/>
              <a:defRPr sz="1000" b="1" i="0">
                <a:latin typeface="Roboto" panose="02000000000000000000" pitchFamily="2" charset="0"/>
                <a:ea typeface="Roboto" panose="02000000000000000000" pitchFamily="2" charset="0"/>
              </a:defRPr>
            </a:lvl3pPr>
            <a:lvl4pPr marL="406400" indent="0">
              <a:buNone/>
              <a:defRPr sz="1000" b="1" i="0">
                <a:latin typeface="Roboto" panose="02000000000000000000" pitchFamily="2" charset="0"/>
                <a:ea typeface="Roboto" panose="02000000000000000000" pitchFamily="2" charset="0"/>
              </a:defRPr>
            </a:lvl4pPr>
            <a:lvl5pPr marL="577850" indent="0">
              <a:buNone/>
              <a:defRPr sz="1000" b="1" i="0"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pic>
        <p:nvPicPr>
          <p:cNvPr id="13" name="Graphic 12">
            <a:extLst>
              <a:ext uri="{FF2B5EF4-FFF2-40B4-BE49-F238E27FC236}">
                <a16:creationId xmlns:a16="http://schemas.microsoft.com/office/drawing/2014/main" id="{E2F6387F-983E-564D-B029-F496745E9E45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69456" y="6392200"/>
            <a:ext cx="198715" cy="253075"/>
          </a:xfrm>
          <a:prstGeom prst="rect">
            <a:avLst/>
          </a:prstGeom>
        </p:spPr>
      </p:pic>
      <p:sp>
        <p:nvSpPr>
          <p:cNvPr id="14" name="Footer Placeholder 6">
            <a:extLst>
              <a:ext uri="{FF2B5EF4-FFF2-40B4-BE49-F238E27FC236}">
                <a16:creationId xmlns:a16="http://schemas.microsoft.com/office/drawing/2014/main" id="{92966E56-ACA2-BB46-8DAF-C6BB0DD7F143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xfrm>
            <a:off x="1383401" y="6426616"/>
            <a:ext cx="4114800" cy="138499"/>
          </a:xfrm>
          <a:prstGeom prst="rect">
            <a:avLst/>
          </a:prstGeom>
        </p:spPr>
        <p:txBody>
          <a:bodyPr vert="horz" lIns="0" tIns="0" rIns="0" bIns="0" rtlCol="0" anchor="t" anchorCtr="0">
            <a:spAutoFit/>
          </a:bodyPr>
          <a:lstStyle>
            <a:lvl1pPr algn="l">
              <a:defRPr sz="9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</a:lstStyle>
          <a:p>
            <a:r>
              <a:rPr lang="en-US" b="1">
                <a:latin typeface="Arial" panose="020B0604020202020204" pitchFamily="34" charset="0"/>
              </a:rPr>
              <a:t>NuVista Energy Ltd.</a:t>
            </a:r>
            <a:endParaRPr lang="en-US" dirty="0">
              <a:latin typeface="Arial" panose="020B0604020202020204" pitchFamily="34" charset="0"/>
            </a:endParaRPr>
          </a:p>
        </p:txBody>
      </p:sp>
      <p:sp>
        <p:nvSpPr>
          <p:cNvPr id="15" name="Slide Number Placeholder 5">
            <a:extLst>
              <a:ext uri="{FF2B5EF4-FFF2-40B4-BE49-F238E27FC236}">
                <a16:creationId xmlns:a16="http://schemas.microsoft.com/office/drawing/2014/main" id="{BBFC7B1D-6B90-7E43-B776-E2117AD85BA3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>
          <a:xfrm>
            <a:off x="838199" y="6313304"/>
            <a:ext cx="304801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900" b="0" i="0">
                <a:solidFill>
                  <a:schemeClr val="tx1"/>
                </a:solidFill>
                <a:latin typeface="Arial" panose="020B0604020202020204" pitchFamily="34" charset="0"/>
                <a:ea typeface="Roboto" panose="02000000000000000000" pitchFamily="2" charset="0"/>
              </a:defRPr>
            </a:lvl1pPr>
          </a:lstStyle>
          <a:p>
            <a:fld id="{D246DD65-7063-5C41-96CC-23CB1F95FA91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5420135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Column">
    <p:bg>
      <p:bgPr>
        <a:solidFill>
          <a:srgbClr val="FDFD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Graphic 21">
            <a:extLst>
              <a:ext uri="{FF2B5EF4-FFF2-40B4-BE49-F238E27FC236}">
                <a16:creationId xmlns:a16="http://schemas.microsoft.com/office/drawing/2014/main" id="{77C73AE0-D7E4-A242-969B-B953C881A47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-698042" y="2100648"/>
            <a:ext cx="3072478" cy="3912973"/>
          </a:xfrm>
          <a:prstGeom prst="rect">
            <a:avLst/>
          </a:prstGeom>
        </p:spPr>
      </p:pic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0514D1F-5CA2-FD4A-8111-5C428B8EA2A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9" y="1681163"/>
            <a:ext cx="3329876" cy="823912"/>
          </a:xfrm>
        </p:spPr>
        <p:txBody>
          <a:bodyPr anchor="b"/>
          <a:lstStyle>
            <a:lvl1pPr marL="0" indent="0">
              <a:buNone/>
              <a:defRPr sz="2000" b="0" i="0">
                <a:solidFill>
                  <a:schemeClr val="tx1"/>
                </a:solidFill>
                <a:latin typeface="Arial" panose="020B0604020202020204" pitchFamily="34" charset="0"/>
                <a:ea typeface="Roboto Medium" panose="02000000000000000000" pitchFamily="2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D0A67AE-768D-FF47-ADE4-FE6888DC7AE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9" y="2583401"/>
            <a:ext cx="3329875" cy="3606261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2365714-2DEC-DB45-B4F8-C84DA01AD44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447032" y="1681163"/>
            <a:ext cx="3329875" cy="823912"/>
          </a:xfrm>
        </p:spPr>
        <p:txBody>
          <a:bodyPr anchor="b"/>
          <a:lstStyle>
            <a:lvl1pPr marL="0" indent="0">
              <a:buNone/>
              <a:defRPr sz="2000" b="0" i="0">
                <a:solidFill>
                  <a:schemeClr val="tx1"/>
                </a:solidFill>
                <a:latin typeface="Arial" panose="020B0604020202020204" pitchFamily="34" charset="0"/>
                <a:ea typeface="Roboto Medium" panose="02000000000000000000" pitchFamily="2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849B1B4-FD50-6A4A-94C0-75828986E31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447033" y="2583401"/>
            <a:ext cx="3329874" cy="3606261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7" name="Text Placeholder 4">
            <a:extLst>
              <a:ext uri="{FF2B5EF4-FFF2-40B4-BE49-F238E27FC236}">
                <a16:creationId xmlns:a16="http://schemas.microsoft.com/office/drawing/2014/main" id="{4680BD89-3A68-944D-BC2C-E8B0449AD1A2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8022336" y="1681163"/>
            <a:ext cx="3329875" cy="823912"/>
          </a:xfrm>
        </p:spPr>
        <p:txBody>
          <a:bodyPr anchor="b"/>
          <a:lstStyle>
            <a:lvl1pPr marL="0" indent="0">
              <a:buNone/>
              <a:defRPr sz="2000" b="0" i="0">
                <a:solidFill>
                  <a:schemeClr val="tx1"/>
                </a:solidFill>
                <a:latin typeface="Arial" panose="020B0604020202020204" pitchFamily="34" charset="0"/>
                <a:ea typeface="Roboto Medium" panose="02000000000000000000" pitchFamily="2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8" name="Content Placeholder 5">
            <a:extLst>
              <a:ext uri="{FF2B5EF4-FFF2-40B4-BE49-F238E27FC236}">
                <a16:creationId xmlns:a16="http://schemas.microsoft.com/office/drawing/2014/main" id="{E8254C6D-E886-9E4E-98B7-90808E14B0E1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8022337" y="2583401"/>
            <a:ext cx="3329874" cy="3606261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2" name="Title Placeholder 1">
            <a:extLst>
              <a:ext uri="{FF2B5EF4-FFF2-40B4-BE49-F238E27FC236}">
                <a16:creationId xmlns:a16="http://schemas.microsoft.com/office/drawing/2014/main" id="{26F4DC66-1335-0F4F-9745-4AA9264533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58842"/>
            <a:ext cx="10515600" cy="1033508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lnSpc>
                <a:spcPct val="90000"/>
              </a:lnSpc>
              <a:defRPr b="0" i="0" spc="40" baseline="0">
                <a:solidFill>
                  <a:schemeClr val="tx1"/>
                </a:solidFill>
                <a:latin typeface="Arial" panose="020B0604020202020204" pitchFamily="34" charset="0"/>
                <a:ea typeface="Roboto Light" panose="02000000000000000000" pitchFamily="2" charset="0"/>
              </a:defRPr>
            </a:lvl1pPr>
          </a:lstStyle>
          <a:p>
            <a:endParaRPr lang="en-US" dirty="0"/>
          </a:p>
        </p:txBody>
      </p:sp>
      <p:sp>
        <p:nvSpPr>
          <p:cNvPr id="14" name="Text Placeholder 3">
            <a:extLst>
              <a:ext uri="{FF2B5EF4-FFF2-40B4-BE49-F238E27FC236}">
                <a16:creationId xmlns:a16="http://schemas.microsoft.com/office/drawing/2014/main" id="{0DAFF62F-8798-4E45-A0D4-33C7E942E03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838197" y="466818"/>
            <a:ext cx="4212859" cy="173736"/>
          </a:xfrm>
        </p:spPr>
        <p:txBody>
          <a:bodyPr/>
          <a:lstStyle>
            <a:lvl1pPr marL="0" indent="0">
              <a:buFont typeface="Arial" panose="020B0604020202020204" pitchFamily="34" charset="0"/>
              <a:buNone/>
              <a:defRPr sz="1000" b="1" i="0">
                <a:solidFill>
                  <a:schemeClr val="tx1"/>
                </a:solidFill>
                <a:latin typeface="Arial" panose="020B0604020202020204" pitchFamily="34" charset="0"/>
                <a:ea typeface="Roboto" panose="02000000000000000000" pitchFamily="2" charset="0"/>
              </a:defRPr>
            </a:lvl1pPr>
            <a:lvl2pPr marL="9525" indent="0">
              <a:buNone/>
              <a:defRPr sz="1000" b="1" i="0">
                <a:latin typeface="Roboto" panose="02000000000000000000" pitchFamily="2" charset="0"/>
                <a:ea typeface="Roboto" panose="02000000000000000000" pitchFamily="2" charset="0"/>
              </a:defRPr>
            </a:lvl2pPr>
            <a:lvl3pPr marL="222250" indent="0">
              <a:buNone/>
              <a:defRPr sz="1000" b="1" i="0">
                <a:latin typeface="Roboto" panose="02000000000000000000" pitchFamily="2" charset="0"/>
                <a:ea typeface="Roboto" panose="02000000000000000000" pitchFamily="2" charset="0"/>
              </a:defRPr>
            </a:lvl3pPr>
            <a:lvl4pPr marL="406400" indent="0">
              <a:buNone/>
              <a:defRPr sz="1000" b="1" i="0">
                <a:latin typeface="Roboto" panose="02000000000000000000" pitchFamily="2" charset="0"/>
                <a:ea typeface="Roboto" panose="02000000000000000000" pitchFamily="2" charset="0"/>
              </a:defRPr>
            </a:lvl4pPr>
            <a:lvl5pPr marL="577850" indent="0">
              <a:buNone/>
              <a:defRPr sz="1000" b="1" i="0"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pic>
        <p:nvPicPr>
          <p:cNvPr id="15" name="Graphic 14">
            <a:extLst>
              <a:ext uri="{FF2B5EF4-FFF2-40B4-BE49-F238E27FC236}">
                <a16:creationId xmlns:a16="http://schemas.microsoft.com/office/drawing/2014/main" id="{42DFC743-EAE4-164F-9F2A-49499828B830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69456" y="6392200"/>
            <a:ext cx="198715" cy="253075"/>
          </a:xfrm>
          <a:prstGeom prst="rect">
            <a:avLst/>
          </a:prstGeom>
        </p:spPr>
      </p:pic>
      <p:sp>
        <p:nvSpPr>
          <p:cNvPr id="16" name="Footer Placeholder 6">
            <a:extLst>
              <a:ext uri="{FF2B5EF4-FFF2-40B4-BE49-F238E27FC236}">
                <a16:creationId xmlns:a16="http://schemas.microsoft.com/office/drawing/2014/main" id="{C0386E48-0F19-AA48-A312-AAED6625B1B6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1383401" y="6426616"/>
            <a:ext cx="4114800" cy="138499"/>
          </a:xfrm>
          <a:prstGeom prst="rect">
            <a:avLst/>
          </a:prstGeom>
        </p:spPr>
        <p:txBody>
          <a:bodyPr vert="horz" lIns="0" tIns="0" rIns="0" bIns="0" rtlCol="0" anchor="t" anchorCtr="0">
            <a:spAutoFit/>
          </a:bodyPr>
          <a:lstStyle>
            <a:lvl1pPr algn="l">
              <a:defRPr sz="9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</a:lstStyle>
          <a:p>
            <a:r>
              <a:rPr lang="en-US" b="1">
                <a:latin typeface="Arial" panose="020B0604020202020204" pitchFamily="34" charset="0"/>
              </a:rPr>
              <a:t>NuVista Energy Ltd.</a:t>
            </a:r>
            <a:endParaRPr lang="en-US" dirty="0">
              <a:latin typeface="Arial" panose="020B0604020202020204" pitchFamily="34" charset="0"/>
            </a:endParaRPr>
          </a:p>
        </p:txBody>
      </p:sp>
      <p:sp>
        <p:nvSpPr>
          <p:cNvPr id="19" name="Slide Number Placeholder 5">
            <a:extLst>
              <a:ext uri="{FF2B5EF4-FFF2-40B4-BE49-F238E27FC236}">
                <a16:creationId xmlns:a16="http://schemas.microsoft.com/office/drawing/2014/main" id="{40877424-E4CB-E440-9AD4-8A0F2982A8F7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838199" y="6313304"/>
            <a:ext cx="304801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900" b="0" i="0">
                <a:solidFill>
                  <a:schemeClr val="tx1"/>
                </a:solidFill>
                <a:latin typeface="Arial" panose="020B0604020202020204" pitchFamily="34" charset="0"/>
                <a:ea typeface="Roboto" panose="02000000000000000000" pitchFamily="2" charset="0"/>
              </a:defRPr>
            </a:lvl1pPr>
          </a:lstStyle>
          <a:p>
            <a:fld id="{D246DD65-7063-5C41-96CC-23CB1F95FA91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7406019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 column">
    <p:bg>
      <p:bgPr>
        <a:solidFill>
          <a:srgbClr val="FDFD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" name="Graphic 23">
            <a:extLst>
              <a:ext uri="{FF2B5EF4-FFF2-40B4-BE49-F238E27FC236}">
                <a16:creationId xmlns:a16="http://schemas.microsoft.com/office/drawing/2014/main" id="{D56AE876-11E1-1F4B-9F56-4572091AB20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-698040" y="2067696"/>
            <a:ext cx="3072478" cy="3912973"/>
          </a:xfrm>
          <a:prstGeom prst="rect">
            <a:avLst/>
          </a:prstGeom>
        </p:spPr>
      </p:pic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0514D1F-5CA2-FD4A-8111-5C428B8EA2A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9" y="1681163"/>
            <a:ext cx="2433764" cy="823912"/>
          </a:xfrm>
        </p:spPr>
        <p:txBody>
          <a:bodyPr anchor="b"/>
          <a:lstStyle>
            <a:lvl1pPr marL="0" indent="0">
              <a:buNone/>
              <a:defRPr sz="1800" b="0" i="0">
                <a:solidFill>
                  <a:schemeClr val="tx1"/>
                </a:solidFill>
                <a:latin typeface="Arial" panose="020B0604020202020204" pitchFamily="34" charset="0"/>
                <a:ea typeface="Roboto Medium" panose="02000000000000000000" pitchFamily="2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D0A67AE-768D-FF47-ADE4-FE6888DC7AE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9" y="2627789"/>
            <a:ext cx="2433763" cy="3561873"/>
          </a:xfrm>
        </p:spPr>
        <p:txBody>
          <a:bodyPr/>
          <a:lstStyle>
            <a:lvl1pPr>
              <a:defRPr sz="1200">
                <a:solidFill>
                  <a:schemeClr val="tx1"/>
                </a:solidFill>
              </a:defRPr>
            </a:lvl1pPr>
            <a:lvl2pPr>
              <a:defRPr sz="1200">
                <a:solidFill>
                  <a:schemeClr val="tx1"/>
                </a:solidFill>
              </a:defRPr>
            </a:lvl2pPr>
            <a:lvl3pPr>
              <a:defRPr sz="1200">
                <a:solidFill>
                  <a:schemeClr val="tx1"/>
                </a:solidFill>
              </a:defRPr>
            </a:lvl3pPr>
            <a:lvl4pPr>
              <a:defRPr sz="1200">
                <a:solidFill>
                  <a:schemeClr val="tx1"/>
                </a:solidFill>
              </a:defRPr>
            </a:lvl4pPr>
            <a:lvl5pPr>
              <a:defRPr sz="12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2365714-2DEC-DB45-B4F8-C84DA01AD44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3522028" y="1681163"/>
            <a:ext cx="2433763" cy="823912"/>
          </a:xfrm>
        </p:spPr>
        <p:txBody>
          <a:bodyPr anchor="b"/>
          <a:lstStyle>
            <a:lvl1pPr marL="0" indent="0">
              <a:buNone/>
              <a:defRPr sz="1800" b="0" i="0">
                <a:solidFill>
                  <a:schemeClr val="tx1"/>
                </a:solidFill>
                <a:latin typeface="Arial" panose="020B0604020202020204" pitchFamily="34" charset="0"/>
                <a:ea typeface="Roboto Medium" panose="02000000000000000000" pitchFamily="2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849B1B4-FD50-6A4A-94C0-75828986E31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3522029" y="2627789"/>
            <a:ext cx="2433762" cy="3561873"/>
          </a:xfrm>
        </p:spPr>
        <p:txBody>
          <a:bodyPr/>
          <a:lstStyle>
            <a:lvl1pPr>
              <a:defRPr sz="1200">
                <a:solidFill>
                  <a:schemeClr val="tx1"/>
                </a:solidFill>
              </a:defRPr>
            </a:lvl1pPr>
            <a:lvl2pPr>
              <a:defRPr sz="1200">
                <a:solidFill>
                  <a:schemeClr val="tx1"/>
                </a:solidFill>
              </a:defRPr>
            </a:lvl2pPr>
            <a:lvl3pPr>
              <a:defRPr sz="1200">
                <a:solidFill>
                  <a:schemeClr val="tx1"/>
                </a:solidFill>
              </a:defRPr>
            </a:lvl3pPr>
            <a:lvl4pPr>
              <a:defRPr sz="1200">
                <a:solidFill>
                  <a:schemeClr val="tx1"/>
                </a:solidFill>
              </a:defRPr>
            </a:lvl4pPr>
            <a:lvl5pPr>
              <a:defRPr sz="12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7" name="Text Placeholder 4">
            <a:extLst>
              <a:ext uri="{FF2B5EF4-FFF2-40B4-BE49-F238E27FC236}">
                <a16:creationId xmlns:a16="http://schemas.microsoft.com/office/drawing/2014/main" id="{4680BD89-3A68-944D-BC2C-E8B0449AD1A2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236211" y="1681163"/>
            <a:ext cx="2433763" cy="823912"/>
          </a:xfrm>
        </p:spPr>
        <p:txBody>
          <a:bodyPr anchor="b"/>
          <a:lstStyle>
            <a:lvl1pPr marL="0" indent="0">
              <a:buNone/>
              <a:defRPr sz="1800" b="0" i="0">
                <a:solidFill>
                  <a:schemeClr val="tx1"/>
                </a:solidFill>
                <a:latin typeface="Arial" panose="020B0604020202020204" pitchFamily="34" charset="0"/>
                <a:ea typeface="Roboto Medium" panose="02000000000000000000" pitchFamily="2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8" name="Content Placeholder 5">
            <a:extLst>
              <a:ext uri="{FF2B5EF4-FFF2-40B4-BE49-F238E27FC236}">
                <a16:creationId xmlns:a16="http://schemas.microsoft.com/office/drawing/2014/main" id="{E8254C6D-E886-9E4E-98B7-90808E14B0E1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6236212" y="2627789"/>
            <a:ext cx="2433762" cy="3561873"/>
          </a:xfrm>
        </p:spPr>
        <p:txBody>
          <a:bodyPr/>
          <a:lstStyle>
            <a:lvl1pPr>
              <a:defRPr sz="1200">
                <a:solidFill>
                  <a:schemeClr val="tx1"/>
                </a:solidFill>
              </a:defRPr>
            </a:lvl1pPr>
            <a:lvl2pPr>
              <a:defRPr sz="1200">
                <a:solidFill>
                  <a:schemeClr val="tx1"/>
                </a:solidFill>
              </a:defRPr>
            </a:lvl2pPr>
            <a:lvl3pPr>
              <a:defRPr sz="1200">
                <a:solidFill>
                  <a:schemeClr val="tx1"/>
                </a:solidFill>
              </a:defRPr>
            </a:lvl3pPr>
            <a:lvl4pPr>
              <a:defRPr sz="1200">
                <a:solidFill>
                  <a:schemeClr val="tx1"/>
                </a:solidFill>
              </a:defRPr>
            </a:lvl4pPr>
            <a:lvl5pPr>
              <a:defRPr sz="12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5" name="Text Placeholder 4">
            <a:extLst>
              <a:ext uri="{FF2B5EF4-FFF2-40B4-BE49-F238E27FC236}">
                <a16:creationId xmlns:a16="http://schemas.microsoft.com/office/drawing/2014/main" id="{A4C158C2-261F-F64E-9A5D-D4155B9C1FE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8915403" y="1681163"/>
            <a:ext cx="2433763" cy="823912"/>
          </a:xfrm>
        </p:spPr>
        <p:txBody>
          <a:bodyPr anchor="b"/>
          <a:lstStyle>
            <a:lvl1pPr marL="0" indent="0">
              <a:buNone/>
              <a:defRPr sz="1800" b="0" i="0">
                <a:solidFill>
                  <a:schemeClr val="tx1"/>
                </a:solidFill>
                <a:latin typeface="Arial" panose="020B0604020202020204" pitchFamily="34" charset="0"/>
                <a:ea typeface="Roboto Medium" panose="02000000000000000000" pitchFamily="2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6" name="Content Placeholder 5">
            <a:extLst>
              <a:ext uri="{FF2B5EF4-FFF2-40B4-BE49-F238E27FC236}">
                <a16:creationId xmlns:a16="http://schemas.microsoft.com/office/drawing/2014/main" id="{157FE8CE-6074-1D41-82FE-76F196F43666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8915404" y="2627789"/>
            <a:ext cx="2433762" cy="3561873"/>
          </a:xfrm>
        </p:spPr>
        <p:txBody>
          <a:bodyPr/>
          <a:lstStyle>
            <a:lvl1pPr>
              <a:defRPr sz="1200">
                <a:solidFill>
                  <a:schemeClr val="tx1"/>
                </a:solidFill>
              </a:defRPr>
            </a:lvl1pPr>
            <a:lvl2pPr>
              <a:defRPr sz="1200">
                <a:solidFill>
                  <a:schemeClr val="tx1"/>
                </a:solidFill>
              </a:defRPr>
            </a:lvl2pPr>
            <a:lvl3pPr>
              <a:defRPr sz="1200">
                <a:solidFill>
                  <a:schemeClr val="tx1"/>
                </a:solidFill>
              </a:defRPr>
            </a:lvl3pPr>
            <a:lvl4pPr>
              <a:defRPr sz="1200">
                <a:solidFill>
                  <a:schemeClr val="tx1"/>
                </a:solidFill>
              </a:defRPr>
            </a:lvl4pPr>
            <a:lvl5pPr>
              <a:defRPr sz="12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4" name="Title Placeholder 1">
            <a:extLst>
              <a:ext uri="{FF2B5EF4-FFF2-40B4-BE49-F238E27FC236}">
                <a16:creationId xmlns:a16="http://schemas.microsoft.com/office/drawing/2014/main" id="{796C8826-3828-104C-9751-E7B336D3B8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58842"/>
            <a:ext cx="10515600" cy="1033508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lnSpc>
                <a:spcPct val="90000"/>
              </a:lnSpc>
              <a:defRPr b="0" i="0" spc="40" baseline="0">
                <a:solidFill>
                  <a:schemeClr val="tx1"/>
                </a:solidFill>
                <a:latin typeface="Arial" panose="020B0604020202020204" pitchFamily="34" charset="0"/>
                <a:ea typeface="Roboto Light" panose="02000000000000000000" pitchFamily="2" charset="0"/>
              </a:defRPr>
            </a:lvl1pPr>
          </a:lstStyle>
          <a:p>
            <a:endParaRPr lang="en-US" dirty="0"/>
          </a:p>
        </p:txBody>
      </p:sp>
      <p:sp>
        <p:nvSpPr>
          <p:cNvPr id="19" name="Text Placeholder 3">
            <a:extLst>
              <a:ext uri="{FF2B5EF4-FFF2-40B4-BE49-F238E27FC236}">
                <a16:creationId xmlns:a16="http://schemas.microsoft.com/office/drawing/2014/main" id="{2535F69B-6616-784E-937A-CCDC18B5CA1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838197" y="466818"/>
            <a:ext cx="4212859" cy="173736"/>
          </a:xfrm>
        </p:spPr>
        <p:txBody>
          <a:bodyPr/>
          <a:lstStyle>
            <a:lvl1pPr marL="0" indent="0">
              <a:buFont typeface="Arial" panose="020B0604020202020204" pitchFamily="34" charset="0"/>
              <a:buNone/>
              <a:defRPr sz="1000" b="1" i="0">
                <a:solidFill>
                  <a:schemeClr val="tx1"/>
                </a:solidFill>
                <a:latin typeface="Arial" panose="020B0604020202020204" pitchFamily="34" charset="0"/>
                <a:ea typeface="Roboto" panose="02000000000000000000" pitchFamily="2" charset="0"/>
              </a:defRPr>
            </a:lvl1pPr>
            <a:lvl2pPr marL="9525" indent="0">
              <a:buNone/>
              <a:defRPr sz="1000" b="1" i="0">
                <a:latin typeface="Roboto" panose="02000000000000000000" pitchFamily="2" charset="0"/>
                <a:ea typeface="Roboto" panose="02000000000000000000" pitchFamily="2" charset="0"/>
              </a:defRPr>
            </a:lvl2pPr>
            <a:lvl3pPr marL="222250" indent="0">
              <a:buNone/>
              <a:defRPr sz="1000" b="1" i="0">
                <a:latin typeface="Roboto" panose="02000000000000000000" pitchFamily="2" charset="0"/>
                <a:ea typeface="Roboto" panose="02000000000000000000" pitchFamily="2" charset="0"/>
              </a:defRPr>
            </a:lvl3pPr>
            <a:lvl4pPr marL="406400" indent="0">
              <a:buNone/>
              <a:defRPr sz="1000" b="1" i="0">
                <a:latin typeface="Roboto" panose="02000000000000000000" pitchFamily="2" charset="0"/>
                <a:ea typeface="Roboto" panose="02000000000000000000" pitchFamily="2" charset="0"/>
              </a:defRPr>
            </a:lvl4pPr>
            <a:lvl5pPr marL="577850" indent="0">
              <a:buNone/>
              <a:defRPr sz="1000" b="1" i="0"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pic>
        <p:nvPicPr>
          <p:cNvPr id="21" name="Graphic 20">
            <a:extLst>
              <a:ext uri="{FF2B5EF4-FFF2-40B4-BE49-F238E27FC236}">
                <a16:creationId xmlns:a16="http://schemas.microsoft.com/office/drawing/2014/main" id="{D88B4F55-61B2-0D4D-8B51-AC6C272E5EDF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69456" y="6392200"/>
            <a:ext cx="198715" cy="253075"/>
          </a:xfrm>
          <a:prstGeom prst="rect">
            <a:avLst/>
          </a:prstGeom>
        </p:spPr>
      </p:pic>
      <p:sp>
        <p:nvSpPr>
          <p:cNvPr id="23" name="Footer Placeholder 6">
            <a:extLst>
              <a:ext uri="{FF2B5EF4-FFF2-40B4-BE49-F238E27FC236}">
                <a16:creationId xmlns:a16="http://schemas.microsoft.com/office/drawing/2014/main" id="{05B8EE63-54FA-A448-B74E-4F5506964BC8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>
          <a:xfrm>
            <a:off x="1383401" y="6426616"/>
            <a:ext cx="4114800" cy="138499"/>
          </a:xfrm>
          <a:prstGeom prst="rect">
            <a:avLst/>
          </a:prstGeom>
        </p:spPr>
        <p:txBody>
          <a:bodyPr vert="horz" lIns="0" tIns="0" rIns="0" bIns="0" rtlCol="0" anchor="t" anchorCtr="0">
            <a:spAutoFit/>
          </a:bodyPr>
          <a:lstStyle>
            <a:lvl1pPr algn="l">
              <a:defRPr sz="9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</a:lstStyle>
          <a:p>
            <a:r>
              <a:rPr lang="en-US" b="1">
                <a:latin typeface="Arial" panose="020B0604020202020204" pitchFamily="34" charset="0"/>
              </a:rPr>
              <a:t>NuVista Energy Ltd.</a:t>
            </a:r>
            <a:endParaRPr lang="en-US" dirty="0">
              <a:latin typeface="Arial" panose="020B0604020202020204" pitchFamily="34" charset="0"/>
            </a:endParaRPr>
          </a:p>
        </p:txBody>
      </p:sp>
      <p:sp>
        <p:nvSpPr>
          <p:cNvPr id="26" name="Slide Number Placeholder 5">
            <a:extLst>
              <a:ext uri="{FF2B5EF4-FFF2-40B4-BE49-F238E27FC236}">
                <a16:creationId xmlns:a16="http://schemas.microsoft.com/office/drawing/2014/main" id="{6E70716A-C710-654A-8C18-B4AA6BDDB7C6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>
          <a:xfrm>
            <a:off x="838199" y="6313304"/>
            <a:ext cx="304801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900" b="0" i="0">
                <a:solidFill>
                  <a:schemeClr val="tx1"/>
                </a:solidFill>
                <a:latin typeface="Arial" panose="020B0604020202020204" pitchFamily="34" charset="0"/>
                <a:ea typeface="Roboto" panose="02000000000000000000" pitchFamily="2" charset="0"/>
              </a:defRPr>
            </a:lvl1pPr>
          </a:lstStyle>
          <a:p>
            <a:fld id="{D246DD65-7063-5C41-96CC-23CB1F95FA91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3446114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Caption">
    <p:bg>
      <p:bgPr>
        <a:solidFill>
          <a:srgbClr val="FDFD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Graphic 18">
            <a:extLst>
              <a:ext uri="{FF2B5EF4-FFF2-40B4-BE49-F238E27FC236}">
                <a16:creationId xmlns:a16="http://schemas.microsoft.com/office/drawing/2014/main" id="{00F43117-01F5-9644-A91E-DCB8B7F4EBA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-699627" y="2091618"/>
            <a:ext cx="3072478" cy="3912973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B06BABB-B76D-124D-80B7-17F3971654A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43984" y="1380744"/>
            <a:ext cx="6911404" cy="4480306"/>
          </a:xfrm>
        </p:spPr>
        <p:txBody>
          <a:bodyPr/>
          <a:lstStyle>
            <a:lvl1pPr>
              <a:defRPr sz="1600">
                <a:solidFill>
                  <a:schemeClr val="tx1"/>
                </a:solidFill>
              </a:defRPr>
            </a:lvl1pPr>
            <a:lvl2pPr>
              <a:defRPr sz="1600">
                <a:solidFill>
                  <a:schemeClr val="tx1"/>
                </a:solidFill>
              </a:defRPr>
            </a:lvl2pPr>
            <a:lvl3pPr>
              <a:defRPr sz="1600">
                <a:solidFill>
                  <a:schemeClr val="tx1"/>
                </a:solidFill>
              </a:defRPr>
            </a:lvl3pPr>
            <a:lvl4pPr>
              <a:defRPr sz="1600">
                <a:solidFill>
                  <a:schemeClr val="tx1"/>
                </a:solidFill>
              </a:defRPr>
            </a:lvl4pPr>
            <a:lvl5pPr>
              <a:defRPr sz="1600">
                <a:solidFill>
                  <a:schemeClr val="tx1"/>
                </a:solidFill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304D83C-A92D-E244-9372-84393844577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9" y="2531974"/>
            <a:ext cx="3329876" cy="3337013"/>
          </a:xfrm>
        </p:spPr>
        <p:txBody>
          <a:bodyPr/>
          <a:lstStyle>
            <a:lvl1pPr marL="0" indent="0">
              <a:buNone/>
              <a:defRPr sz="1600">
                <a:solidFill>
                  <a:schemeClr val="tx1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0630A9B8-D978-7742-917E-2F0ADE492CF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836612" y="1380743"/>
            <a:ext cx="3329876" cy="1050281"/>
          </a:xfrm>
        </p:spPr>
        <p:txBody>
          <a:bodyPr anchor="b" anchorCtr="0"/>
          <a:lstStyle>
            <a:lvl1pPr>
              <a:lnSpc>
                <a:spcPct val="100000"/>
              </a:lnSpc>
              <a:spcBef>
                <a:spcPts val="0"/>
              </a:spcBef>
              <a:defRPr sz="1800" b="0" i="0">
                <a:solidFill>
                  <a:schemeClr val="tx1"/>
                </a:solidFill>
                <a:latin typeface="Arial" panose="020B0604020202020204" pitchFamily="34" charset="0"/>
                <a:ea typeface="Roboto Medium" panose="02000000000000000000" pitchFamily="2" charset="0"/>
              </a:defRPr>
            </a:lvl1pPr>
            <a:lvl2pPr marL="9525" indent="0">
              <a:buNone/>
              <a:defRPr/>
            </a:lvl2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9" name="Title Placeholder 1">
            <a:extLst>
              <a:ext uri="{FF2B5EF4-FFF2-40B4-BE49-F238E27FC236}">
                <a16:creationId xmlns:a16="http://schemas.microsoft.com/office/drawing/2014/main" id="{E8AF8D62-F2FB-CF46-82BF-D768F72185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58842"/>
            <a:ext cx="10515600" cy="426029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lnSpc>
                <a:spcPct val="90000"/>
              </a:lnSpc>
              <a:defRPr b="0" i="0" spc="40" baseline="0">
                <a:solidFill>
                  <a:schemeClr val="tx1"/>
                </a:solidFill>
                <a:latin typeface="Arial" panose="020B0604020202020204" pitchFamily="34" charset="0"/>
                <a:ea typeface="Roboto Light" panose="02000000000000000000" pitchFamily="2" charset="0"/>
              </a:defRPr>
            </a:lvl1pPr>
          </a:lstStyle>
          <a:p>
            <a:endParaRPr lang="en-US" dirty="0"/>
          </a:p>
        </p:txBody>
      </p:sp>
      <p:sp>
        <p:nvSpPr>
          <p:cNvPr id="11" name="Text Placeholder 3">
            <a:extLst>
              <a:ext uri="{FF2B5EF4-FFF2-40B4-BE49-F238E27FC236}">
                <a16:creationId xmlns:a16="http://schemas.microsoft.com/office/drawing/2014/main" id="{267B22AB-3DCF-F646-8C59-E0E97B18EBED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838197" y="466818"/>
            <a:ext cx="4212859" cy="173736"/>
          </a:xfrm>
        </p:spPr>
        <p:txBody>
          <a:bodyPr/>
          <a:lstStyle>
            <a:lvl1pPr marL="0" indent="0">
              <a:buFont typeface="Arial" panose="020B0604020202020204" pitchFamily="34" charset="0"/>
              <a:buNone/>
              <a:defRPr sz="1000" b="1" i="0">
                <a:solidFill>
                  <a:schemeClr val="tx1"/>
                </a:solidFill>
                <a:latin typeface="Arial" panose="020B0604020202020204" pitchFamily="34" charset="0"/>
                <a:ea typeface="Roboto" panose="02000000000000000000" pitchFamily="2" charset="0"/>
              </a:defRPr>
            </a:lvl1pPr>
            <a:lvl2pPr marL="9525" indent="0">
              <a:buNone/>
              <a:defRPr sz="1000" b="1" i="0">
                <a:latin typeface="Roboto" panose="02000000000000000000" pitchFamily="2" charset="0"/>
                <a:ea typeface="Roboto" panose="02000000000000000000" pitchFamily="2" charset="0"/>
              </a:defRPr>
            </a:lvl2pPr>
            <a:lvl3pPr marL="222250" indent="0">
              <a:buNone/>
              <a:defRPr sz="1000" b="1" i="0">
                <a:latin typeface="Roboto" panose="02000000000000000000" pitchFamily="2" charset="0"/>
                <a:ea typeface="Roboto" panose="02000000000000000000" pitchFamily="2" charset="0"/>
              </a:defRPr>
            </a:lvl3pPr>
            <a:lvl4pPr marL="406400" indent="0">
              <a:buNone/>
              <a:defRPr sz="1000" b="1" i="0">
                <a:latin typeface="Roboto" panose="02000000000000000000" pitchFamily="2" charset="0"/>
                <a:ea typeface="Roboto" panose="02000000000000000000" pitchFamily="2" charset="0"/>
              </a:defRPr>
            </a:lvl4pPr>
            <a:lvl5pPr marL="577850" indent="0">
              <a:buNone/>
              <a:defRPr sz="1000" b="1" i="0"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pic>
        <p:nvPicPr>
          <p:cNvPr id="12" name="Graphic 11">
            <a:extLst>
              <a:ext uri="{FF2B5EF4-FFF2-40B4-BE49-F238E27FC236}">
                <a16:creationId xmlns:a16="http://schemas.microsoft.com/office/drawing/2014/main" id="{96820C1E-8E8E-864F-AC09-49BED386338F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69456" y="6392200"/>
            <a:ext cx="198715" cy="253075"/>
          </a:xfrm>
          <a:prstGeom prst="rect">
            <a:avLst/>
          </a:prstGeom>
        </p:spPr>
      </p:pic>
      <p:sp>
        <p:nvSpPr>
          <p:cNvPr id="13" name="Footer Placeholder 6">
            <a:extLst>
              <a:ext uri="{FF2B5EF4-FFF2-40B4-BE49-F238E27FC236}">
                <a16:creationId xmlns:a16="http://schemas.microsoft.com/office/drawing/2014/main" id="{CC0F4EBF-FEF3-7744-99E3-CBE2C9F39E4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383401" y="6426616"/>
            <a:ext cx="4114800" cy="138499"/>
          </a:xfrm>
          <a:prstGeom prst="rect">
            <a:avLst/>
          </a:prstGeom>
        </p:spPr>
        <p:txBody>
          <a:bodyPr vert="horz" lIns="0" tIns="0" rIns="0" bIns="0" rtlCol="0" anchor="t" anchorCtr="0">
            <a:spAutoFit/>
          </a:bodyPr>
          <a:lstStyle>
            <a:lvl1pPr algn="l">
              <a:defRPr sz="9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</a:lstStyle>
          <a:p>
            <a:r>
              <a:rPr lang="en-US" b="1">
                <a:latin typeface="Arial" panose="020B0604020202020204" pitchFamily="34" charset="0"/>
              </a:rPr>
              <a:t>NuVista Energy Ltd.</a:t>
            </a:r>
            <a:endParaRPr lang="en-US" dirty="0">
              <a:latin typeface="Arial" panose="020B0604020202020204" pitchFamily="34" charset="0"/>
            </a:endParaRPr>
          </a:p>
        </p:txBody>
      </p:sp>
      <p:sp>
        <p:nvSpPr>
          <p:cNvPr id="14" name="Slide Number Placeholder 5">
            <a:extLst>
              <a:ext uri="{FF2B5EF4-FFF2-40B4-BE49-F238E27FC236}">
                <a16:creationId xmlns:a16="http://schemas.microsoft.com/office/drawing/2014/main" id="{FFF2C938-9853-C842-B923-C293FC5D976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38199" y="6313304"/>
            <a:ext cx="304801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900" b="0" i="0">
                <a:solidFill>
                  <a:schemeClr val="tx1"/>
                </a:solidFill>
                <a:latin typeface="Arial" panose="020B0604020202020204" pitchFamily="34" charset="0"/>
                <a:ea typeface="Roboto" panose="02000000000000000000" pitchFamily="2" charset="0"/>
              </a:defRPr>
            </a:lvl1pPr>
          </a:lstStyle>
          <a:p>
            <a:fld id="{D246DD65-7063-5C41-96CC-23CB1F95FA91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4543238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with Caption">
    <p:bg>
      <p:bgPr>
        <a:solidFill>
          <a:srgbClr val="FDFD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Graphic 17">
            <a:extLst>
              <a:ext uri="{FF2B5EF4-FFF2-40B4-BE49-F238E27FC236}">
                <a16:creationId xmlns:a16="http://schemas.microsoft.com/office/drawing/2014/main" id="{CBE97528-63E0-B947-8D70-BEDE869968D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-699627" y="2090488"/>
            <a:ext cx="3072478" cy="3912973"/>
          </a:xfrm>
          <a:prstGeom prst="rect">
            <a:avLst/>
          </a:prstGeom>
        </p:spPr>
      </p:pic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320C621-5537-554E-8430-60B2C07AC0E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6239258" y="1702700"/>
            <a:ext cx="5116130" cy="4158350"/>
          </a:xfrm>
        </p:spPr>
        <p:txBody>
          <a:bodyPr/>
          <a:lstStyle>
            <a:lvl1pPr marL="0" indent="0">
              <a:buNone/>
              <a:defRPr sz="2400" b="0" i="0">
                <a:solidFill>
                  <a:schemeClr val="tx1"/>
                </a:solidFill>
                <a:latin typeface="Arial" panose="020B0604020202020204" pitchFamily="34" charset="0"/>
                <a:ea typeface="Roboto Medium" panose="02000000000000000000" pitchFamily="2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C7F1BDB-3D52-C947-9A70-95CBB52C910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1710638"/>
            <a:ext cx="5112956" cy="4158350"/>
          </a:xfrm>
        </p:spPr>
        <p:txBody>
          <a:bodyPr/>
          <a:lstStyle>
            <a:lvl1pPr marL="0" indent="0">
              <a:buNone/>
              <a:defRPr sz="1600">
                <a:solidFill>
                  <a:schemeClr val="tx1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8" name="Title Placeholder 1">
            <a:extLst>
              <a:ext uri="{FF2B5EF4-FFF2-40B4-BE49-F238E27FC236}">
                <a16:creationId xmlns:a16="http://schemas.microsoft.com/office/drawing/2014/main" id="{6A80D494-C4A5-8D42-9429-57A6352A75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58842"/>
            <a:ext cx="10515600" cy="1033508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lnSpc>
                <a:spcPct val="90000"/>
              </a:lnSpc>
              <a:defRPr b="0" i="0" spc="40" baseline="0">
                <a:solidFill>
                  <a:schemeClr val="tx1"/>
                </a:solidFill>
                <a:latin typeface="Arial" panose="020B0604020202020204" pitchFamily="34" charset="0"/>
                <a:ea typeface="Roboto Light" panose="02000000000000000000" pitchFamily="2" charset="0"/>
              </a:defRPr>
            </a:lvl1pPr>
          </a:lstStyle>
          <a:p>
            <a:endParaRPr lang="en-US" dirty="0"/>
          </a:p>
        </p:txBody>
      </p:sp>
      <p:sp>
        <p:nvSpPr>
          <p:cNvPr id="10" name="Text Placeholder 3">
            <a:extLst>
              <a:ext uri="{FF2B5EF4-FFF2-40B4-BE49-F238E27FC236}">
                <a16:creationId xmlns:a16="http://schemas.microsoft.com/office/drawing/2014/main" id="{4A805077-2DFF-C048-A74F-FEFC5F19E7F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838197" y="466818"/>
            <a:ext cx="4212859" cy="173736"/>
          </a:xfrm>
        </p:spPr>
        <p:txBody>
          <a:bodyPr/>
          <a:lstStyle>
            <a:lvl1pPr marL="0" indent="0">
              <a:buFont typeface="Arial" panose="020B0604020202020204" pitchFamily="34" charset="0"/>
              <a:buNone/>
              <a:defRPr sz="1000" b="1" i="0">
                <a:solidFill>
                  <a:schemeClr val="tx1"/>
                </a:solidFill>
                <a:latin typeface="Arial" panose="020B0604020202020204" pitchFamily="34" charset="0"/>
                <a:ea typeface="Roboto" panose="02000000000000000000" pitchFamily="2" charset="0"/>
              </a:defRPr>
            </a:lvl1pPr>
            <a:lvl2pPr marL="9525" indent="0">
              <a:buNone/>
              <a:defRPr sz="1000" b="1" i="0">
                <a:latin typeface="Roboto" panose="02000000000000000000" pitchFamily="2" charset="0"/>
                <a:ea typeface="Roboto" panose="02000000000000000000" pitchFamily="2" charset="0"/>
              </a:defRPr>
            </a:lvl2pPr>
            <a:lvl3pPr marL="222250" indent="0">
              <a:buNone/>
              <a:defRPr sz="1000" b="1" i="0">
                <a:latin typeface="Roboto" panose="02000000000000000000" pitchFamily="2" charset="0"/>
                <a:ea typeface="Roboto" panose="02000000000000000000" pitchFamily="2" charset="0"/>
              </a:defRPr>
            </a:lvl3pPr>
            <a:lvl4pPr marL="406400" indent="0">
              <a:buNone/>
              <a:defRPr sz="1000" b="1" i="0">
                <a:latin typeface="Roboto" panose="02000000000000000000" pitchFamily="2" charset="0"/>
                <a:ea typeface="Roboto" panose="02000000000000000000" pitchFamily="2" charset="0"/>
              </a:defRPr>
            </a:lvl4pPr>
            <a:lvl5pPr marL="577850" indent="0">
              <a:buNone/>
              <a:defRPr sz="1000" b="1" i="0"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pic>
        <p:nvPicPr>
          <p:cNvPr id="11" name="Graphic 10">
            <a:extLst>
              <a:ext uri="{FF2B5EF4-FFF2-40B4-BE49-F238E27FC236}">
                <a16:creationId xmlns:a16="http://schemas.microsoft.com/office/drawing/2014/main" id="{DB1F4726-EF65-7645-BCFF-353C11479F3D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69456" y="6392200"/>
            <a:ext cx="198715" cy="253075"/>
          </a:xfrm>
          <a:prstGeom prst="rect">
            <a:avLst/>
          </a:prstGeom>
        </p:spPr>
      </p:pic>
      <p:sp>
        <p:nvSpPr>
          <p:cNvPr id="12" name="Footer Placeholder 6">
            <a:extLst>
              <a:ext uri="{FF2B5EF4-FFF2-40B4-BE49-F238E27FC236}">
                <a16:creationId xmlns:a16="http://schemas.microsoft.com/office/drawing/2014/main" id="{D0745A4F-A219-614C-98DD-9FEBFE44C83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383401" y="6426616"/>
            <a:ext cx="4114800" cy="138499"/>
          </a:xfrm>
          <a:prstGeom prst="rect">
            <a:avLst/>
          </a:prstGeom>
        </p:spPr>
        <p:txBody>
          <a:bodyPr vert="horz" lIns="0" tIns="0" rIns="0" bIns="0" rtlCol="0" anchor="t" anchorCtr="0">
            <a:spAutoFit/>
          </a:bodyPr>
          <a:lstStyle>
            <a:lvl1pPr algn="l">
              <a:defRPr sz="9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</a:lstStyle>
          <a:p>
            <a:r>
              <a:rPr lang="en-US" b="1">
                <a:latin typeface="Arial" panose="020B0604020202020204" pitchFamily="34" charset="0"/>
              </a:rPr>
              <a:t>NuVista Energy Ltd.</a:t>
            </a:r>
            <a:endParaRPr lang="en-US" dirty="0">
              <a:latin typeface="Arial" panose="020B0604020202020204" pitchFamily="34" charset="0"/>
            </a:endParaRPr>
          </a:p>
        </p:txBody>
      </p:sp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11DE9D77-F61D-8943-B484-6666430D702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38199" y="6313304"/>
            <a:ext cx="304801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900" b="0" i="0">
                <a:solidFill>
                  <a:schemeClr val="tx1"/>
                </a:solidFill>
                <a:latin typeface="Arial" panose="020B0604020202020204" pitchFamily="34" charset="0"/>
                <a:ea typeface="Roboto" panose="02000000000000000000" pitchFamily="2" charset="0"/>
              </a:defRPr>
            </a:lvl1pPr>
          </a:lstStyle>
          <a:p>
            <a:fld id="{D246DD65-7063-5C41-96CC-23CB1F95FA91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5438941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Picture with Caption">
    <p:bg>
      <p:bgPr>
        <a:solidFill>
          <a:srgbClr val="FDFD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Graphic 17">
            <a:extLst>
              <a:ext uri="{FF2B5EF4-FFF2-40B4-BE49-F238E27FC236}">
                <a16:creationId xmlns:a16="http://schemas.microsoft.com/office/drawing/2014/main" id="{CCF33CEF-DB70-244F-80BA-B71548C44C8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-699627" y="2109162"/>
            <a:ext cx="3072478" cy="3912973"/>
          </a:xfrm>
          <a:prstGeom prst="rect">
            <a:avLst/>
          </a:prstGeom>
        </p:spPr>
      </p:pic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320C621-5537-554E-8430-60B2C07AC0E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581400" y="1710637"/>
            <a:ext cx="7773988" cy="4311497"/>
          </a:xfrm>
        </p:spPr>
        <p:txBody>
          <a:bodyPr/>
          <a:lstStyle>
            <a:lvl1pPr marL="0" indent="0">
              <a:buNone/>
              <a:defRPr sz="3200">
                <a:solidFill>
                  <a:schemeClr val="tx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C7F1BDB-3D52-C947-9A70-95CBB52C910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1718575"/>
            <a:ext cx="2424620" cy="4311497"/>
          </a:xfrm>
        </p:spPr>
        <p:txBody>
          <a:bodyPr/>
          <a:lstStyle>
            <a:lvl1pPr marL="0" indent="0">
              <a:buNone/>
              <a:defRPr sz="1600">
                <a:solidFill>
                  <a:schemeClr val="tx1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8" name="Title Placeholder 1">
            <a:extLst>
              <a:ext uri="{FF2B5EF4-FFF2-40B4-BE49-F238E27FC236}">
                <a16:creationId xmlns:a16="http://schemas.microsoft.com/office/drawing/2014/main" id="{461A6208-D7F3-AA47-9283-E80A86335C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58842"/>
            <a:ext cx="10515600" cy="1033508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lnSpc>
                <a:spcPct val="90000"/>
              </a:lnSpc>
              <a:defRPr b="0" i="0" spc="40" baseline="0">
                <a:solidFill>
                  <a:schemeClr val="tx1"/>
                </a:solidFill>
                <a:latin typeface="Arial" panose="020B0604020202020204" pitchFamily="34" charset="0"/>
                <a:ea typeface="Roboto Light" panose="02000000000000000000" pitchFamily="2" charset="0"/>
              </a:defRPr>
            </a:lvl1pPr>
          </a:lstStyle>
          <a:p>
            <a:endParaRPr lang="en-US" dirty="0"/>
          </a:p>
        </p:txBody>
      </p:sp>
      <p:sp>
        <p:nvSpPr>
          <p:cNvPr id="10" name="Text Placeholder 3">
            <a:extLst>
              <a:ext uri="{FF2B5EF4-FFF2-40B4-BE49-F238E27FC236}">
                <a16:creationId xmlns:a16="http://schemas.microsoft.com/office/drawing/2014/main" id="{A6EA457C-1F3A-2345-B3A2-D139B309BAC8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838197" y="466818"/>
            <a:ext cx="4212859" cy="173736"/>
          </a:xfrm>
        </p:spPr>
        <p:txBody>
          <a:bodyPr/>
          <a:lstStyle>
            <a:lvl1pPr marL="0" indent="0">
              <a:buFont typeface="Arial" panose="020B0604020202020204" pitchFamily="34" charset="0"/>
              <a:buNone/>
              <a:defRPr sz="1000" b="1" i="0">
                <a:solidFill>
                  <a:schemeClr val="tx1"/>
                </a:solidFill>
                <a:latin typeface="Arial" panose="020B0604020202020204" pitchFamily="34" charset="0"/>
                <a:ea typeface="Roboto" panose="02000000000000000000" pitchFamily="2" charset="0"/>
              </a:defRPr>
            </a:lvl1pPr>
            <a:lvl2pPr marL="9525" indent="0">
              <a:buNone/>
              <a:defRPr sz="1000" b="1" i="0">
                <a:latin typeface="Roboto" panose="02000000000000000000" pitchFamily="2" charset="0"/>
                <a:ea typeface="Roboto" panose="02000000000000000000" pitchFamily="2" charset="0"/>
              </a:defRPr>
            </a:lvl2pPr>
            <a:lvl3pPr marL="222250" indent="0">
              <a:buNone/>
              <a:defRPr sz="1000" b="1" i="0">
                <a:latin typeface="Roboto" panose="02000000000000000000" pitchFamily="2" charset="0"/>
                <a:ea typeface="Roboto" panose="02000000000000000000" pitchFamily="2" charset="0"/>
              </a:defRPr>
            </a:lvl3pPr>
            <a:lvl4pPr marL="406400" indent="0">
              <a:buNone/>
              <a:defRPr sz="1000" b="1" i="0">
                <a:latin typeface="Roboto" panose="02000000000000000000" pitchFamily="2" charset="0"/>
                <a:ea typeface="Roboto" panose="02000000000000000000" pitchFamily="2" charset="0"/>
              </a:defRPr>
            </a:lvl4pPr>
            <a:lvl5pPr marL="577850" indent="0">
              <a:buNone/>
              <a:defRPr sz="1000" b="1" i="0"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pic>
        <p:nvPicPr>
          <p:cNvPr id="11" name="Graphic 10">
            <a:extLst>
              <a:ext uri="{FF2B5EF4-FFF2-40B4-BE49-F238E27FC236}">
                <a16:creationId xmlns:a16="http://schemas.microsoft.com/office/drawing/2014/main" id="{DF6F0085-7B88-B641-B1CC-CC66D5D423BB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69456" y="6392200"/>
            <a:ext cx="198715" cy="253075"/>
          </a:xfrm>
          <a:prstGeom prst="rect">
            <a:avLst/>
          </a:prstGeom>
        </p:spPr>
      </p:pic>
      <p:sp>
        <p:nvSpPr>
          <p:cNvPr id="12" name="Footer Placeholder 6">
            <a:extLst>
              <a:ext uri="{FF2B5EF4-FFF2-40B4-BE49-F238E27FC236}">
                <a16:creationId xmlns:a16="http://schemas.microsoft.com/office/drawing/2014/main" id="{CB8FB673-6C0C-B34D-AD97-C684BEF1718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383401" y="6426616"/>
            <a:ext cx="4114800" cy="138499"/>
          </a:xfrm>
          <a:prstGeom prst="rect">
            <a:avLst/>
          </a:prstGeom>
        </p:spPr>
        <p:txBody>
          <a:bodyPr vert="horz" lIns="0" tIns="0" rIns="0" bIns="0" rtlCol="0" anchor="t" anchorCtr="0">
            <a:spAutoFit/>
          </a:bodyPr>
          <a:lstStyle>
            <a:lvl1pPr algn="l">
              <a:defRPr sz="9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</a:lstStyle>
          <a:p>
            <a:r>
              <a:rPr lang="en-US" b="1">
                <a:latin typeface="Arial" panose="020B0604020202020204" pitchFamily="34" charset="0"/>
              </a:rPr>
              <a:t>NuVista Energy Ltd.</a:t>
            </a:r>
            <a:endParaRPr lang="en-US" dirty="0">
              <a:latin typeface="Arial" panose="020B0604020202020204" pitchFamily="34" charset="0"/>
            </a:endParaRPr>
          </a:p>
        </p:txBody>
      </p:sp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407FF9FC-7358-9A45-854D-43272338950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38199" y="6313304"/>
            <a:ext cx="304801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900" b="0" i="0">
                <a:solidFill>
                  <a:schemeClr val="tx1"/>
                </a:solidFill>
                <a:latin typeface="Arial" panose="020B0604020202020204" pitchFamily="34" charset="0"/>
                <a:ea typeface="Roboto" panose="02000000000000000000" pitchFamily="2" charset="0"/>
              </a:defRPr>
            </a:lvl1pPr>
          </a:lstStyle>
          <a:p>
            <a:fld id="{D246DD65-7063-5C41-96CC-23CB1F95FA91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865597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Vertical Text">
    <p:bg>
      <p:bgPr>
        <a:solidFill>
          <a:srgbClr val="FDFD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Graphic 17">
            <a:extLst>
              <a:ext uri="{FF2B5EF4-FFF2-40B4-BE49-F238E27FC236}">
                <a16:creationId xmlns:a16="http://schemas.microsoft.com/office/drawing/2014/main" id="{8BA81E6B-2267-7240-BD8D-2F041945CD1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5400000">
            <a:off x="7315484" y="-1458332"/>
            <a:ext cx="3072478" cy="3912973"/>
          </a:xfrm>
          <a:prstGeom prst="rect">
            <a:avLst/>
          </a:prstGeom>
        </p:spPr>
      </p:pic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B3737E8E-56AD-B14E-B718-902488B11F9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 rot="5400000">
            <a:off x="230383" y="477996"/>
            <a:ext cx="324803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900" b="0" i="0">
                <a:solidFill>
                  <a:schemeClr val="tx1"/>
                </a:solidFill>
                <a:latin typeface="Arial" panose="020B0604020202020204" pitchFamily="34" charset="0"/>
                <a:ea typeface="Roboto" panose="02000000000000000000" pitchFamily="2" charset="0"/>
              </a:defRPr>
            </a:lvl1pPr>
          </a:lstStyle>
          <a:p>
            <a:fld id="{D246DD65-7063-5C41-96CC-23CB1F95FA91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4999DB6-1BEB-7640-A175-94DFE9DE44C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498156"/>
            <a:ext cx="9970008" cy="5884356"/>
          </a:xfrm>
        </p:spPr>
        <p:txBody>
          <a:bodyPr vert="eaVert"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4" name="Vertical Title 1">
            <a:extLst>
              <a:ext uri="{FF2B5EF4-FFF2-40B4-BE49-F238E27FC236}">
                <a16:creationId xmlns:a16="http://schemas.microsoft.com/office/drawing/2014/main" id="{1B43DC09-6FF9-2F4A-ADBD-BBFED927C24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11103328" y="498158"/>
            <a:ext cx="601324" cy="4411594"/>
          </a:xfrm>
        </p:spPr>
        <p:txBody>
          <a:bodyPr vert="eaVert" anchor="t" anchorCtr="0"/>
          <a:lstStyle>
            <a:lvl1pPr>
              <a:lnSpc>
                <a:spcPct val="90000"/>
              </a:lnSpc>
              <a:defRPr sz="2800" b="0" i="0">
                <a:solidFill>
                  <a:schemeClr val="tx1"/>
                </a:solidFill>
                <a:latin typeface="Arial" panose="020B0604020202020204" pitchFamily="34" charset="0"/>
                <a:ea typeface="Roboto Light" panose="02000000000000000000" pitchFamily="2" charset="0"/>
              </a:defRPr>
            </a:lvl1pPr>
          </a:lstStyle>
          <a:p>
            <a:r>
              <a:rPr lang="en-US" dirty="0"/>
              <a:t>Click to edit Master</a:t>
            </a:r>
          </a:p>
        </p:txBody>
      </p:sp>
      <p:pic>
        <p:nvPicPr>
          <p:cNvPr id="16" name="Graphic 15">
            <a:extLst>
              <a:ext uri="{FF2B5EF4-FFF2-40B4-BE49-F238E27FC236}">
                <a16:creationId xmlns:a16="http://schemas.microsoft.com/office/drawing/2014/main" id="{08E47882-5D0B-C447-B5DC-B66FE0E54FCA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5400000">
            <a:off x="253491" y="692734"/>
            <a:ext cx="198715" cy="253075"/>
          </a:xfrm>
          <a:prstGeom prst="rect">
            <a:avLst/>
          </a:prstGeom>
        </p:spPr>
      </p:pic>
      <p:sp>
        <p:nvSpPr>
          <p:cNvPr id="11" name="Text Placeholder 3">
            <a:extLst>
              <a:ext uri="{FF2B5EF4-FFF2-40B4-BE49-F238E27FC236}">
                <a16:creationId xmlns:a16="http://schemas.microsoft.com/office/drawing/2014/main" id="{ADE54E77-F0EC-5F4D-8092-77A8D8566C8C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 rot="5400000">
            <a:off x="9694236" y="2517718"/>
            <a:ext cx="4212859" cy="173736"/>
          </a:xfrm>
        </p:spPr>
        <p:txBody>
          <a:bodyPr/>
          <a:lstStyle>
            <a:lvl1pPr marL="0" indent="0">
              <a:buFont typeface="Arial" panose="020B0604020202020204" pitchFamily="34" charset="0"/>
              <a:buNone/>
              <a:defRPr sz="1000" b="1" i="0">
                <a:solidFill>
                  <a:schemeClr val="tx1"/>
                </a:solidFill>
                <a:latin typeface="Arial" panose="020B0604020202020204" pitchFamily="34" charset="0"/>
                <a:ea typeface="Roboto" panose="02000000000000000000" pitchFamily="2" charset="0"/>
              </a:defRPr>
            </a:lvl1pPr>
            <a:lvl2pPr marL="9525" indent="0">
              <a:buNone/>
              <a:defRPr sz="1000" b="1" i="0">
                <a:latin typeface="Roboto" panose="02000000000000000000" pitchFamily="2" charset="0"/>
                <a:ea typeface="Roboto" panose="02000000000000000000" pitchFamily="2" charset="0"/>
              </a:defRPr>
            </a:lvl2pPr>
            <a:lvl3pPr marL="222250" indent="0">
              <a:buNone/>
              <a:defRPr sz="1000" b="1" i="0">
                <a:latin typeface="Roboto" panose="02000000000000000000" pitchFamily="2" charset="0"/>
                <a:ea typeface="Roboto" panose="02000000000000000000" pitchFamily="2" charset="0"/>
              </a:defRPr>
            </a:lvl3pPr>
            <a:lvl4pPr marL="406400" indent="0">
              <a:buNone/>
              <a:defRPr sz="1000" b="1" i="0">
                <a:latin typeface="Roboto" panose="02000000000000000000" pitchFamily="2" charset="0"/>
                <a:ea typeface="Roboto" panose="02000000000000000000" pitchFamily="2" charset="0"/>
              </a:defRPr>
            </a:lvl4pPr>
            <a:lvl5pPr marL="577850" indent="0">
              <a:buNone/>
              <a:defRPr sz="1000" b="1" i="0"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3" name="Footer Placeholder 6">
            <a:extLst>
              <a:ext uri="{FF2B5EF4-FFF2-40B4-BE49-F238E27FC236}">
                <a16:creationId xmlns:a16="http://schemas.microsoft.com/office/drawing/2014/main" id="{8DB796B6-2923-7F4A-BC63-73C15DCEAFE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 rot="5400000">
            <a:off x="-1681138" y="2998146"/>
            <a:ext cx="4114800" cy="138499"/>
          </a:xfrm>
          <a:prstGeom prst="rect">
            <a:avLst/>
          </a:prstGeom>
        </p:spPr>
        <p:txBody>
          <a:bodyPr vert="horz" lIns="0" tIns="0" rIns="0" bIns="0" rtlCol="0" anchor="t" anchorCtr="0">
            <a:spAutoFit/>
          </a:bodyPr>
          <a:lstStyle>
            <a:lvl1pPr algn="l">
              <a:defRPr sz="9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</a:lstStyle>
          <a:p>
            <a:r>
              <a:rPr lang="en-US" b="1">
                <a:latin typeface="Arial" panose="020B0604020202020204" pitchFamily="34" charset="0"/>
              </a:rPr>
              <a:t>NuVista Energy Ltd.</a:t>
            </a:r>
            <a:endParaRPr lang="en-US" dirty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1495595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9CD828-B38D-4EC1-AA4E-CD5B7412B2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63112934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D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A9B179C-6459-684A-A044-79034DD62F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90846"/>
            <a:ext cx="10515600" cy="833831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C9AD13B-9F9E-CF4D-B001-BDCFA8B95B6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342949"/>
            <a:ext cx="10515600" cy="4685121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404529430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</p:sldLayoutIdLst>
  <p:hf hdr="0" dt="0"/>
  <p:txStyles>
    <p:titleStyle>
      <a:lvl1pPr algn="l" defTabSz="914400" rtl="0" eaLnBrk="1" latinLnBrk="0" hangingPunct="1">
        <a:lnSpc>
          <a:spcPct val="110000"/>
        </a:lnSpc>
        <a:spcBef>
          <a:spcPct val="0"/>
        </a:spcBef>
        <a:buNone/>
        <a:defRPr sz="3200" b="0" i="0" kern="1200">
          <a:solidFill>
            <a:schemeClr val="tx1"/>
          </a:solidFill>
          <a:latin typeface="Arial" panose="020B0604020202020204" pitchFamily="34" charset="0"/>
          <a:ea typeface="Roboto" panose="02000000000000000000" pitchFamily="2" charset="0"/>
          <a:cs typeface="+mj-cs"/>
        </a:defRPr>
      </a:lvl1pPr>
    </p:titleStyle>
    <p:bodyStyle>
      <a:lvl1pPr marL="0" indent="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None/>
        <a:defRPr sz="1600" b="0" i="0" kern="1200">
          <a:solidFill>
            <a:schemeClr val="tx1"/>
          </a:solidFill>
          <a:latin typeface="Arial" panose="020B0604020202020204" pitchFamily="34" charset="0"/>
          <a:ea typeface="Roboto" panose="02000000000000000000" pitchFamily="2" charset="0"/>
          <a:cs typeface="+mn-cs"/>
        </a:defRPr>
      </a:lvl1pPr>
      <a:lvl2pPr marL="182563" indent="-173038" algn="l" defTabSz="914400" rtl="0" eaLnBrk="1" latinLnBrk="0" hangingPunct="1">
        <a:lnSpc>
          <a:spcPct val="90000"/>
        </a:lnSpc>
        <a:spcBef>
          <a:spcPts val="500"/>
        </a:spcBef>
        <a:buClr>
          <a:schemeClr val="accent1"/>
        </a:buClr>
        <a:buFont typeface="Arial" panose="020B0604020202020204" pitchFamily="34" charset="0"/>
        <a:buChar char="•"/>
        <a:tabLst/>
        <a:defRPr sz="1600" b="0" i="0" kern="1200">
          <a:solidFill>
            <a:schemeClr val="tx1"/>
          </a:solidFill>
          <a:latin typeface="Arial" panose="020B0604020202020204" pitchFamily="34" charset="0"/>
          <a:ea typeface="Roboto" panose="02000000000000000000" pitchFamily="2" charset="0"/>
          <a:cs typeface="+mn-cs"/>
        </a:defRPr>
      </a:lvl2pPr>
      <a:lvl3pPr marL="365125" indent="-142875" algn="l" defTabSz="914400" rtl="0" eaLnBrk="1" latinLnBrk="0" hangingPunct="1">
        <a:lnSpc>
          <a:spcPct val="90000"/>
        </a:lnSpc>
        <a:spcBef>
          <a:spcPts val="500"/>
        </a:spcBef>
        <a:buClr>
          <a:schemeClr val="accent1"/>
        </a:buClr>
        <a:buFont typeface="Arial" panose="020B0604020202020204" pitchFamily="34" charset="0"/>
        <a:buChar char="•"/>
        <a:tabLst/>
        <a:defRPr sz="1600" b="0" i="0" kern="1200">
          <a:solidFill>
            <a:schemeClr val="tx1"/>
          </a:solidFill>
          <a:latin typeface="Arial" panose="020B0604020202020204" pitchFamily="34" charset="0"/>
          <a:ea typeface="Roboto" panose="02000000000000000000" pitchFamily="2" charset="0"/>
          <a:cs typeface="+mn-cs"/>
        </a:defRPr>
      </a:lvl3pPr>
      <a:lvl4pPr marL="538163" indent="-131763" algn="l" defTabSz="914400" rtl="0" eaLnBrk="1" latinLnBrk="0" hangingPunct="1">
        <a:lnSpc>
          <a:spcPct val="90000"/>
        </a:lnSpc>
        <a:spcBef>
          <a:spcPts val="500"/>
        </a:spcBef>
        <a:buClr>
          <a:schemeClr val="accent1"/>
        </a:buClr>
        <a:buFont typeface="Arial" panose="020B0604020202020204" pitchFamily="34" charset="0"/>
        <a:buChar char="•"/>
        <a:tabLst/>
        <a:defRPr sz="1600" b="0" i="0" kern="1200">
          <a:solidFill>
            <a:schemeClr val="tx1"/>
          </a:solidFill>
          <a:latin typeface="Arial" panose="020B0604020202020204" pitchFamily="34" charset="0"/>
          <a:ea typeface="Roboto" panose="02000000000000000000" pitchFamily="2" charset="0"/>
          <a:cs typeface="+mn-cs"/>
        </a:defRPr>
      </a:lvl4pPr>
      <a:lvl5pPr marL="720725" indent="-142875" algn="l" defTabSz="914400" rtl="0" eaLnBrk="1" latinLnBrk="0" hangingPunct="1">
        <a:lnSpc>
          <a:spcPct val="90000"/>
        </a:lnSpc>
        <a:spcBef>
          <a:spcPts val="500"/>
        </a:spcBef>
        <a:buClr>
          <a:schemeClr val="accent1"/>
        </a:buClr>
        <a:buFont typeface="Arial" panose="020B0604020202020204" pitchFamily="34" charset="0"/>
        <a:buChar char="•"/>
        <a:tabLst/>
        <a:defRPr sz="1600" b="0" i="0" kern="1200">
          <a:solidFill>
            <a:schemeClr val="tx1"/>
          </a:solidFill>
          <a:latin typeface="Arial" panose="020B0604020202020204" pitchFamily="34" charset="0"/>
          <a:ea typeface="Roboto" panose="02000000000000000000" pitchFamily="2" charset="0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9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66CE87-9BCD-0243-B22C-4EA155A2571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38200" y="2612436"/>
            <a:ext cx="7462421" cy="2105723"/>
          </a:xfrm>
        </p:spPr>
        <p:txBody>
          <a:bodyPr anchor="t"/>
          <a:lstStyle/>
          <a:p>
            <a:r>
              <a:rPr lang="en-US" sz="4400" dirty="0"/>
              <a:t>ELM 12-05 Pressure </a:t>
            </a:r>
            <a:br>
              <a:rPr lang="en-US" sz="4400" dirty="0"/>
            </a:br>
            <a:r>
              <a:rPr lang="en-US" sz="4400" dirty="0"/>
              <a:t>Relief Rates</a:t>
            </a:r>
          </a:p>
        </p:txBody>
      </p:sp>
      <p:sp>
        <p:nvSpPr>
          <p:cNvPr id="7" name="Subtitle 6">
            <a:extLst>
              <a:ext uri="{FF2B5EF4-FFF2-40B4-BE49-F238E27FC236}">
                <a16:creationId xmlns:a16="http://schemas.microsoft.com/office/drawing/2014/main" id="{792B5759-45DB-614C-B4FA-512A040C1E6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38200" y="5922320"/>
            <a:ext cx="9829800" cy="238783"/>
          </a:xfrm>
        </p:spPr>
        <p:txBody>
          <a:bodyPr anchor="b" anchorCtr="0">
            <a:spAutoFit/>
          </a:bodyPr>
          <a:lstStyle/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en-US" sz="1400" dirty="0">
                <a:ea typeface="Roboto Light" panose="02000000000000000000" pitchFamily="2" charset="0"/>
              </a:rPr>
              <a:t>June 2024</a:t>
            </a:r>
            <a:endParaRPr lang="en-US" sz="1400" dirty="0">
              <a:latin typeface="Arial" panose="020B0604020202020204" pitchFamily="34" charset="0"/>
              <a:ea typeface="Roboto Light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927479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EE59F5A7-19C3-2B37-AB8B-719D6C68F9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Pressure Relief Rate Calculations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4BCE361-2932-DF86-76CD-40866E65F4A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761621" y="3937395"/>
            <a:ext cx="10515600" cy="2558470"/>
          </a:xfrm>
        </p:spPr>
        <p:txBody>
          <a:bodyPr/>
          <a:lstStyle/>
          <a:p>
            <a:r>
              <a:rPr lang="en-US" b="1" dirty="0"/>
              <a:t>Python Script Workflow:</a:t>
            </a:r>
          </a:p>
          <a:p>
            <a:pPr marL="342900" indent="-342900">
              <a:buFont typeface="+mj-lt"/>
              <a:buAutoNum type="arabicPeriod"/>
            </a:pPr>
            <a:r>
              <a:rPr lang="en-US" b="1" dirty="0"/>
              <a:t>Pressure Decline Detection:</a:t>
            </a:r>
            <a:r>
              <a:rPr lang="en-US" dirty="0"/>
              <a:t> Identifies sustained periods of pressure decline using a rolling average and compares these declines against a set threshold to validate data</a:t>
            </a:r>
          </a:p>
          <a:p>
            <a:pPr marL="342900" indent="-342900">
              <a:buFont typeface="+mj-lt"/>
              <a:buAutoNum type="arabicPeriod"/>
            </a:pPr>
            <a:r>
              <a:rPr lang="en-US" b="1" dirty="0"/>
              <a:t>Relief Rate Calculation:</a:t>
            </a:r>
            <a:r>
              <a:rPr lang="en-US" dirty="0"/>
              <a:t> For each decline period, it calculates the relief rate (drop in pressure per minute)</a:t>
            </a:r>
          </a:p>
          <a:p>
            <a:pPr marL="342900" indent="-342900">
              <a:buFont typeface="+mj-lt"/>
              <a:buAutoNum type="arabicPeriod"/>
            </a:pPr>
            <a:r>
              <a:rPr lang="en-US" b="1" dirty="0"/>
              <a:t>Stage Assignment: </a:t>
            </a:r>
            <a:r>
              <a:rPr lang="en-US" dirty="0"/>
              <a:t>Relief rates are assigned to corresponding stages based on the stage end times</a:t>
            </a:r>
          </a:p>
          <a:p>
            <a:pPr marL="342900" indent="-342900">
              <a:buFont typeface="+mj-lt"/>
              <a:buAutoNum type="arabicPeriod"/>
            </a:pPr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CC8B345-EDCB-B47D-8F15-C63C7E0B5687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dirty="0"/>
              <a:t>Methodology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90E015F-399B-AD7C-0854-384AC887520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 b="1">
                <a:latin typeface="Arial" panose="020B0604020202020204" pitchFamily="34" charset="0"/>
              </a:rPr>
              <a:t>NuVista Energy Ltd.</a:t>
            </a:r>
            <a:endParaRPr lang="en-US" dirty="0">
              <a:latin typeface="Arial" panose="020B0604020202020204" pitchFamily="34" charset="0"/>
            </a:endParaRP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341D158-AB32-3DF4-ADCE-0F894CE6DA4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D246DD65-7063-5C41-96CC-23CB1F95FA91}" type="slidenum">
              <a:rPr lang="en-US" smtClean="0"/>
              <a:pPr/>
              <a:t>2</a:t>
            </a:fld>
            <a:endParaRPr lang="en-US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5AB0834F-D302-4137-AD79-D7284A054E0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197" y="1520709"/>
            <a:ext cx="1874403" cy="1804683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4E37AA1D-D87A-4363-9DF6-6A7EF3CA681F}"/>
                  </a:ext>
                </a:extLst>
              </p:cNvPr>
              <p:cNvSpPr txBox="1"/>
              <p:nvPr/>
            </p:nvSpPr>
            <p:spPr>
              <a:xfrm>
                <a:off x="3035988" y="1520709"/>
                <a:ext cx="8959318" cy="248183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b="1" dirty="0"/>
                  <a:t>Calculation: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b="1" dirty="0"/>
                  <a:t>Relief Rate</a:t>
                </a:r>
                <a:r>
                  <a:rPr lang="en-US" dirty="0"/>
                  <a:t> </a:t>
                </a:r>
                <a:r>
                  <a:rPr lang="en-US" b="1" dirty="0"/>
                  <a:t>=</a:t>
                </a:r>
                <a:r>
                  <a:rPr lang="en-US" dirty="0"/>
                  <a:t> -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b="1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el-GR" b="1" dirty="0"/>
                          <m:t>Δ</m:t>
                        </m:r>
                        <m:r>
                          <m:rPr>
                            <m:nor/>
                          </m:rPr>
                          <a:rPr lang="en-US" b="1" dirty="0"/>
                          <m:t>P</m:t>
                        </m:r>
                      </m:num>
                      <m:den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𝒕</m:t>
                        </m:r>
                      </m:den>
                    </m:f>
                  </m:oMath>
                </a14:m>
                <a:r>
                  <a:rPr lang="en-US" b="1" dirty="0"/>
                  <a:t>   </a:t>
                </a:r>
                <a14:m>
                  <m:oMath xmlns:m="http://schemas.openxmlformats.org/officeDocument/2006/math">
                    <m:r>
                      <a:rPr lang="en-US" b="1" i="0" dirty="0" smtClean="0">
                        <a:latin typeface="Cambria Math" panose="02040503050406030204" pitchFamily="18" charset="0"/>
                      </a:rPr>
                      <m:t>     </m:t>
                    </m:r>
                    <m:r>
                      <m:rPr>
                        <m:nor/>
                      </m:rPr>
                      <a:rPr lang="el-GR" b="1" dirty="0"/>
                      <m:t>Δ</m:t>
                    </m:r>
                    <m:r>
                      <m:rPr>
                        <m:nor/>
                      </m:rPr>
                      <a:rPr lang="en-US" b="1" dirty="0"/>
                      <m:t>P</m:t>
                    </m:r>
                  </m:oMath>
                </a14:m>
                <a:r>
                  <a:rPr lang="en-US" b="1" dirty="0"/>
                  <a:t> </a:t>
                </a:r>
                <a:r>
                  <a:rPr lang="en-US" dirty="0"/>
                  <a:t>= Change in pressure (kPa),  </a:t>
                </a:r>
                <a14:m>
                  <m:oMath xmlns:m="http://schemas.openxmlformats.org/officeDocument/2006/math">
                    <m:r>
                      <a:rPr lang="en-US" b="1" i="1">
                        <a:latin typeface="Cambria Math" panose="02040503050406030204" pitchFamily="18" charset="0"/>
                      </a:rPr>
                      <m:t>𝒕</m:t>
                    </m:r>
                  </m:oMath>
                </a14:m>
                <a:r>
                  <a:rPr lang="en-US" dirty="0"/>
                  <a:t> = Time (minutes)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dirty="0"/>
                  <a:t>Relief Rate in –kPa/min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dirty="0"/>
                  <a:t>Values based on linear behavior rather than exponential decay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b="1" u="sng" dirty="0"/>
                  <a:t>High Relief Rate = Pressure Decreases Faster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endParaRPr lang="en-US" b="1" u="sng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endParaRPr lang="en-US" b="1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endParaRPr lang="en-US" dirty="0"/>
              </a:p>
            </p:txBody>
          </p:sp>
        </mc:Choice>
        <mc:Fallback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4E37AA1D-D87A-4363-9DF6-6A7EF3CA681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35988" y="1520709"/>
                <a:ext cx="8959318" cy="2481833"/>
              </a:xfrm>
              <a:prstGeom prst="rect">
                <a:avLst/>
              </a:prstGeom>
              <a:blipFill>
                <a:blip r:embed="rId3"/>
                <a:stretch>
                  <a:fillRect l="-544" t="-98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2998976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A7285DBE-8FB7-44AC-8304-52E6B9A452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7488" y="372475"/>
            <a:ext cx="10515600" cy="1033508"/>
          </a:xfrm>
        </p:spPr>
        <p:txBody>
          <a:bodyPr/>
          <a:lstStyle/>
          <a:p>
            <a:r>
              <a:rPr lang="en-US" dirty="0"/>
              <a:t>East Target Wells (A,B,C,F)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AA5E551-4BAB-493F-842D-B97728839B0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5804" y="972139"/>
            <a:ext cx="4477310" cy="2564698"/>
          </a:xfrm>
          <a:prstGeom prst="rect">
            <a:avLst/>
          </a:prstGeom>
        </p:spPr>
      </p:pic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5838946-215E-41A1-9A07-5BE3FCAC121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74411" y="6678427"/>
            <a:ext cx="4114800" cy="138499"/>
          </a:xfrm>
        </p:spPr>
        <p:txBody>
          <a:bodyPr/>
          <a:lstStyle/>
          <a:p>
            <a:r>
              <a:rPr lang="en-US" b="1">
                <a:latin typeface="Arial" panose="020B0604020202020204" pitchFamily="34" charset="0"/>
              </a:rPr>
              <a:t>NuVista Energy Ltd.</a:t>
            </a:r>
            <a:endParaRPr lang="en-US" dirty="0">
              <a:latin typeface="Arial" panose="020B0604020202020204" pitchFamily="34" charset="0"/>
            </a:endParaRP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3DE8F7B-1904-4256-A818-FDD83C95BA5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74411" y="6382552"/>
            <a:ext cx="304801" cy="365125"/>
          </a:xfrm>
        </p:spPr>
        <p:txBody>
          <a:bodyPr/>
          <a:lstStyle/>
          <a:p>
            <a:fld id="{D246DD65-7063-5C41-96CC-23CB1F95FA91}" type="slidenum">
              <a:rPr lang="en-US" smtClean="0"/>
              <a:pPr/>
              <a:t>3</a:t>
            </a:fld>
            <a:endParaRPr lang="en-US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AF119EA8-E8DF-4648-9BEA-F04F325720A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48742" y="869070"/>
            <a:ext cx="4371366" cy="2781127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C55D6291-1ABB-4D48-BD78-6AEBA1288CB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5805" y="3525744"/>
            <a:ext cx="4662840" cy="2712086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C000DB9A-C737-4916-A69F-3349E308880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48742" y="3650197"/>
            <a:ext cx="4371366" cy="2663106"/>
          </a:xfrm>
          <a:prstGeom prst="rect">
            <a:avLst/>
          </a:prstGeom>
        </p:spPr>
      </p:pic>
      <p:sp>
        <p:nvSpPr>
          <p:cNvPr id="16" name="Rectangle 15">
            <a:extLst>
              <a:ext uri="{FF2B5EF4-FFF2-40B4-BE49-F238E27FC236}">
                <a16:creationId xmlns:a16="http://schemas.microsoft.com/office/drawing/2014/main" id="{EDBBD4D7-7A86-4040-8AAD-0FE70E581FF2}"/>
              </a:ext>
            </a:extLst>
          </p:cNvPr>
          <p:cNvSpPr/>
          <p:nvPr/>
        </p:nvSpPr>
        <p:spPr>
          <a:xfrm>
            <a:off x="8612244" y="1016328"/>
            <a:ext cx="492124" cy="2351314"/>
          </a:xfrm>
          <a:prstGeom prst="rect">
            <a:avLst/>
          </a:prstGeom>
          <a:noFill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D55186F4-7B01-4CC3-9F3B-24702D5E02E6}"/>
              </a:ext>
            </a:extLst>
          </p:cNvPr>
          <p:cNvSpPr/>
          <p:nvPr/>
        </p:nvSpPr>
        <p:spPr>
          <a:xfrm>
            <a:off x="8522389" y="3849617"/>
            <a:ext cx="581979" cy="2184650"/>
          </a:xfrm>
          <a:prstGeom prst="rect">
            <a:avLst/>
          </a:prstGeom>
          <a:noFill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23ABD0BD-ACD3-4FBB-9E8C-7A0EF733FA64}"/>
              </a:ext>
            </a:extLst>
          </p:cNvPr>
          <p:cNvCxnSpPr>
            <a:cxnSpLocks/>
            <a:endCxn id="23" idx="1"/>
          </p:cNvCxnSpPr>
          <p:nvPr/>
        </p:nvCxnSpPr>
        <p:spPr>
          <a:xfrm>
            <a:off x="9104368" y="2376731"/>
            <a:ext cx="952424" cy="110218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45026906-6F1F-4060-8E9D-D896BC9861E8}"/>
              </a:ext>
            </a:extLst>
          </p:cNvPr>
          <p:cNvCxnSpPr>
            <a:cxnSpLocks/>
            <a:endCxn id="23" idx="1"/>
          </p:cNvCxnSpPr>
          <p:nvPr/>
        </p:nvCxnSpPr>
        <p:spPr>
          <a:xfrm flipV="1">
            <a:off x="9104368" y="2486949"/>
            <a:ext cx="952424" cy="1513946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sp>
        <p:nvSpPr>
          <p:cNvPr id="23" name="Rectangle 22">
            <a:extLst>
              <a:ext uri="{FF2B5EF4-FFF2-40B4-BE49-F238E27FC236}">
                <a16:creationId xmlns:a16="http://schemas.microsoft.com/office/drawing/2014/main" id="{97D68C89-7E7B-4DF0-BD1F-EF92C363A325}"/>
              </a:ext>
            </a:extLst>
          </p:cNvPr>
          <p:cNvSpPr/>
          <p:nvPr/>
        </p:nvSpPr>
        <p:spPr>
          <a:xfrm>
            <a:off x="10056792" y="1712186"/>
            <a:ext cx="2082656" cy="1549525"/>
          </a:xfrm>
          <a:prstGeom prst="rect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/>
              <a:t>**Invalid Data** From fracking the </a:t>
            </a:r>
            <a:r>
              <a:rPr lang="en-US" sz="1600" dirty="0">
                <a:solidFill>
                  <a:schemeClr val="bg1"/>
                </a:solidFill>
                <a:highlight>
                  <a:srgbClr val="FF0000"/>
                </a:highlight>
              </a:rPr>
              <a:t>bend</a:t>
            </a:r>
            <a:r>
              <a:rPr lang="en-US" sz="1600" dirty="0"/>
              <a:t> at high frequency, less relief time</a:t>
            </a:r>
            <a:endParaRPr lang="en-US" dirty="0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09533EED-5D96-4F01-862C-76260F3DB0ED}"/>
              </a:ext>
            </a:extLst>
          </p:cNvPr>
          <p:cNvSpPr txBox="1"/>
          <p:nvPr/>
        </p:nvSpPr>
        <p:spPr>
          <a:xfrm>
            <a:off x="9321571" y="3950724"/>
            <a:ext cx="2594921" cy="1384995"/>
          </a:xfrm>
          <a:prstGeom prst="rect">
            <a:avLst/>
          </a:prstGeom>
          <a:solidFill>
            <a:schemeClr val="bg2"/>
          </a:solidFill>
          <a:ln>
            <a:solidFill>
              <a:schemeClr val="tx1">
                <a:lumMod val="40000"/>
                <a:lumOff val="6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sz="1400" b="1" dirty="0"/>
              <a:t>Conclusion</a:t>
            </a:r>
            <a:r>
              <a:rPr lang="en-US" sz="1400" dirty="0"/>
              <a:t>: All East target wells had a gradual decrease in the relief rate as the frac progressed (pressure reduced at a slower rate by the end of the frac)</a:t>
            </a:r>
          </a:p>
        </p:txBody>
      </p:sp>
      <p:sp>
        <p:nvSpPr>
          <p:cNvPr id="47" name="Arrow: Down 46">
            <a:extLst>
              <a:ext uri="{FF2B5EF4-FFF2-40B4-BE49-F238E27FC236}">
                <a16:creationId xmlns:a16="http://schemas.microsoft.com/office/drawing/2014/main" id="{CE3FE0CF-C41A-4B6A-8DD9-C66125886A43}"/>
              </a:ext>
            </a:extLst>
          </p:cNvPr>
          <p:cNvSpPr/>
          <p:nvPr/>
        </p:nvSpPr>
        <p:spPr>
          <a:xfrm>
            <a:off x="591476" y="1235227"/>
            <a:ext cx="155090" cy="1913515"/>
          </a:xfrm>
          <a:prstGeom prst="down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55" name="Picture 54">
            <a:extLst>
              <a:ext uri="{FF2B5EF4-FFF2-40B4-BE49-F238E27FC236}">
                <a16:creationId xmlns:a16="http://schemas.microsoft.com/office/drawing/2014/main" id="{06A089AA-1D2C-418D-BF67-53FB2F95DA3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400753" y="-22259"/>
            <a:ext cx="2791247" cy="1462122"/>
          </a:xfrm>
          <a:prstGeom prst="rect">
            <a:avLst/>
          </a:prstGeom>
        </p:spPr>
      </p:pic>
      <p:sp>
        <p:nvSpPr>
          <p:cNvPr id="56" name="Multiplication Sign 55">
            <a:extLst>
              <a:ext uri="{FF2B5EF4-FFF2-40B4-BE49-F238E27FC236}">
                <a16:creationId xmlns:a16="http://schemas.microsoft.com/office/drawing/2014/main" id="{1BBF6420-8789-4A62-A32D-FA1BDD2F6166}"/>
              </a:ext>
            </a:extLst>
          </p:cNvPr>
          <p:cNvSpPr/>
          <p:nvPr/>
        </p:nvSpPr>
        <p:spPr>
          <a:xfrm>
            <a:off x="10767441" y="1120916"/>
            <a:ext cx="148647" cy="164509"/>
          </a:xfrm>
          <a:prstGeom prst="mathMultiply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7" name="Multiplication Sign 56">
            <a:extLst>
              <a:ext uri="{FF2B5EF4-FFF2-40B4-BE49-F238E27FC236}">
                <a16:creationId xmlns:a16="http://schemas.microsoft.com/office/drawing/2014/main" id="{A83751E7-24D0-42D8-A24F-BFC7869973D8}"/>
              </a:ext>
            </a:extLst>
          </p:cNvPr>
          <p:cNvSpPr/>
          <p:nvPr/>
        </p:nvSpPr>
        <p:spPr>
          <a:xfrm>
            <a:off x="10722052" y="1291549"/>
            <a:ext cx="148647" cy="164509"/>
          </a:xfrm>
          <a:prstGeom prst="mathMultiply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2" name="Rectangle 61">
            <a:extLst>
              <a:ext uri="{FF2B5EF4-FFF2-40B4-BE49-F238E27FC236}">
                <a16:creationId xmlns:a16="http://schemas.microsoft.com/office/drawing/2014/main" id="{BCC3AFAB-4F9E-4511-8118-FEF2293301D8}"/>
              </a:ext>
            </a:extLst>
          </p:cNvPr>
          <p:cNvSpPr/>
          <p:nvPr/>
        </p:nvSpPr>
        <p:spPr>
          <a:xfrm>
            <a:off x="678956" y="2571813"/>
            <a:ext cx="62068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19%</a:t>
            </a:r>
          </a:p>
        </p:txBody>
      </p:sp>
      <p:sp>
        <p:nvSpPr>
          <p:cNvPr id="63" name="Arrow: Down 62">
            <a:extLst>
              <a:ext uri="{FF2B5EF4-FFF2-40B4-BE49-F238E27FC236}">
                <a16:creationId xmlns:a16="http://schemas.microsoft.com/office/drawing/2014/main" id="{239B6022-64B0-4FDF-9247-3384EACD944D}"/>
              </a:ext>
            </a:extLst>
          </p:cNvPr>
          <p:cNvSpPr/>
          <p:nvPr/>
        </p:nvSpPr>
        <p:spPr>
          <a:xfrm>
            <a:off x="5189887" y="2029007"/>
            <a:ext cx="129616" cy="1232704"/>
          </a:xfrm>
          <a:prstGeom prst="down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4" name="Rectangle 63">
            <a:extLst>
              <a:ext uri="{FF2B5EF4-FFF2-40B4-BE49-F238E27FC236}">
                <a16:creationId xmlns:a16="http://schemas.microsoft.com/office/drawing/2014/main" id="{ED53992F-2C08-4594-9F0B-F5D73D30CB92}"/>
              </a:ext>
            </a:extLst>
          </p:cNvPr>
          <p:cNvSpPr/>
          <p:nvPr/>
        </p:nvSpPr>
        <p:spPr>
          <a:xfrm>
            <a:off x="5294977" y="2779410"/>
            <a:ext cx="62068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32%</a:t>
            </a:r>
          </a:p>
        </p:txBody>
      </p:sp>
      <p:sp>
        <p:nvSpPr>
          <p:cNvPr id="65" name="Arrow: Down 64">
            <a:extLst>
              <a:ext uri="{FF2B5EF4-FFF2-40B4-BE49-F238E27FC236}">
                <a16:creationId xmlns:a16="http://schemas.microsoft.com/office/drawing/2014/main" id="{4AE9A0BD-2441-4A23-A324-6CF7AB4CB9CC}"/>
              </a:ext>
            </a:extLst>
          </p:cNvPr>
          <p:cNvSpPr/>
          <p:nvPr/>
        </p:nvSpPr>
        <p:spPr>
          <a:xfrm>
            <a:off x="612722" y="3885573"/>
            <a:ext cx="155090" cy="1913515"/>
          </a:xfrm>
          <a:prstGeom prst="down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6" name="Rectangle 65">
            <a:extLst>
              <a:ext uri="{FF2B5EF4-FFF2-40B4-BE49-F238E27FC236}">
                <a16:creationId xmlns:a16="http://schemas.microsoft.com/office/drawing/2014/main" id="{E727E002-8E61-4C6E-B352-B0384248E826}"/>
              </a:ext>
            </a:extLst>
          </p:cNvPr>
          <p:cNvSpPr/>
          <p:nvPr/>
        </p:nvSpPr>
        <p:spPr>
          <a:xfrm>
            <a:off x="678956" y="5335719"/>
            <a:ext cx="62068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36%</a:t>
            </a:r>
          </a:p>
        </p:txBody>
      </p:sp>
      <p:sp>
        <p:nvSpPr>
          <p:cNvPr id="67" name="Arrow: Down 66">
            <a:extLst>
              <a:ext uri="{FF2B5EF4-FFF2-40B4-BE49-F238E27FC236}">
                <a16:creationId xmlns:a16="http://schemas.microsoft.com/office/drawing/2014/main" id="{915ABF10-57B5-4999-8B59-F2CB45E0C41C}"/>
              </a:ext>
            </a:extLst>
          </p:cNvPr>
          <p:cNvSpPr/>
          <p:nvPr/>
        </p:nvSpPr>
        <p:spPr>
          <a:xfrm>
            <a:off x="5250953" y="4197093"/>
            <a:ext cx="129616" cy="1697318"/>
          </a:xfrm>
          <a:prstGeom prst="down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8" name="Rectangle 67">
            <a:extLst>
              <a:ext uri="{FF2B5EF4-FFF2-40B4-BE49-F238E27FC236}">
                <a16:creationId xmlns:a16="http://schemas.microsoft.com/office/drawing/2014/main" id="{DDF22CB3-5FB6-4C48-AF84-372C0F97D555}"/>
              </a:ext>
            </a:extLst>
          </p:cNvPr>
          <p:cNvSpPr/>
          <p:nvPr/>
        </p:nvSpPr>
        <p:spPr>
          <a:xfrm>
            <a:off x="5340749" y="5505925"/>
            <a:ext cx="62068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31%</a:t>
            </a:r>
          </a:p>
        </p:txBody>
      </p:sp>
    </p:spTree>
    <p:extLst>
      <p:ext uri="{BB962C8B-B14F-4D97-AF65-F5344CB8AC3E}">
        <p14:creationId xmlns:p14="http://schemas.microsoft.com/office/powerpoint/2010/main" val="401985256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A7285DBE-8FB7-44AC-8304-52E6B9A452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9212" y="727667"/>
            <a:ext cx="10515600" cy="1033508"/>
          </a:xfrm>
        </p:spPr>
        <p:txBody>
          <a:bodyPr/>
          <a:lstStyle/>
          <a:p>
            <a:r>
              <a:rPr lang="en-US" dirty="0"/>
              <a:t>North West Target Wells (E, D)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5838946-215E-41A1-9A07-5BE3FCAC121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74411" y="6678427"/>
            <a:ext cx="4114800" cy="138499"/>
          </a:xfrm>
        </p:spPr>
        <p:txBody>
          <a:bodyPr/>
          <a:lstStyle/>
          <a:p>
            <a:r>
              <a:rPr lang="en-US" b="1">
                <a:latin typeface="Arial" panose="020B0604020202020204" pitchFamily="34" charset="0"/>
              </a:rPr>
              <a:t>NuVista Energy Ltd.</a:t>
            </a:r>
            <a:endParaRPr lang="en-US" dirty="0">
              <a:latin typeface="Arial" panose="020B0604020202020204" pitchFamily="34" charset="0"/>
            </a:endParaRP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3DE8F7B-1904-4256-A818-FDD83C95BA5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74411" y="6382552"/>
            <a:ext cx="304801" cy="365125"/>
          </a:xfrm>
        </p:spPr>
        <p:txBody>
          <a:bodyPr/>
          <a:lstStyle/>
          <a:p>
            <a:fld id="{D246DD65-7063-5C41-96CC-23CB1F95FA91}" type="slidenum">
              <a:rPr lang="en-US" smtClean="0"/>
              <a:pPr/>
              <a:t>4</a:t>
            </a:fld>
            <a:endParaRPr lang="en-US" dirty="0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09533EED-5D96-4F01-862C-76260F3DB0ED}"/>
              </a:ext>
            </a:extLst>
          </p:cNvPr>
          <p:cNvSpPr txBox="1"/>
          <p:nvPr/>
        </p:nvSpPr>
        <p:spPr>
          <a:xfrm>
            <a:off x="6498884" y="5543309"/>
            <a:ext cx="3618073" cy="1169551"/>
          </a:xfrm>
          <a:prstGeom prst="rect">
            <a:avLst/>
          </a:prstGeom>
          <a:solidFill>
            <a:schemeClr val="bg2"/>
          </a:solidFill>
          <a:ln>
            <a:solidFill>
              <a:schemeClr val="tx1">
                <a:lumMod val="40000"/>
                <a:lumOff val="6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sz="1400" b="1" dirty="0"/>
              <a:t>Conclusion</a:t>
            </a:r>
            <a:r>
              <a:rPr lang="en-US" sz="1400" dirty="0"/>
              <a:t>: Both NW target wells showed very strong growth in the relief rate over time (pressure reduced faster by the end of the frac) – with the rate doubling from the start to finish. 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A04D2FB-DFD1-41A3-847C-15BD6698E3A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0696" y="1693667"/>
            <a:ext cx="6145060" cy="3760864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B93F31B4-5547-45DC-A03A-0748784EA72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00505" y="1725869"/>
            <a:ext cx="5860128" cy="3724496"/>
          </a:xfrm>
          <a:prstGeom prst="rect">
            <a:avLst/>
          </a:prstGeom>
        </p:spPr>
      </p:pic>
      <p:sp>
        <p:nvSpPr>
          <p:cNvPr id="10" name="Arrow: Up 9">
            <a:extLst>
              <a:ext uri="{FF2B5EF4-FFF2-40B4-BE49-F238E27FC236}">
                <a16:creationId xmlns:a16="http://schemas.microsoft.com/office/drawing/2014/main" id="{A7F25D79-7CCA-4F1E-BFA1-6AB5523DDA53}"/>
              </a:ext>
            </a:extLst>
          </p:cNvPr>
          <p:cNvSpPr/>
          <p:nvPr/>
        </p:nvSpPr>
        <p:spPr>
          <a:xfrm>
            <a:off x="6677719" y="2193506"/>
            <a:ext cx="399256" cy="2572185"/>
          </a:xfrm>
          <a:prstGeom prst="upArrow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7D8970D-ECA3-4637-A19B-46DB4F963CAE}"/>
              </a:ext>
            </a:extLst>
          </p:cNvPr>
          <p:cNvSpPr txBox="1"/>
          <p:nvPr/>
        </p:nvSpPr>
        <p:spPr>
          <a:xfrm>
            <a:off x="7001505" y="2218586"/>
            <a:ext cx="12307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accent2"/>
                </a:solidFill>
              </a:rPr>
              <a:t>121%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B9257F9E-391B-46E8-91C4-42B54ABF96B5}"/>
              </a:ext>
            </a:extLst>
          </p:cNvPr>
          <p:cNvSpPr/>
          <p:nvPr/>
        </p:nvSpPr>
        <p:spPr>
          <a:xfrm>
            <a:off x="1108013" y="2403252"/>
            <a:ext cx="62068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solidFill>
                  <a:schemeClr val="accent2"/>
                </a:solidFill>
              </a:rPr>
              <a:t>95%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CEB57676-67F4-464B-9DB3-E19E96BF359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47602" y="6208"/>
            <a:ext cx="2944398" cy="1540579"/>
          </a:xfrm>
          <a:prstGeom prst="rect">
            <a:avLst/>
          </a:prstGeom>
        </p:spPr>
      </p:pic>
      <p:sp>
        <p:nvSpPr>
          <p:cNvPr id="30" name="Arrow: Up 29">
            <a:extLst>
              <a:ext uri="{FF2B5EF4-FFF2-40B4-BE49-F238E27FC236}">
                <a16:creationId xmlns:a16="http://schemas.microsoft.com/office/drawing/2014/main" id="{54F83315-48A0-4277-B454-5C686A0CC4AC}"/>
              </a:ext>
            </a:extLst>
          </p:cNvPr>
          <p:cNvSpPr/>
          <p:nvPr/>
        </p:nvSpPr>
        <p:spPr>
          <a:xfrm>
            <a:off x="708757" y="2288006"/>
            <a:ext cx="399256" cy="2572185"/>
          </a:xfrm>
          <a:prstGeom prst="upArrow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793040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A95A196D-ED6A-4088-9769-76C945C2A02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1351" y="1306859"/>
            <a:ext cx="5062252" cy="3288852"/>
          </a:xfrm>
          <a:prstGeom prst="rect">
            <a:avLst/>
          </a:prstGeom>
        </p:spPr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A7285DBE-8FB7-44AC-8304-52E6B9A452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9212" y="395167"/>
            <a:ext cx="10515600" cy="1033508"/>
          </a:xfrm>
        </p:spPr>
        <p:txBody>
          <a:bodyPr/>
          <a:lstStyle/>
          <a:p>
            <a:r>
              <a:rPr lang="en-US" dirty="0"/>
              <a:t>02-12 NW Target Wells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5838946-215E-41A1-9A07-5BE3FCAC121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74411" y="6678427"/>
            <a:ext cx="4114800" cy="138499"/>
          </a:xfrm>
        </p:spPr>
        <p:txBody>
          <a:bodyPr/>
          <a:lstStyle/>
          <a:p>
            <a:r>
              <a:rPr lang="en-US" b="1">
                <a:latin typeface="Arial" panose="020B0604020202020204" pitchFamily="34" charset="0"/>
              </a:rPr>
              <a:t>NuVista Energy Ltd.</a:t>
            </a:r>
            <a:endParaRPr lang="en-US" dirty="0">
              <a:latin typeface="Arial" panose="020B0604020202020204" pitchFamily="34" charset="0"/>
            </a:endParaRP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3DE8F7B-1904-4256-A818-FDD83C95BA5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74411" y="6382552"/>
            <a:ext cx="304801" cy="365125"/>
          </a:xfrm>
        </p:spPr>
        <p:txBody>
          <a:bodyPr/>
          <a:lstStyle/>
          <a:p>
            <a:fld id="{D246DD65-7063-5C41-96CC-23CB1F95FA91}" type="slidenum">
              <a:rPr lang="en-US" smtClean="0"/>
              <a:pPr/>
              <a:t>5</a:t>
            </a:fld>
            <a:endParaRPr lang="en-US" dirty="0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09533EED-5D96-4F01-862C-76260F3DB0ED}"/>
              </a:ext>
            </a:extLst>
          </p:cNvPr>
          <p:cNvSpPr txBox="1"/>
          <p:nvPr/>
        </p:nvSpPr>
        <p:spPr>
          <a:xfrm>
            <a:off x="671138" y="5035650"/>
            <a:ext cx="3618073" cy="954107"/>
          </a:xfrm>
          <a:prstGeom prst="rect">
            <a:avLst/>
          </a:prstGeom>
          <a:solidFill>
            <a:schemeClr val="bg2"/>
          </a:solidFill>
          <a:ln>
            <a:solidFill>
              <a:schemeClr val="tx1">
                <a:lumMod val="40000"/>
                <a:lumOff val="6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sz="1400" b="1" dirty="0"/>
              <a:t>Conclusion</a:t>
            </a:r>
            <a:r>
              <a:rPr lang="en-US" sz="1400" dirty="0"/>
              <a:t>: Closest NW 02-12 well matched 12-05 NW well trends, other two matched initially but started to trend down on the tail end of the frac</a:t>
            </a:r>
          </a:p>
        </p:txBody>
      </p:sp>
      <p:sp>
        <p:nvSpPr>
          <p:cNvPr id="24" name="Arrow: Up 23">
            <a:extLst>
              <a:ext uri="{FF2B5EF4-FFF2-40B4-BE49-F238E27FC236}">
                <a16:creationId xmlns:a16="http://schemas.microsoft.com/office/drawing/2014/main" id="{6FDB6C7B-2B5E-4600-A4B9-83ACB846AE82}"/>
              </a:ext>
            </a:extLst>
          </p:cNvPr>
          <p:cNvSpPr/>
          <p:nvPr/>
        </p:nvSpPr>
        <p:spPr>
          <a:xfrm>
            <a:off x="735599" y="1789315"/>
            <a:ext cx="291143" cy="1988305"/>
          </a:xfrm>
          <a:prstGeom prst="upArrow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B9257F9E-391B-46E8-91C4-42B54ABF96B5}"/>
              </a:ext>
            </a:extLst>
          </p:cNvPr>
          <p:cNvSpPr/>
          <p:nvPr/>
        </p:nvSpPr>
        <p:spPr>
          <a:xfrm>
            <a:off x="1000374" y="1815532"/>
            <a:ext cx="810755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chemeClr val="accent2"/>
                </a:solidFill>
              </a:rPr>
              <a:t>137%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64456F1E-FE13-4C11-B403-6DADA6CF421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36875" y="1246910"/>
            <a:ext cx="4449189" cy="2760117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83DD0E38-F4BA-430A-AD36-09DD56D1AED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36875" y="3901983"/>
            <a:ext cx="4421824" cy="2809109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12B2D9C0-BF1E-4418-BB9A-F3E222C6CA85}"/>
              </a:ext>
            </a:extLst>
          </p:cNvPr>
          <p:cNvSpPr/>
          <p:nvPr/>
        </p:nvSpPr>
        <p:spPr>
          <a:xfrm>
            <a:off x="9172952" y="1441783"/>
            <a:ext cx="692672" cy="498253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CADD83FC-98DF-40AF-827E-F20FFA23195B}"/>
              </a:ext>
            </a:extLst>
          </p:cNvPr>
          <p:cNvSpPr/>
          <p:nvPr/>
        </p:nvSpPr>
        <p:spPr>
          <a:xfrm>
            <a:off x="10321971" y="2874033"/>
            <a:ext cx="1317887" cy="1721678"/>
          </a:xfrm>
          <a:prstGeom prst="rect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Tail end stages start sudden downtrend – change in frac methodology/sequencing?</a:t>
            </a:r>
            <a:endParaRPr lang="en-US" sz="1400" dirty="0">
              <a:highlight>
                <a:srgbClr val="FF0000"/>
              </a:highlight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089D26B1-0BC0-4467-9034-9D12CDE611A2}"/>
              </a:ext>
            </a:extLst>
          </p:cNvPr>
          <p:cNvSpPr txBox="1"/>
          <p:nvPr/>
        </p:nvSpPr>
        <p:spPr>
          <a:xfrm>
            <a:off x="1049672" y="1034137"/>
            <a:ext cx="39777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Eastern Most Well (Closest to 12-05)</a:t>
            </a: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C708CEF5-07CF-4EF6-8672-8E5405F2732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227086" y="7554"/>
            <a:ext cx="1986210" cy="1299305"/>
          </a:xfrm>
          <a:prstGeom prst="rect">
            <a:avLst/>
          </a:prstGeom>
        </p:spPr>
      </p:pic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B04FBE17-0137-454B-9801-2553FE674749}"/>
              </a:ext>
            </a:extLst>
          </p:cNvPr>
          <p:cNvCxnSpPr>
            <a:stCxn id="11" idx="3"/>
          </p:cNvCxnSpPr>
          <p:nvPr/>
        </p:nvCxnSpPr>
        <p:spPr>
          <a:xfrm flipV="1">
            <a:off x="9865624" y="3699887"/>
            <a:ext cx="423202" cy="233161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DDA749D8-15FE-46ED-9CB0-5EAE47EAFF62}"/>
              </a:ext>
            </a:extLst>
          </p:cNvPr>
          <p:cNvSpPr txBox="1"/>
          <p:nvPr/>
        </p:nvSpPr>
        <p:spPr>
          <a:xfrm>
            <a:off x="5922759" y="970338"/>
            <a:ext cx="39777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Other NW Target Wells</a:t>
            </a:r>
          </a:p>
        </p:txBody>
      </p:sp>
    </p:spTree>
    <p:extLst>
      <p:ext uri="{BB962C8B-B14F-4D97-AF65-F5344CB8AC3E}">
        <p14:creationId xmlns:p14="http://schemas.microsoft.com/office/powerpoint/2010/main" val="889561000"/>
      </p:ext>
    </p:extLst>
  </p:cSld>
  <p:clrMapOvr>
    <a:masterClrMapping/>
  </p:clrMapOvr>
</p:sld>
</file>

<file path=ppt/theme/theme1.xml><?xml version="1.0" encoding="utf-8"?>
<a:theme xmlns:a="http://schemas.openxmlformats.org/drawingml/2006/main" name="1_Office Theme">
  <a:themeElements>
    <a:clrScheme name="NuVista 1">
      <a:dk1>
        <a:srgbClr val="013E6A"/>
      </a:dk1>
      <a:lt1>
        <a:srgbClr val="FFFFFF"/>
      </a:lt1>
      <a:dk2>
        <a:srgbClr val="007FC5"/>
      </a:dk2>
      <a:lt2>
        <a:srgbClr val="EEEEEE"/>
      </a:lt2>
      <a:accent1>
        <a:srgbClr val="00B3EC"/>
      </a:accent1>
      <a:accent2>
        <a:srgbClr val="2BA73B"/>
      </a:accent2>
      <a:accent3>
        <a:srgbClr val="8093A2"/>
      </a:accent3>
      <a:accent4>
        <a:srgbClr val="008C72"/>
      </a:accent4>
      <a:accent5>
        <a:srgbClr val="D86D00"/>
      </a:accent5>
      <a:accent6>
        <a:srgbClr val="FFD145"/>
      </a:accent6>
      <a:hlink>
        <a:srgbClr val="00B4EC"/>
      </a:hlink>
      <a:folHlink>
        <a:srgbClr val="013E6A"/>
      </a:folHlink>
    </a:clrScheme>
    <a:fontScheme name="NuVista">
      <a:majorFont>
        <a:latin typeface="Roboto Medium"/>
        <a:ea typeface=""/>
        <a:cs typeface=""/>
      </a:majorFont>
      <a:minorFont>
        <a:latin typeface="Robot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ardinal" id="{E097D04B-40D9-2E4A-9293-9D4A30648264}" vid="{F0E31ECF-BAC4-FB41-9B86-D1547383E27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3070</TotalTime>
  <Words>322</Words>
  <Application>Microsoft Office PowerPoint</Application>
  <PresentationFormat>Widescreen</PresentationFormat>
  <Paragraphs>42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2" baseType="lpstr">
      <vt:lpstr>Arial</vt:lpstr>
      <vt:lpstr>Calibri</vt:lpstr>
      <vt:lpstr>Cambria Math</vt:lpstr>
      <vt:lpstr>Roboto</vt:lpstr>
      <vt:lpstr>Roboto Light</vt:lpstr>
      <vt:lpstr>Roboto Medium</vt:lpstr>
      <vt:lpstr>1_Office Theme</vt:lpstr>
      <vt:lpstr>ELM 12-05 Pressure  Relief Rates</vt:lpstr>
      <vt:lpstr>Pressure Relief Rate Calculations</vt:lpstr>
      <vt:lpstr>East Target Wells (A,B,C,F)</vt:lpstr>
      <vt:lpstr>North West Target Wells (E, D)</vt:lpstr>
      <vt:lpstr>02-12 NW Target Wells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Wapiti FDP Gold Creek and Elmworth Infrastructure Considerations</dc:title>
  <dc:creator>Thomas Litchfield</dc:creator>
  <cp:lastModifiedBy>Marcus Kittelson</cp:lastModifiedBy>
  <cp:revision>222</cp:revision>
  <dcterms:created xsi:type="dcterms:W3CDTF">2022-02-01T19:15:29Z</dcterms:created>
  <dcterms:modified xsi:type="dcterms:W3CDTF">2024-09-05T19:27:52Z</dcterms:modified>
</cp:coreProperties>
</file>