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16"/>
  </p:notesMasterIdLst>
  <p:sldIdLst>
    <p:sldId id="314" r:id="rId2"/>
    <p:sldId id="331" r:id="rId3"/>
    <p:sldId id="332" r:id="rId4"/>
    <p:sldId id="319" r:id="rId5"/>
    <p:sldId id="324" r:id="rId6"/>
    <p:sldId id="325" r:id="rId7"/>
    <p:sldId id="326" r:id="rId8"/>
    <p:sldId id="327" r:id="rId9"/>
    <p:sldId id="328" r:id="rId10"/>
    <p:sldId id="333" r:id="rId11"/>
    <p:sldId id="334" r:id="rId12"/>
    <p:sldId id="335" r:id="rId13"/>
    <p:sldId id="336" r:id="rId14"/>
    <p:sldId id="330" r:id="rId15"/>
  </p:sldIdLst>
  <p:sldSz cx="12192000" cy="6858000"/>
  <p:notesSz cx="9296400" cy="7010400"/>
  <p:embeddedFontLs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86" userDrawn="1">
          <p15:clr>
            <a:srgbClr val="A4A3A4"/>
          </p15:clr>
        </p15:guide>
        <p15:guide id="4" orient="horz" pos="414" userDrawn="1">
          <p15:clr>
            <a:srgbClr val="A4A3A4"/>
          </p15:clr>
        </p15:guide>
        <p15:guide id="5" orient="horz" pos="4178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1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6D6"/>
    <a:srgbClr val="EEEEEE"/>
    <a:srgbClr val="E6E6E6"/>
    <a:srgbClr val="FDFDFD"/>
    <a:srgbClr val="00B3ED"/>
    <a:srgbClr val="2CA73C"/>
    <a:srgbClr val="EBEFF1"/>
    <a:srgbClr val="DBE1E5"/>
    <a:srgbClr val="A0AEB9"/>
    <a:srgbClr val="EC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0" autoAdjust="0"/>
    <p:restoredTop sz="95930" autoAdjust="0"/>
  </p:normalViewPr>
  <p:slideViewPr>
    <p:cSldViewPr snapToGrid="0" snapToObjects="1">
      <p:cViewPr varScale="1">
        <p:scale>
          <a:sx n="155" d="100"/>
          <a:sy n="155" d="100"/>
        </p:scale>
        <p:origin x="696" y="120"/>
      </p:cViewPr>
      <p:guideLst>
        <p:guide orient="horz" pos="1094"/>
        <p:guide pos="3840"/>
        <p:guide orient="horz" pos="686"/>
        <p:guide orient="horz" pos="414"/>
        <p:guide orient="horz" pos="4178"/>
        <p:guide orient="horz" pos="3906"/>
        <p:guide pos="7401"/>
        <p:guide orient="horz" pos="18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6EAC625-E89F-2B49-ABD1-579846A52727}" type="datetimeFigureOut">
              <a:rPr lang="en-US" smtClean="0"/>
              <a:pPr/>
              <a:t>8/7/2025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B04DAF55-04DD-DC4E-B72C-B38F1B69FD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22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DAF55-04DD-DC4E-B72C-B38F1B69FD5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929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3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085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49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2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184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6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34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8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17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88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831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523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9" r:id="rId6"/>
    <p:sldLayoutId id="2147483660" r:id="rId7"/>
    <p:sldLayoutId id="2147483656" r:id="rId8"/>
    <p:sldLayoutId id="2147483657" r:id="rId9"/>
    <p:sldLayoutId id="2147483661" r:id="rId10"/>
    <p:sldLayoutId id="2147483658" r:id="rId11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423" y="1797548"/>
            <a:ext cx="6386219" cy="2105723"/>
          </a:xfrm>
        </p:spPr>
        <p:txBody>
          <a:bodyPr/>
          <a:lstStyle/>
          <a:p>
            <a:r>
              <a:rPr lang="en-US"/>
              <a:t>BIL 10-29 </a:t>
            </a:r>
            <a:r>
              <a:rPr lang="en-US" dirty="0"/>
              <a:t>Frac Hit Summary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latin typeface="Arial" panose="020B0604020202020204" pitchFamily="34" charset="0"/>
                <a:ea typeface="Roboto Light" panose="02000000000000000000" pitchFamily="2" charset="0"/>
              </a:rPr>
              <a:t>Apr 2025</a:t>
            </a: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ADBAC4-938C-B246-FF93-03B80273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D9028-6080-F77A-AB7B-74E4073EA0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84166" y="1215407"/>
            <a:ext cx="5783688" cy="59848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Except for the parent well (04-27), all significant frac hits (over 445 kPa) originated from nearby wells as expected. 100% of sizeable hits were from immediate neighbors, with no unexpected or anomalous activity observed.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Parent Well (04-27) was the most hit. Majority of the pressure communication on BIL 10-29 occurred from the </a:t>
            </a:r>
            <a:r>
              <a:rPr lang="en-US" b="1" dirty="0"/>
              <a:t>B-Well to Parent Well</a:t>
            </a:r>
            <a:r>
              <a:rPr lang="en-US" dirty="0"/>
              <a:t> </a:t>
            </a:r>
            <a:r>
              <a:rPr lang="en-US" b="1" dirty="0"/>
              <a:t>04-27, </a:t>
            </a:r>
            <a:r>
              <a:rPr lang="en-US" dirty="0"/>
              <a:t>with both the B-Well and Parent Well being in the MNTN B.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D-Well was hit significantly more than all other wells on BIL 10-29.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FEF2A3-09C7-4390-6F48-F02F46F95A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BIL 10-29 Frac Hits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DAB3D-9D75-1032-18FA-71D51939A0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01A09-F7B0-EEBC-6436-752B26544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D56CC1-B6E5-1A73-2570-46B5A475F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991" y="15865"/>
            <a:ext cx="3130009" cy="299756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0E90B85-336B-0B0D-C5B7-69D6E5857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260" y="3172995"/>
            <a:ext cx="4192945" cy="3685005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EF2586-17DE-066F-2AB3-4B843EFA4EA9}"/>
              </a:ext>
            </a:extLst>
          </p:cNvPr>
          <p:cNvCxnSpPr>
            <a:cxnSpLocks/>
          </p:cNvCxnSpPr>
          <p:nvPr/>
        </p:nvCxnSpPr>
        <p:spPr>
          <a:xfrm>
            <a:off x="4991536" y="3429000"/>
            <a:ext cx="4660921" cy="902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2507F34-9730-C461-3D7C-229444024288}"/>
              </a:ext>
            </a:extLst>
          </p:cNvPr>
          <p:cNvSpPr/>
          <p:nvPr/>
        </p:nvSpPr>
        <p:spPr>
          <a:xfrm>
            <a:off x="9652457" y="3463543"/>
            <a:ext cx="410044" cy="31015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BEEBAFF-CEEA-970C-C24F-60AE3E450926}"/>
              </a:ext>
            </a:extLst>
          </p:cNvPr>
          <p:cNvSpPr/>
          <p:nvPr/>
        </p:nvSpPr>
        <p:spPr>
          <a:xfrm>
            <a:off x="8784950" y="4029181"/>
            <a:ext cx="410044" cy="2490315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8555850-163B-960F-6A15-DE806246F4BF}"/>
              </a:ext>
            </a:extLst>
          </p:cNvPr>
          <p:cNvCxnSpPr>
            <a:cxnSpLocks/>
          </p:cNvCxnSpPr>
          <p:nvPr/>
        </p:nvCxnSpPr>
        <p:spPr>
          <a:xfrm>
            <a:off x="6310537" y="3857748"/>
            <a:ext cx="2474413" cy="21762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2BD711C-DF80-BAFD-385B-4A7879262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218" y="4122229"/>
            <a:ext cx="3152636" cy="250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552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48D0594-9D3A-3057-C28E-9A74B5A1F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398" y="1493823"/>
            <a:ext cx="6160201" cy="4897359"/>
          </a:xfrm>
          <a:prstGeom prst="rect">
            <a:avLst/>
          </a:prstGeom>
          <a:noFill/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29FE95-F590-73B8-2FF4-133E96EAEE04}"/>
              </a:ext>
            </a:extLst>
          </p:cNvPr>
          <p:cNvSpPr txBox="1">
            <a:spLocks noGrp="1"/>
          </p:cNvSpPr>
          <p:nvPr>
            <p:ph type="body" sz="half" idx="2"/>
          </p:nvPr>
        </p:nvSpPr>
        <p:spPr>
          <a:xfrm>
            <a:off x="839787" y="1718575"/>
            <a:ext cx="3263410" cy="4311497"/>
          </a:xfrm>
        </p:spPr>
        <p:txBody>
          <a:bodyPr rtlCol="0">
            <a:normAutofit/>
          </a:bodyPr>
          <a:lstStyle/>
          <a:p>
            <a:r>
              <a:rPr lang="en-US" dirty="0"/>
              <a:t>The downhole gauge data from the parent well demonstrates a direct correlation with the surface gauge readings but consistently indicates higher pressure magnitudes. By dividing the downhole gauge values by 2.25 (represented by the brown line), we obtain a reasonable approximation of the surface gauge response.</a:t>
            </a:r>
          </a:p>
          <a:p>
            <a:endParaRPr lang="en-US" dirty="0"/>
          </a:p>
          <a:p>
            <a:r>
              <a:rPr lang="en-US" dirty="0"/>
              <a:t>To help clarify data trends and identify significant events, an arbitrary threshold of 445 kPa surface pressure (approximately 1000 kPa downhole) has been selected to define large or notable frac hits.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4B5725-DE9C-440E-A204-F36FA4331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</p:spPr>
        <p:txBody>
          <a:bodyPr anchor="t">
            <a:normAutofit/>
          </a:bodyPr>
          <a:lstStyle/>
          <a:p>
            <a:r>
              <a:rPr lang="en-US" dirty="0"/>
              <a:t>Downhole Gauge Data Approximation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1B1AF-C8C8-16AA-10C8-5BEE7D4701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7" y="466818"/>
            <a:ext cx="4212859" cy="173736"/>
          </a:xfrm>
        </p:spPr>
        <p:txBody>
          <a:bodyPr>
            <a:normAutofit/>
          </a:bodyPr>
          <a:lstStyle/>
          <a:p>
            <a:r>
              <a:rPr lang="en-US" dirty="0"/>
              <a:t>BIL 10-29 Frac Hits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D7E9B-95F1-EB04-4AA2-CBE5C9FE55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NuVista Energy Ltd.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274BB-4280-A6EF-8EF5-DEF32941D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246DD65-7063-5C41-96CC-23CB1F95FA9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33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7D11E-E4EA-D939-2AC1-BAE684FF6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6580C6-1FC1-44A1-F618-4A66A0B15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01" y="68513"/>
            <a:ext cx="10515600" cy="1033508"/>
          </a:xfrm>
        </p:spPr>
        <p:txBody>
          <a:bodyPr/>
          <a:lstStyle/>
          <a:p>
            <a:r>
              <a:rPr lang="en-US" dirty="0"/>
              <a:t>A-Well (02/13-22) – MNTN 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8ACE3-B6E1-2EAF-1F6B-93551AB7B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4CC93-A43B-3ECC-3145-A4C5EC4B09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EF26D-08B5-56D6-AF1F-5CC9E9299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565BF7-B8AB-59DF-5566-38B03887B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021553"/>
              </p:ext>
            </p:extLst>
          </p:nvPr>
        </p:nvGraphicFramePr>
        <p:xfrm>
          <a:off x="918500" y="3416549"/>
          <a:ext cx="478522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392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200190">
                <a:tc>
                  <a:txBody>
                    <a:bodyPr/>
                    <a:lstStyle/>
                    <a:p>
                      <a:pPr algn="ctr"/>
                      <a:r>
                        <a:rPr lang="en-CA" sz="1400" baseline="0" dirty="0"/>
                        <a:t>Fracking 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aseline="0" dirty="0"/>
                        <a:t>Stage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Pressure </a:t>
                      </a:r>
                      <a:r>
                        <a:rPr lang="el-GR" sz="1400" dirty="0"/>
                        <a:t>Δ </a:t>
                      </a:r>
                      <a:r>
                        <a:rPr lang="en-CA" sz="1400" dirty="0"/>
                        <a:t>(kPa)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B-Well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B4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291.46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B-Well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B5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357.02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400" b="1" baseline="0" dirty="0"/>
                        <a:t>B-Well</a:t>
                      </a:r>
                      <a:endParaRPr lang="en-US" sz="1400" b="1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="1" baseline="0" dirty="0"/>
                        <a:t>B8</a:t>
                      </a:r>
                      <a:endParaRPr lang="en-US" sz="1400" b="1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baseline="0" dirty="0"/>
                        <a:t>1598.63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B-Well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B15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140.01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289179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881F6E9E-089E-AC58-6A2D-4005F2FEE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809" y="3016900"/>
            <a:ext cx="3834320" cy="3672073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3868D8-9C0D-F6C3-25E6-901EEEDD4A8D}"/>
              </a:ext>
            </a:extLst>
          </p:cNvPr>
          <p:cNvCxnSpPr>
            <a:cxnSpLocks/>
          </p:cNvCxnSpPr>
          <p:nvPr/>
        </p:nvCxnSpPr>
        <p:spPr>
          <a:xfrm flipV="1">
            <a:off x="11046608" y="3567774"/>
            <a:ext cx="697076" cy="122155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A5F044A3-CCC9-2871-37C7-DABB658DA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9167"/>
            <a:ext cx="12192000" cy="271225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7D603ED-AC31-5CF6-CDAA-C68B18785EAF}"/>
              </a:ext>
            </a:extLst>
          </p:cNvPr>
          <p:cNvSpPr txBox="1"/>
          <p:nvPr/>
        </p:nvSpPr>
        <p:spPr>
          <a:xfrm>
            <a:off x="785445" y="5358194"/>
            <a:ext cx="6106594" cy="64633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Conclusion:</a:t>
            </a:r>
            <a:r>
              <a:rPr lang="en-US" dirty="0"/>
              <a:t> A-Well (MNTN C) only hit and communicated with by B-Well (MNTN B).</a:t>
            </a:r>
          </a:p>
        </p:txBody>
      </p:sp>
    </p:spTree>
    <p:extLst>
      <p:ext uri="{BB962C8B-B14F-4D97-AF65-F5344CB8AC3E}">
        <p14:creationId xmlns:p14="http://schemas.microsoft.com/office/powerpoint/2010/main" val="933353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39A66-5A64-9FCF-0E4E-B654181B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F26D61-D96D-C522-352C-91F7F4BD3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6" y="62633"/>
            <a:ext cx="5383719" cy="450155"/>
          </a:xfrm>
        </p:spPr>
        <p:txBody>
          <a:bodyPr/>
          <a:lstStyle/>
          <a:p>
            <a:r>
              <a:rPr lang="en-US" dirty="0"/>
              <a:t>B-Well (02/12-22) – MNTN 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38AEC-AF3B-0C49-595F-068106D1B3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28DE1-A65C-8C33-DB61-238D87622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40BB9-FB86-2351-ACF4-7366DA20A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DE1AB1A-C813-C6F9-7C15-91AC8EE90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93770"/>
              </p:ext>
            </p:extLst>
          </p:nvPr>
        </p:nvGraphicFramePr>
        <p:xfrm>
          <a:off x="1383401" y="3387461"/>
          <a:ext cx="479524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415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231968">
                <a:tc>
                  <a:txBody>
                    <a:bodyPr/>
                    <a:lstStyle/>
                    <a:p>
                      <a:pPr algn="ctr"/>
                      <a:r>
                        <a:rPr lang="en-CA" sz="1400" baseline="0" dirty="0"/>
                        <a:t>Fracking 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aseline="0" dirty="0"/>
                        <a:t>Stage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Pressure </a:t>
                      </a:r>
                      <a:r>
                        <a:rPr lang="el-GR" sz="1400" dirty="0"/>
                        <a:t>Δ </a:t>
                      </a:r>
                      <a:r>
                        <a:rPr lang="en-CA" sz="1400" dirty="0"/>
                        <a:t>(kPa)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400" b="1" baseline="0" dirty="0"/>
                        <a:t>C-Well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baseline="0" dirty="0"/>
                        <a:t>C16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baseline="0" dirty="0"/>
                        <a:t>1981.04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C-Well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C26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114.91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A-Well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A31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124.73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C-Well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C38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105.99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289179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A5E6002B-B41F-9B61-8750-F5ECE7FAC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809" y="3152046"/>
            <a:ext cx="3834320" cy="3672073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3971E6-83DA-A882-A7F1-121C204D91D7}"/>
              </a:ext>
            </a:extLst>
          </p:cNvPr>
          <p:cNvCxnSpPr>
            <a:cxnSpLocks/>
          </p:cNvCxnSpPr>
          <p:nvPr/>
        </p:nvCxnSpPr>
        <p:spPr>
          <a:xfrm flipV="1">
            <a:off x="10218317" y="4988082"/>
            <a:ext cx="762684" cy="444455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E4B5686-3EE7-0A4A-C451-9C8E59D40997}"/>
              </a:ext>
            </a:extLst>
          </p:cNvPr>
          <p:cNvSpPr txBox="1"/>
          <p:nvPr/>
        </p:nvSpPr>
        <p:spPr>
          <a:xfrm>
            <a:off x="457323" y="5289217"/>
            <a:ext cx="6689358" cy="64633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Conclusion: </a:t>
            </a:r>
            <a:r>
              <a:rPr lang="en-US" dirty="0"/>
              <a:t> B-Well (MNTN B) hit primarily by C-Well (MNTN A), with additional communication from A-Well (MNTN C)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BB63B4-39EF-EE52-74CB-8CA134847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74716"/>
            <a:ext cx="12192000" cy="267733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C0F444-907B-4249-6562-098490BB5A14}"/>
              </a:ext>
            </a:extLst>
          </p:cNvPr>
          <p:cNvCxnSpPr>
            <a:cxnSpLocks/>
          </p:cNvCxnSpPr>
          <p:nvPr/>
        </p:nvCxnSpPr>
        <p:spPr>
          <a:xfrm flipH="1">
            <a:off x="11046586" y="3694162"/>
            <a:ext cx="709400" cy="1258838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266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A8B2C-A622-0215-81C8-F4E42F947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E16F42-0F7F-1820-FE78-CFECEB86F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6" y="65358"/>
            <a:ext cx="10515600" cy="1033508"/>
          </a:xfrm>
        </p:spPr>
        <p:txBody>
          <a:bodyPr/>
          <a:lstStyle/>
          <a:p>
            <a:r>
              <a:rPr lang="en-US" dirty="0"/>
              <a:t>C-Well (00/15-22) – MNTN 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5ED2F5-5855-201B-6D90-CDB4A02C39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A0D18-08FA-17D1-027D-7E8C86D84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8594A-DC4B-A417-1428-5445444A6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57ED29-03F2-C0F0-7576-8F3746841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017238"/>
              </p:ext>
            </p:extLst>
          </p:nvPr>
        </p:nvGraphicFramePr>
        <p:xfrm>
          <a:off x="944798" y="3496704"/>
          <a:ext cx="479524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415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231968">
                <a:tc>
                  <a:txBody>
                    <a:bodyPr/>
                    <a:lstStyle/>
                    <a:p>
                      <a:pPr algn="ctr"/>
                      <a:r>
                        <a:rPr lang="en-CA" sz="1400" baseline="0" dirty="0"/>
                        <a:t>Fracking 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aseline="0" dirty="0"/>
                        <a:t>Stage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Pressure </a:t>
                      </a:r>
                      <a:r>
                        <a:rPr lang="el-GR" sz="1400" dirty="0"/>
                        <a:t>Δ </a:t>
                      </a:r>
                      <a:r>
                        <a:rPr lang="en-CA" sz="1400" dirty="0"/>
                        <a:t>(kPa)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400" b="0" baseline="0" dirty="0"/>
                        <a:t>D-Well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baseline="0" dirty="0"/>
                        <a:t>D12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baseline="0" dirty="0"/>
                        <a:t>266.65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B-Well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B16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134.67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D-Well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D16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171.38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400" b="1" baseline="0" dirty="0"/>
                        <a:t>D-Well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baseline="0" dirty="0"/>
                        <a:t>D29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baseline="0" dirty="0"/>
                        <a:t>2251.11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289179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5D2B9B98-D2EE-A7DB-7AEB-0E9FE7603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809" y="3184667"/>
            <a:ext cx="3834320" cy="3672073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87EDB89-E3A6-2F17-6DC1-0DC7D81ED5B6}"/>
              </a:ext>
            </a:extLst>
          </p:cNvPr>
          <p:cNvCxnSpPr>
            <a:cxnSpLocks/>
          </p:cNvCxnSpPr>
          <p:nvPr/>
        </p:nvCxnSpPr>
        <p:spPr>
          <a:xfrm>
            <a:off x="9385926" y="5051831"/>
            <a:ext cx="742182" cy="438748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A23B959-CE50-2127-779E-50A02DB94CBF}"/>
              </a:ext>
            </a:extLst>
          </p:cNvPr>
          <p:cNvSpPr txBox="1"/>
          <p:nvPr/>
        </p:nvSpPr>
        <p:spPr>
          <a:xfrm>
            <a:off x="318092" y="5426892"/>
            <a:ext cx="7054297" cy="64633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Conclusion:</a:t>
            </a:r>
            <a:r>
              <a:rPr lang="en-US" dirty="0"/>
              <a:t> C-Well (MNTN A) hit primarily by D-Well (MNTN B), with additional communication from B-Well (MNTN B)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75FA110-7D5B-5B5E-C39E-31C3C99AFCAA}"/>
              </a:ext>
            </a:extLst>
          </p:cNvPr>
          <p:cNvCxnSpPr>
            <a:cxnSpLocks/>
          </p:cNvCxnSpPr>
          <p:nvPr/>
        </p:nvCxnSpPr>
        <p:spPr>
          <a:xfrm flipH="1">
            <a:off x="10222396" y="5020703"/>
            <a:ext cx="750404" cy="49366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0CBCA8C-56D9-F8F9-5ECE-9D0E328DD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7765"/>
            <a:ext cx="12192000" cy="268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706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28A21-F6B4-7C69-48F9-6D3E363AF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64CD988-A09E-025A-8F9C-469AEBAA2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384" y="4385760"/>
            <a:ext cx="2482508" cy="229266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1D26BD2-A64C-91CE-22EC-2A76C6F0A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6" y="55604"/>
            <a:ext cx="10515600" cy="1033508"/>
          </a:xfrm>
        </p:spPr>
        <p:txBody>
          <a:bodyPr/>
          <a:lstStyle/>
          <a:p>
            <a:r>
              <a:rPr lang="en-US" dirty="0"/>
              <a:t>D-Well (00/08-21) – MNTN B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A030F-1EC1-CFEB-FC8F-958F1CF7B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DA76A-C1F0-C5EA-A0EC-FCF2D989C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DA0A38E-2002-D35D-1689-2E712ECAE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068157"/>
              </p:ext>
            </p:extLst>
          </p:nvPr>
        </p:nvGraphicFramePr>
        <p:xfrm>
          <a:off x="91451" y="545259"/>
          <a:ext cx="3121419" cy="586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473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040473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040473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349500">
                <a:tc>
                  <a:txBody>
                    <a:bodyPr/>
                    <a:lstStyle/>
                    <a:p>
                      <a:pPr algn="ctr"/>
                      <a:r>
                        <a:rPr lang="en-CA" sz="1100" baseline="0" dirty="0"/>
                        <a:t>Fracking Well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aseline="0" dirty="0"/>
                        <a:t>Stage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100" baseline="0" dirty="0"/>
                        <a:t>Pressure </a:t>
                      </a:r>
                      <a:r>
                        <a:rPr lang="el-GR" sz="1100" dirty="0"/>
                        <a:t>Δ </a:t>
                      </a:r>
                      <a:r>
                        <a:rPr lang="en-CA" sz="1100" dirty="0"/>
                        <a:t>(kPa)</a:t>
                      </a:r>
                      <a:endParaRPr lang="en-US" sz="11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E-Well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E6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674.28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E-Well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416.71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baseline="0" dirty="0"/>
                        <a:t>E-Well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E8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2089.34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E-Well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E9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935.18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289179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C-Well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C11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255.82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763154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C-Well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1199.63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090577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C-Well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C14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2566.05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621668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E-Well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E13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686.81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507767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C-Well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C21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551.98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997996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baseline="0" dirty="0"/>
                        <a:t>E-Well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baseline="0" dirty="0"/>
                        <a:t>E20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562.93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914760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C-Well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C27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937.61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617676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E-Well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E22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163.63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889138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C-Well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C29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559.88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695533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baseline="0" dirty="0"/>
                        <a:t>C-Well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C30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204.49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671184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E-Well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E23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330.43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713110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E-Well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E24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454.88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01659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E-Well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E25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395.48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096850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E-Well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E26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262.00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230357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E-Well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E28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200.99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27600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E-Well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E29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1962.09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18269"/>
                  </a:ext>
                </a:extLst>
              </a:tr>
              <a:tr h="212197">
                <a:tc>
                  <a:txBody>
                    <a:bodyPr/>
                    <a:lstStyle/>
                    <a:p>
                      <a:r>
                        <a:rPr lang="en-US" sz="1100" b="1" baseline="0" dirty="0">
                          <a:solidFill>
                            <a:schemeClr val="tx1"/>
                          </a:solidFill>
                        </a:rPr>
                        <a:t>E-Well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>
                          <a:solidFill>
                            <a:schemeClr val="tx1"/>
                          </a:solidFill>
                        </a:rPr>
                        <a:t>E32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>
                          <a:solidFill>
                            <a:schemeClr val="tx1"/>
                          </a:solidFill>
                        </a:rPr>
                        <a:t>6583.78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673628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15FB9CB1-D98B-D4BB-6653-EEDA27CE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123" y="2748224"/>
            <a:ext cx="4030598" cy="3860046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42C8DF-B51C-C72E-8A95-B0A4675D5273}"/>
              </a:ext>
            </a:extLst>
          </p:cNvPr>
          <p:cNvCxnSpPr>
            <a:cxnSpLocks/>
          </p:cNvCxnSpPr>
          <p:nvPr/>
        </p:nvCxnSpPr>
        <p:spPr>
          <a:xfrm>
            <a:off x="8296623" y="4668323"/>
            <a:ext cx="774985" cy="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9B38904-DB5D-FD8B-AD74-ABFE93A02C9B}"/>
              </a:ext>
            </a:extLst>
          </p:cNvPr>
          <p:cNvSpPr txBox="1"/>
          <p:nvPr/>
        </p:nvSpPr>
        <p:spPr>
          <a:xfrm>
            <a:off x="3686459" y="2767877"/>
            <a:ext cx="3695675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Conclusion:</a:t>
            </a:r>
            <a:r>
              <a:rPr lang="en-US" sz="1600" dirty="0"/>
              <a:t> Both E-Well (MNTN B) and C-Well (MNTN A) showed consistent and relatively high magnitude communication with D-Well (MNTN B)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55C57A5-C564-60ED-6CA5-0B2342D0C8A0}"/>
              </a:ext>
            </a:extLst>
          </p:cNvPr>
          <p:cNvCxnSpPr>
            <a:cxnSpLocks/>
          </p:cNvCxnSpPr>
          <p:nvPr/>
        </p:nvCxnSpPr>
        <p:spPr>
          <a:xfrm flipH="1" flipV="1">
            <a:off x="9218814" y="4703665"/>
            <a:ext cx="752302" cy="44888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61C62D8-4645-02C6-B068-298AF4C93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124" y="572358"/>
            <a:ext cx="8968627" cy="1979649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0E616FAA-A53A-5C4A-EEED-81343927366B}"/>
              </a:ext>
            </a:extLst>
          </p:cNvPr>
          <p:cNvSpPr txBox="1">
            <a:spLocks/>
          </p:cNvSpPr>
          <p:nvPr/>
        </p:nvSpPr>
        <p:spPr>
          <a:xfrm>
            <a:off x="3950866" y="4236862"/>
            <a:ext cx="3336438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sz="2000" u="sng" dirty="0"/>
              <a:t>Large Frac Hit Distribution</a:t>
            </a:r>
          </a:p>
        </p:txBody>
      </p:sp>
    </p:spTree>
    <p:extLst>
      <p:ext uri="{BB962C8B-B14F-4D97-AF65-F5344CB8AC3E}">
        <p14:creationId xmlns:p14="http://schemas.microsoft.com/office/powerpoint/2010/main" val="730415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3A067-9F2C-118C-3887-A3A5C20B7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816DAB-B3AC-FCFE-3599-E74A437DB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6" y="33881"/>
            <a:ext cx="10515600" cy="1033508"/>
          </a:xfrm>
        </p:spPr>
        <p:txBody>
          <a:bodyPr/>
          <a:lstStyle/>
          <a:p>
            <a:r>
              <a:rPr lang="en-US" dirty="0"/>
              <a:t>E-Well (00/01-21) – MNTN B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453F8-E4F6-3102-67C0-576385E3C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2BD88-B5B9-5E19-05FA-FCECDB7FA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99527B5-4932-92CF-9CD6-A802F1EB8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721823"/>
              </p:ext>
            </p:extLst>
          </p:nvPr>
        </p:nvGraphicFramePr>
        <p:xfrm>
          <a:off x="172871" y="3198065"/>
          <a:ext cx="4771082" cy="336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415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574252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249301">
                <a:tc>
                  <a:txBody>
                    <a:bodyPr/>
                    <a:lstStyle/>
                    <a:p>
                      <a:pPr algn="ctr"/>
                      <a:r>
                        <a:rPr lang="en-CA" sz="1100" baseline="0" dirty="0"/>
                        <a:t>Fracking Well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aseline="0" dirty="0"/>
                        <a:t>Stage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100" baseline="0" dirty="0"/>
                        <a:t>Pressure </a:t>
                      </a:r>
                      <a:r>
                        <a:rPr lang="el-GR" sz="1100" dirty="0"/>
                        <a:t>Δ </a:t>
                      </a:r>
                      <a:r>
                        <a:rPr lang="en-CA" sz="1100" dirty="0"/>
                        <a:t>(kPa)</a:t>
                      </a:r>
                      <a:endParaRPr lang="en-US" sz="11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D-Well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1213.97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D-Well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1332.07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D-Well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346.60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D-Well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D8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199.73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289179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D-Well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D12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136.517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526678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D-Well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D13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817.98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449777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D-Well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D15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635.54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79351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D-Well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D18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230.81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69643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D-Well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D20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174.62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27456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D-Well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D24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674.51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889867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D-Well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D27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222.75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584205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D-Well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D29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766.90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736959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00FFC7E6-597D-9F14-146A-67B961ADC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951" y="3306885"/>
            <a:ext cx="3516854" cy="336804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E2CE2E-A8D8-FFDF-FE44-6A8F56334F98}"/>
              </a:ext>
            </a:extLst>
          </p:cNvPr>
          <p:cNvCxnSpPr>
            <a:cxnSpLocks/>
          </p:cNvCxnSpPr>
          <p:nvPr/>
        </p:nvCxnSpPr>
        <p:spPr>
          <a:xfrm flipH="1">
            <a:off x="8560991" y="4971062"/>
            <a:ext cx="714223" cy="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9D9D6FA-BDF4-F950-A418-13E91E1FD916}"/>
              </a:ext>
            </a:extLst>
          </p:cNvPr>
          <p:cNvSpPr txBox="1"/>
          <p:nvPr/>
        </p:nvSpPr>
        <p:spPr>
          <a:xfrm>
            <a:off x="5050378" y="4265126"/>
            <a:ext cx="3128148" cy="9541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Conclusion: </a:t>
            </a:r>
            <a:r>
              <a:rPr lang="en-US" sz="1400" dirty="0"/>
              <a:t>The D-Well (MNTN B) showed consistent hits to the E-Well (MNTN B). Communication occurred almost every stage.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AED6E7-C099-E0D5-C5CA-A2ED85C19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72031"/>
            <a:ext cx="12117849" cy="265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06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1AFC-75A7-EAF6-E19F-E2E9ACAB3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67B072-5AA5-B65B-4E13-0888F2E17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6" y="33881"/>
            <a:ext cx="10515600" cy="1033508"/>
          </a:xfrm>
        </p:spPr>
        <p:txBody>
          <a:bodyPr/>
          <a:lstStyle/>
          <a:p>
            <a:r>
              <a:rPr lang="en-US" dirty="0"/>
              <a:t>Parent Well 04-27 – MNTN B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1F1BD-0447-5036-77DE-B8E87A8FF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198" y="6642733"/>
            <a:ext cx="4114800" cy="138499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13AE8-317F-2D77-ED25-2CCC56894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5798" y="6458994"/>
            <a:ext cx="304801" cy="365125"/>
          </a:xfrm>
        </p:spPr>
        <p:txBody>
          <a:bodyPr/>
          <a:lstStyle/>
          <a:p>
            <a:fld id="{D246DD65-7063-5C41-96CC-23CB1F95FA91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F7CCD5-F459-3F93-C621-94760D5D0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146558"/>
              </p:ext>
            </p:extLst>
          </p:nvPr>
        </p:nvGraphicFramePr>
        <p:xfrm>
          <a:off x="199396" y="444348"/>
          <a:ext cx="2982813" cy="5950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5048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555812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281953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342183">
                <a:tc>
                  <a:txBody>
                    <a:bodyPr/>
                    <a:lstStyle/>
                    <a:p>
                      <a:pPr algn="ctr"/>
                      <a:r>
                        <a:rPr lang="en-CA" sz="1100" b="1" baseline="0" dirty="0"/>
                        <a:t>Fracking Well</a:t>
                      </a:r>
                      <a:endParaRPr lang="en-US" sz="1100" b="1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baseline="0" dirty="0"/>
                        <a:t>Stage</a:t>
                      </a:r>
                      <a:endParaRPr lang="en-US" sz="1100" b="1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100" b="1" baseline="0" dirty="0"/>
                        <a:t>Pressure </a:t>
                      </a:r>
                      <a:r>
                        <a:rPr lang="el-GR" sz="1100" b="1" dirty="0"/>
                        <a:t>Δ </a:t>
                      </a:r>
                      <a:r>
                        <a:rPr lang="en-CA" sz="1100" b="1" dirty="0"/>
                        <a:t>(kPa)</a:t>
                      </a:r>
                      <a:endParaRPr lang="en-US" sz="1100" b="1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B-Well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304.326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A-Well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A6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315.87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2929.47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A-Well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221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289179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baseline="0" dirty="0"/>
                        <a:t>B-Well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2390.88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526678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E-Well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>
                          <a:solidFill>
                            <a:srgbClr val="FF0000"/>
                          </a:solidFill>
                        </a:rPr>
                        <a:t>E10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302.98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449777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A-Well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A10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1982.38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79351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453.79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696432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0" baseline="0" dirty="0">
                          <a:solidFill>
                            <a:srgbClr val="FF0000"/>
                          </a:solidFill>
                        </a:rPr>
                        <a:t>Complicated*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>
                          <a:solidFill>
                            <a:srgbClr val="FF0000"/>
                          </a:solidFill>
                        </a:rPr>
                        <a:t>D6/</a:t>
                      </a:r>
                    </a:p>
                    <a:p>
                      <a:r>
                        <a:rPr lang="en-US" sz="1100" b="0" baseline="0" dirty="0">
                          <a:solidFill>
                            <a:srgbClr val="FF0000"/>
                          </a:solidFill>
                        </a:rPr>
                        <a:t>C14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324.02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274562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3416.85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889867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A-Well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A11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333.97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584205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2887.17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9983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794.92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581966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1544.31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250559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525.91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736959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A-Well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A18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226.60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02897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B-Well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B14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242.66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713231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A-Well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A21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252.25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695020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D-Well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>
                          <a:solidFill>
                            <a:srgbClr val="FF0000"/>
                          </a:solidFill>
                        </a:rPr>
                        <a:t>D15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267.42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561042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A-Well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A22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405.57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473096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4805.59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35440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8892CCE-6590-C7DA-D807-A4E71E62B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706418"/>
              </p:ext>
            </p:extLst>
          </p:nvPr>
        </p:nvGraphicFramePr>
        <p:xfrm>
          <a:off x="3287868" y="444348"/>
          <a:ext cx="2904883" cy="232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7118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555812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281953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342183">
                <a:tc>
                  <a:txBody>
                    <a:bodyPr/>
                    <a:lstStyle/>
                    <a:p>
                      <a:pPr algn="ctr"/>
                      <a:r>
                        <a:rPr lang="en-CA" sz="1100" b="1" baseline="0" dirty="0"/>
                        <a:t>Fracking Well</a:t>
                      </a:r>
                      <a:endParaRPr lang="en-US" sz="1100" b="1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baseline="0" dirty="0"/>
                        <a:t>Stage</a:t>
                      </a:r>
                      <a:endParaRPr lang="en-US" sz="1100" b="1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100" b="1" baseline="0" dirty="0"/>
                        <a:t>Pressure </a:t>
                      </a:r>
                      <a:r>
                        <a:rPr lang="el-GR" sz="1100" b="1" dirty="0"/>
                        <a:t>Δ </a:t>
                      </a:r>
                      <a:r>
                        <a:rPr lang="en-CA" sz="1100" b="1" dirty="0"/>
                        <a:t>(kPa)</a:t>
                      </a:r>
                      <a:endParaRPr lang="en-US" sz="1100" b="1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A-Well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A23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354.83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4033.24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2164.24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baseline="0" dirty="0"/>
                        <a:t>A-Well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A30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1704.745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526678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B24</a:t>
                      </a:r>
                      <a:endParaRPr lang="en-US" sz="1100" b="1" baseline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3925.94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449777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0" baseline="0" dirty="0">
                          <a:solidFill>
                            <a:srgbClr val="FF0000"/>
                          </a:solidFill>
                        </a:rPr>
                        <a:t>Complicated*</a:t>
                      </a:r>
                      <a:endParaRPr lang="en-US" sz="1100" b="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>
                          <a:solidFill>
                            <a:srgbClr val="FF0000"/>
                          </a:solidFill>
                        </a:rPr>
                        <a:t>E28/A23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baseline="0" dirty="0"/>
                        <a:t>239.58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79351"/>
                  </a:ext>
                </a:extLst>
              </a:tr>
              <a:tr h="207754"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B-Well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B26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baseline="0" dirty="0"/>
                        <a:t>679.19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696432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7E8BCCAC-D134-59E7-968E-1878050A2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888" y="-9216"/>
            <a:ext cx="2939564" cy="254097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6A88D2F-A495-6661-8288-A112423CF8DE}"/>
              </a:ext>
            </a:extLst>
          </p:cNvPr>
          <p:cNvSpPr txBox="1"/>
          <p:nvPr/>
        </p:nvSpPr>
        <p:spPr>
          <a:xfrm>
            <a:off x="3538514" y="5109442"/>
            <a:ext cx="4633516" cy="9541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Conclusion: </a:t>
            </a:r>
            <a:r>
              <a:rPr lang="en-US" sz="1400" dirty="0"/>
              <a:t>A-Well and B-Well continuously communicated to Parent Well 04-27, with many hits occurring at the end of the stage. B-Well made up almost the entirety of sizeable frac hits.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FA3D2AA-E837-A4CF-1F21-B079045F9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996" y="2890523"/>
            <a:ext cx="8929109" cy="18818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E22DCB-EA68-C8FE-6138-567CE6F61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184" y="232509"/>
            <a:ext cx="2570921" cy="2387283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5943901E-A544-029B-06E1-FE14B1AFB2D3}"/>
              </a:ext>
            </a:extLst>
          </p:cNvPr>
          <p:cNvSpPr txBox="1">
            <a:spLocks/>
          </p:cNvSpPr>
          <p:nvPr/>
        </p:nvSpPr>
        <p:spPr>
          <a:xfrm>
            <a:off x="9782589" y="58769"/>
            <a:ext cx="2247900" cy="21790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sz="1400" u="sng" dirty="0"/>
              <a:t>Large Frac Hit Distribution</a:t>
            </a:r>
          </a:p>
        </p:txBody>
      </p:sp>
    </p:spTree>
    <p:extLst>
      <p:ext uri="{BB962C8B-B14F-4D97-AF65-F5344CB8AC3E}">
        <p14:creationId xmlns:p14="http://schemas.microsoft.com/office/powerpoint/2010/main" val="1790601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32E57C-8551-2C60-2E32-B50AEAD58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F40F13-BC9C-3406-572F-6BF0D5896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7149"/>
            <a:ext cx="10515600" cy="528019"/>
          </a:xfrm>
        </p:spPr>
        <p:txBody>
          <a:bodyPr/>
          <a:lstStyle/>
          <a:p>
            <a:r>
              <a:rPr lang="en-US" dirty="0"/>
              <a:t>10-29 Well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836ED-398A-0C32-6814-3133930FE3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67B5E-3F75-02A1-8208-5C709A2484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B2CAF-F197-B40F-B19C-313618673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0BF8A6-B005-BE95-1A45-4ED1B2620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75596"/>
            <a:ext cx="12192000" cy="482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11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7E5A3E9-BD83-1DDF-2654-4E6E6F600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25" y="1387994"/>
            <a:ext cx="11888762" cy="471847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243C690-541C-CBF4-89CA-9B31C4371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1090"/>
            <a:ext cx="10515600" cy="516754"/>
          </a:xfrm>
        </p:spPr>
        <p:txBody>
          <a:bodyPr/>
          <a:lstStyle/>
          <a:p>
            <a:r>
              <a:rPr lang="en-US" dirty="0"/>
              <a:t>MNTN B Broad Comparison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63846-E0BB-3BF3-DB88-4BEED1025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6E135-6460-3C45-4911-6E559F66A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160BA1-70C6-22AA-0670-78E9113A89D8}"/>
              </a:ext>
            </a:extLst>
          </p:cNvPr>
          <p:cNvSpPr txBox="1"/>
          <p:nvPr/>
        </p:nvSpPr>
        <p:spPr>
          <a:xfrm>
            <a:off x="9064148" y="3540997"/>
            <a:ext cx="2484385" cy="276999"/>
          </a:xfrm>
          <a:prstGeom prst="borderCallout1">
            <a:avLst>
              <a:gd name="adj1" fmla="val 410"/>
              <a:gd name="adj2" fmla="val 50267"/>
              <a:gd name="adj3" fmla="val -240534"/>
              <a:gd name="adj4" fmla="val 21447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Pad is on high-side of past results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3DCAB6-C175-6F15-7EE9-5B5468ED5D53}"/>
              </a:ext>
            </a:extLst>
          </p:cNvPr>
          <p:cNvSpPr txBox="1"/>
          <p:nvPr/>
        </p:nvSpPr>
        <p:spPr>
          <a:xfrm>
            <a:off x="8132815" y="6218866"/>
            <a:ext cx="2484385" cy="461665"/>
          </a:xfrm>
          <a:prstGeom prst="borderCallout1">
            <a:avLst>
              <a:gd name="adj1" fmla="val 410"/>
              <a:gd name="adj2" fmla="val 50267"/>
              <a:gd name="adj3" fmla="val -151588"/>
              <a:gd name="adj4" fmla="val 21958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Water resembling southern Bilbo development</a:t>
            </a:r>
          </a:p>
        </p:txBody>
      </p:sp>
    </p:spTree>
    <p:extLst>
      <p:ext uri="{BB962C8B-B14F-4D97-AF65-F5344CB8AC3E}">
        <p14:creationId xmlns:p14="http://schemas.microsoft.com/office/powerpoint/2010/main" val="3008821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5CE1DED-7280-8A9F-58C7-4D864DC0A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82264"/>
            <a:ext cx="12194030" cy="490000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4C06AF1-3176-BCD3-D1A7-D5631E074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651"/>
            <a:ext cx="10515600" cy="481749"/>
          </a:xfrm>
        </p:spPr>
        <p:txBody>
          <a:bodyPr/>
          <a:lstStyle/>
          <a:p>
            <a:r>
              <a:rPr lang="en-US" dirty="0"/>
              <a:t>MNTN B Immediate Comparison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40AEB-76D3-D02C-E352-40BCE06379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ECC9A-5631-E13C-E9B9-3928538D5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59B5BE-98A0-BFF7-503D-282D8D4EB555}"/>
              </a:ext>
            </a:extLst>
          </p:cNvPr>
          <p:cNvSpPr txBox="1"/>
          <p:nvPr/>
        </p:nvSpPr>
        <p:spPr>
          <a:xfrm>
            <a:off x="4826581" y="3238732"/>
            <a:ext cx="3496469" cy="43088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100/13-22 well onstream gas rate at 16,000mcf. New wells flowed up tubing limiting gas rate capability.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86FB43-DE33-5616-ABD7-B83F47F06978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5372100" y="3669619"/>
            <a:ext cx="1202716" cy="229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BAC1D7-198C-EDDC-E371-C5D418341897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6197600" y="2242808"/>
            <a:ext cx="377216" cy="995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769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06F3AB-5241-198D-8074-B8D758656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766C00-4C77-08F0-CC74-1BD2C0F2E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MNTN C Comparison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91E64-D80C-A93F-9096-94EFA0D74D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3F743-C985-C821-06EC-3C487F0B0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19C24-6E1C-3CA3-FE7C-B3E569824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7125AF-D3A7-9B21-F27A-2187BB6D5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37102"/>
            <a:ext cx="12192000" cy="49098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46C33F-7017-DC68-824A-0A65B8565D1D}"/>
              </a:ext>
            </a:extLst>
          </p:cNvPr>
          <p:cNvSpPr txBox="1"/>
          <p:nvPr/>
        </p:nvSpPr>
        <p:spPr>
          <a:xfrm>
            <a:off x="9466316" y="3377852"/>
            <a:ext cx="2484385" cy="646331"/>
          </a:xfrm>
          <a:prstGeom prst="borderCallout1">
            <a:avLst>
              <a:gd name="adj1" fmla="val 410"/>
              <a:gd name="adj2" fmla="val 50267"/>
              <a:gd name="adj3" fmla="val -83601"/>
              <a:gd name="adj4" fmla="val 16676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Infill test production roughly inline with offsets – minimal depletion impact.</a:t>
            </a:r>
          </a:p>
        </p:txBody>
      </p:sp>
    </p:spTree>
    <p:extLst>
      <p:ext uri="{BB962C8B-B14F-4D97-AF65-F5344CB8AC3E}">
        <p14:creationId xmlns:p14="http://schemas.microsoft.com/office/powerpoint/2010/main" val="2537570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302C0D-2F08-3E29-CD24-387881836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290" y="702041"/>
            <a:ext cx="11495949" cy="1033508"/>
          </a:xfrm>
        </p:spPr>
        <p:txBody>
          <a:bodyPr/>
          <a:lstStyle/>
          <a:p>
            <a:r>
              <a:rPr lang="en-US" dirty="0"/>
              <a:t>Additional Noted Information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2B69E-BFD7-C54E-0B7F-420724CC7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AC0D5-EE5B-2387-98E5-F922CCAA4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79B8AA-0F41-3DAC-E5B3-32E9F5621A8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1" y="1618029"/>
            <a:ext cx="105156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A-Well Monitoring: B22, B24, B25, B28 and B31</a:t>
            </a:r>
          </a:p>
          <a:p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5BD962-26C0-7823-08D2-79D4F31F7544}"/>
              </a:ext>
            </a:extLst>
          </p:cNvPr>
          <p:cNvSpPr txBox="1"/>
          <p:nvPr/>
        </p:nvSpPr>
        <p:spPr>
          <a:xfrm>
            <a:off x="752122" y="1887333"/>
            <a:ext cx="7969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B-Well Monitoring: D3, A7, C10, A14, A16, C34, C38, C42 and C43</a:t>
            </a:r>
          </a:p>
          <a:p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9B4B34-BC91-94CD-B8C0-C9A5B4F011CB}"/>
              </a:ext>
            </a:extLst>
          </p:cNvPr>
          <p:cNvSpPr txBox="1"/>
          <p:nvPr/>
        </p:nvSpPr>
        <p:spPr>
          <a:xfrm>
            <a:off x="752121" y="2224411"/>
            <a:ext cx="7969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C-Well Monitoring : B24, B29 and D23</a:t>
            </a:r>
          </a:p>
          <a:p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E81204-8BE2-AA57-24A3-EEDAFC0C35BC}"/>
              </a:ext>
            </a:extLst>
          </p:cNvPr>
          <p:cNvSpPr txBox="1"/>
          <p:nvPr/>
        </p:nvSpPr>
        <p:spPr>
          <a:xfrm>
            <a:off x="752121" y="2525968"/>
            <a:ext cx="6433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D-Well Monitoring : C4, C7, C23, E18, E19, E27, E30, E33 and E35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E7A365-A057-8297-EC03-F308CC87ABEE}"/>
              </a:ext>
            </a:extLst>
          </p:cNvPr>
          <p:cNvSpPr txBox="1"/>
          <p:nvPr/>
        </p:nvSpPr>
        <p:spPr>
          <a:xfrm>
            <a:off x="752122" y="2818375"/>
            <a:ext cx="6716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E-Well Monitoring : D6, D11, D14, D16, D19, D21, D22, D23, D25 and D27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5E9682A-B505-0811-6CCA-F52716FAF087}"/>
              </a:ext>
            </a:extLst>
          </p:cNvPr>
          <p:cNvSpPr txBox="1">
            <a:spLocks/>
          </p:cNvSpPr>
          <p:nvPr/>
        </p:nvSpPr>
        <p:spPr>
          <a:xfrm>
            <a:off x="838199" y="1328797"/>
            <a:ext cx="105156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u="sng" dirty="0"/>
              <a:t>Stages with hits &lt;100kPa or caused change in decline slope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24535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56584E-0507-4745-816C-AF496AF9464E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23747</TotalTime>
  <Words>900</Words>
  <Application>Microsoft Office PowerPoint</Application>
  <PresentationFormat>Widescreen</PresentationFormat>
  <Paragraphs>309</Paragraphs>
  <Slides>14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Roboto</vt:lpstr>
      <vt:lpstr>Office Theme</vt:lpstr>
      <vt:lpstr>BIL 10-29 Frac Hit Summary</vt:lpstr>
      <vt:lpstr>Overview</vt:lpstr>
      <vt:lpstr>Downhole Gauge Data Approximation</vt:lpstr>
      <vt:lpstr>A-Well (02/13-22) – MNTN C</vt:lpstr>
      <vt:lpstr>B-Well (02/12-22) – MNTN B</vt:lpstr>
      <vt:lpstr>C-Well (00/15-22) – MNTN A</vt:lpstr>
      <vt:lpstr>D-Well (00/08-21) – MNTN B</vt:lpstr>
      <vt:lpstr>E-Well (00/01-21) – MNTN B</vt:lpstr>
      <vt:lpstr>Parent Well 04-27 – MNTN B</vt:lpstr>
      <vt:lpstr>10-29 Well Results</vt:lpstr>
      <vt:lpstr>MNTN B Broad Comparison</vt:lpstr>
      <vt:lpstr>MNTN B Immediate Comparison</vt:lpstr>
      <vt:lpstr>MNTN C Comparison</vt:lpstr>
      <vt:lpstr>Additional Noted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NuVista Corporate Presentation</dc:title>
  <dc:subject/>
  <dc:creator>Marcus Kittelson</dc:creator>
  <cp:lastModifiedBy>Marcus Kittelson</cp:lastModifiedBy>
  <cp:revision>489</cp:revision>
  <cp:lastPrinted>2020-09-16T13:08:11Z</cp:lastPrinted>
  <dcterms:created xsi:type="dcterms:W3CDTF">2020-02-25T19:46:46Z</dcterms:created>
  <dcterms:modified xsi:type="dcterms:W3CDTF">2025-08-07T22:31:45Z</dcterms:modified>
</cp:coreProperties>
</file>