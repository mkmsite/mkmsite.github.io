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5"/>
  </p:notesMasterIdLst>
  <p:sldIdLst>
    <p:sldId id="314" r:id="rId2"/>
    <p:sldId id="315" r:id="rId3"/>
    <p:sldId id="316" r:id="rId4"/>
  </p:sldIdLst>
  <p:sldSz cx="12192000" cy="6858000"/>
  <p:notesSz cx="9296400" cy="7010400"/>
  <p:embeddedFontLst>
    <p:embeddedFont>
      <p:font typeface="Roboto" panose="02000000000000000000" pitchFamily="2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5930" autoAdjust="0"/>
  </p:normalViewPr>
  <p:slideViewPr>
    <p:cSldViewPr snapToGrid="0" snapToObjects="1">
      <p:cViewPr varScale="1">
        <p:scale>
          <a:sx n="146" d="100"/>
          <a:sy n="146" d="100"/>
        </p:scale>
        <p:origin x="712" y="240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2/5/2025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olulab.com/what-is-retrieval-augmented-generation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eveloper.nvidia.com/blog/rag-101-demystifying-retrieval-augmented-generation-pipelines/" TargetMode="Externa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7462421" cy="210572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diagram of a brain&#10;&#10;Description automatically generated">
            <a:extLst>
              <a:ext uri="{FF2B5EF4-FFF2-40B4-BE49-F238E27FC236}">
                <a16:creationId xmlns:a16="http://schemas.microsoft.com/office/drawing/2014/main" id="{ED1378E5-6757-7FA7-0196-BC6BE6F1E9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1917" y="3922917"/>
            <a:ext cx="4256528" cy="23652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Retrieval-Augmented Generation (RAG)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4942C-2FBB-4475-8405-146FA8DF4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391524"/>
            <a:ext cx="10515600" cy="229704"/>
          </a:xfrm>
        </p:spPr>
        <p:txBody>
          <a:bodyPr/>
          <a:lstStyle/>
          <a:p>
            <a:r>
              <a:rPr lang="en-US" dirty="0"/>
              <a:t>RAG combines retrieval (fetching relevant data) with generation (LLM-based text synthesis) to provide context-aware, dynamic responses using both stored and real-time information.</a:t>
            </a:r>
          </a:p>
          <a:p>
            <a:r>
              <a:rPr lang="en-US" u="sng" dirty="0"/>
              <a:t>Relevant Use Cases</a:t>
            </a:r>
          </a:p>
          <a:p>
            <a:r>
              <a:rPr lang="en-US" sz="1200" dirty="0"/>
              <a:t>1️⃣ </a:t>
            </a:r>
            <a:r>
              <a:rPr lang="en-US" sz="1200" b="1" dirty="0"/>
              <a:t>Land &amp; Lease Docs</a:t>
            </a:r>
            <a:r>
              <a:rPr lang="en-US" sz="1200" dirty="0"/>
              <a:t> → Instantly retrieve ownership, expiration, and contract terms (e.g., “Who owns mineral rights for Well XYZ?”)  -</a:t>
            </a:r>
            <a:r>
              <a:rPr lang="en-US" sz="1200" i="1" dirty="0"/>
              <a:t> Presented by Oxy</a:t>
            </a:r>
          </a:p>
          <a:p>
            <a:r>
              <a:rPr lang="en-US" sz="1200" dirty="0"/>
              <a:t>2️⃣ </a:t>
            </a:r>
            <a:r>
              <a:rPr lang="en-US" sz="1200" b="1" dirty="0"/>
              <a:t>Well Info</a:t>
            </a:r>
            <a:r>
              <a:rPr lang="en-US" sz="1200" dirty="0"/>
              <a:t> → Access completions and production history (“When did Well #456’s start producing?”)</a:t>
            </a:r>
            <a:endParaRPr lang="en-US" sz="1200" i="1" dirty="0"/>
          </a:p>
          <a:p>
            <a:r>
              <a:rPr lang="en-US" sz="1200" dirty="0"/>
              <a:t>3️⃣ </a:t>
            </a:r>
            <a:r>
              <a:rPr lang="en-US" sz="1200" b="1" dirty="0"/>
              <a:t>Workovers &amp; Maintenance</a:t>
            </a:r>
            <a:r>
              <a:rPr lang="en-US" sz="1200" dirty="0"/>
              <a:t> → Retrieve past interventions, failure causes, and costs (“Last workover on Well ABC?”)</a:t>
            </a:r>
          </a:p>
          <a:p>
            <a:r>
              <a:rPr lang="en-US" sz="1200" dirty="0"/>
              <a:t>4️⃣ </a:t>
            </a:r>
            <a:r>
              <a:rPr lang="en-US" sz="1200" b="1" dirty="0"/>
              <a:t>Drilling &amp; Completions</a:t>
            </a:r>
            <a:r>
              <a:rPr lang="en-US" sz="1200" dirty="0"/>
              <a:t> → Find offset well data, mud logs, and NPT events (“What mud was used in Well #123?”)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A21271-F4E7-4386-902D-128AA8FEA1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i="1" dirty="0"/>
              <a:t>Current Leading AI Implementation (Most discussed)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4E73C05-556F-C475-E0E6-8032ED7A51B1}"/>
              </a:ext>
            </a:extLst>
          </p:cNvPr>
          <p:cNvSpPr txBox="1">
            <a:spLocks/>
          </p:cNvSpPr>
          <p:nvPr/>
        </p:nvSpPr>
        <p:spPr>
          <a:xfrm>
            <a:off x="1355167" y="6311764"/>
            <a:ext cx="5191298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dirty="0">
                <a:hlinkClick r:id="rId3"/>
              </a:rPr>
              <a:t>https://www.solulab.com/what-is-retrieval-augmented-generation/</a:t>
            </a:r>
            <a:endParaRPr lang="en-US" sz="10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54DDB9-C4FF-42F0-E67C-3ADFC5186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524" y="4007884"/>
            <a:ext cx="4876799" cy="2191274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60D25F37-0C0D-64A1-4415-EFB59353761A}"/>
              </a:ext>
            </a:extLst>
          </p:cNvPr>
          <p:cNvSpPr txBox="1">
            <a:spLocks/>
          </p:cNvSpPr>
          <p:nvPr/>
        </p:nvSpPr>
        <p:spPr>
          <a:xfrm>
            <a:off x="6927668" y="6199158"/>
            <a:ext cx="5191298" cy="2297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  <a:cs typeface="+mn-cs"/>
              </a:defRPr>
            </a:lvl1pPr>
            <a:lvl2pPr marL="182563" indent="-1730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2pPr>
            <a:lvl3pPr marL="3651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3pPr>
            <a:lvl4pPr marL="538163" indent="-13176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4pPr>
            <a:lvl5pPr marL="720725" indent="-142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hlinkClick r:id="rId5"/>
              </a:rPr>
              <a:t>https://developer.nvidia.com/blog/rag-101-demystifying-retrieval-augmented-generation-pipelines/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F55CF2-19A9-CA20-27F3-DA4223A4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Notable Projects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A17F9B-BD79-D935-4423-C4F5E003DE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330034"/>
            <a:ext cx="10515600" cy="229704"/>
          </a:xfrm>
        </p:spPr>
        <p:txBody>
          <a:bodyPr/>
          <a:lstStyle/>
          <a:p>
            <a:r>
              <a:rPr lang="en-US" b="1" u="sng" dirty="0"/>
              <a:t>Stuck Pipe Anomaly - ARC</a:t>
            </a:r>
          </a:p>
          <a:p>
            <a:r>
              <a:rPr lang="en-US" dirty="0"/>
              <a:t>Developed an ML model for Stuck Pipe Detection using pipe resistivity data to identify anomalies and predict stuck drilling conditions, enabling proactive intervention.</a:t>
            </a:r>
            <a:endParaRPr lang="en-US" b="1" u="sng" dirty="0"/>
          </a:p>
          <a:p>
            <a:r>
              <a:rPr lang="en-US" b="1" u="sng" dirty="0"/>
              <a:t>Clustered GAMM to predict EUR’s – </a:t>
            </a:r>
            <a:r>
              <a:rPr lang="en-US" b="1" u="sng" dirty="0" err="1"/>
              <a:t>Veren</a:t>
            </a:r>
            <a:endParaRPr lang="en-US" b="1" u="sng" dirty="0"/>
          </a:p>
          <a:p>
            <a:r>
              <a:rPr lang="en-US" dirty="0"/>
              <a:t>Clustered GAMM (multivariate, non-linear regression) to predict well EURs across three reservoir clusters, training separate models per cluster plus a global model for comparison. Data pipeline: preprocess well data, cluster reservoirs, engineer features, train models, validate, and predict EURs.</a:t>
            </a:r>
          </a:p>
          <a:p>
            <a:r>
              <a:rPr lang="en-US" b="1" u="sng" dirty="0"/>
              <a:t>Reservoir Geo Characterization ML Application – Tundra</a:t>
            </a:r>
          </a:p>
          <a:p>
            <a:r>
              <a:rPr lang="en-US" dirty="0"/>
              <a:t>Used ML to analyze key reservoir traits (Resistivity, Reservoir Isopach, Core Permeability), applying functions to quantify each </a:t>
            </a:r>
            <a:r>
              <a:rPr lang="en-US" dirty="0" err="1"/>
              <a:t>geoparameter</a:t>
            </a:r>
            <a:r>
              <a:rPr lang="en-US" dirty="0"/>
              <a:t> and summing unit contributions for a comprehensive subsurface model.</a:t>
            </a:r>
          </a:p>
          <a:p>
            <a:r>
              <a:rPr lang="en-US" b="1" u="sng" dirty="0"/>
              <a:t>Key traits (Resistivity, </a:t>
            </a:r>
            <a:r>
              <a:rPr lang="en-US" b="1" u="sng" dirty="0" err="1"/>
              <a:t>Resovoir</a:t>
            </a:r>
            <a:r>
              <a:rPr lang="en-US" b="1" u="sng" dirty="0"/>
              <a:t> </a:t>
            </a:r>
            <a:r>
              <a:rPr lang="en-US" b="1" u="sng" dirty="0" err="1"/>
              <a:t>Isoph</a:t>
            </a:r>
            <a:r>
              <a:rPr lang="en-US" b="1" u="sng" dirty="0"/>
              <a:t>, Core </a:t>
            </a:r>
            <a:r>
              <a:rPr lang="en-US" b="1" u="sng" dirty="0" err="1"/>
              <a:t>Peremeability</a:t>
            </a:r>
            <a:r>
              <a:rPr lang="en-US" b="1" u="sng" dirty="0"/>
              <a:t>) Function for each Geo parameter, sum up units </a:t>
            </a:r>
          </a:p>
          <a:p>
            <a:endParaRPr lang="en-US" b="1" u="sng" dirty="0"/>
          </a:p>
          <a:p>
            <a:r>
              <a:rPr lang="en-US" b="1" u="sng" dirty="0"/>
              <a:t>Geo Insights - </a:t>
            </a:r>
            <a:r>
              <a:rPr lang="en-US" b="1" u="sng" dirty="0" err="1"/>
              <a:t>Birchcliff</a:t>
            </a:r>
            <a:endParaRPr lang="en-US" b="1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9D0122-74F2-83CB-2D8B-AF2F8B5E5F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0B150-CCB4-7AA1-722A-0C8469B12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C8DFB-8C88-96D7-5FB8-B0F698B9F1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75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10098</TotalTime>
  <Words>327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Roboto</vt:lpstr>
      <vt:lpstr>Arial</vt:lpstr>
      <vt:lpstr>Office Theme</vt:lpstr>
      <vt:lpstr>PowerPoint Presentation</vt:lpstr>
      <vt:lpstr>Retrieval-Augmented Generation (RAG)</vt:lpstr>
      <vt:lpstr>Notable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Bryan Galambos</dc:creator>
  <cp:lastModifiedBy>Marcus Kittelson</cp:lastModifiedBy>
  <cp:revision>390</cp:revision>
  <cp:lastPrinted>2020-09-16T13:08:11Z</cp:lastPrinted>
  <dcterms:created xsi:type="dcterms:W3CDTF">2020-02-25T19:46:46Z</dcterms:created>
  <dcterms:modified xsi:type="dcterms:W3CDTF">2025-02-12T15:55:29Z</dcterms:modified>
</cp:coreProperties>
</file>